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310" r:id="rId2"/>
    <p:sldId id="311" r:id="rId3"/>
    <p:sldId id="312" r:id="rId4"/>
    <p:sldId id="309" r:id="rId5"/>
    <p:sldId id="313" r:id="rId6"/>
    <p:sldId id="314" r:id="rId7"/>
    <p:sldId id="315" r:id="rId8"/>
    <p:sldId id="328" r:id="rId9"/>
    <p:sldId id="317" r:id="rId10"/>
    <p:sldId id="318" r:id="rId11"/>
    <p:sldId id="329" r:id="rId12"/>
    <p:sldId id="320" r:id="rId13"/>
    <p:sldId id="321" r:id="rId14"/>
    <p:sldId id="322" r:id="rId15"/>
    <p:sldId id="323" r:id="rId16"/>
    <p:sldId id="324" r:id="rId17"/>
    <p:sldId id="325" r:id="rId18"/>
    <p:sldId id="326" r:id="rId19"/>
    <p:sldId id="327"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34"/>
    <p:restoredTop sz="54017"/>
  </p:normalViewPr>
  <p:slideViewPr>
    <p:cSldViewPr snapToGrid="0">
      <p:cViewPr varScale="1">
        <p:scale>
          <a:sx n="64" d="100"/>
          <a:sy n="64" d="100"/>
        </p:scale>
        <p:origin x="18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F533EC26-BDB4-4112-8302-7ABC41CC7F21}" type="datetimeFigureOut">
              <a:t>10/25/26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42ABB463-72F3-4143-9B69-38B8CA1BE93F}" type="slidenum">
              <a:t>‹#›</a:t>
            </a:fld>
            <a:endParaRPr lang="en-US"/>
          </a:p>
        </p:txBody>
      </p:sp>
    </p:spTree>
    <p:extLst>
      <p:ext uri="{BB962C8B-B14F-4D97-AF65-F5344CB8AC3E}">
        <p14:creationId xmlns:p14="http://schemas.microsoft.com/office/powerpoint/2010/main" val="2419424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BFB84-5647-5886-22E2-CA962F209F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C31D52-A8EA-431C-9213-5644CE56C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C6979-E64C-DF92-FDDD-594C11B842C3}"/>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Gracias Samuel, </a:t>
            </a:r>
            <a:r>
              <a:rPr lang="en-US" sz="1200" kern="1200" dirty="0" err="1">
                <a:solidFill>
                  <a:schemeClr val="tx1"/>
                </a:solidFill>
                <a:effectLst/>
                <a:latin typeface="+mn-lt"/>
                <a:ea typeface="+mn-ea"/>
                <a:cs typeface="+mn-cs"/>
              </a:rPr>
              <a:t>yo</a:t>
            </a:r>
            <a:r>
              <a:rPr lang="en-US" sz="1200" kern="1200" dirty="0">
                <a:solidFill>
                  <a:schemeClr val="tx1"/>
                </a:solidFill>
                <a:effectLst/>
                <a:latin typeface="+mn-lt"/>
                <a:ea typeface="+mn-ea"/>
                <a:cs typeface="+mn-cs"/>
              </a:rPr>
              <a:t> soy Santiago y les </a:t>
            </a:r>
            <a:r>
              <a:rPr lang="en-US" sz="1200" kern="1200" dirty="0" err="1">
                <a:solidFill>
                  <a:schemeClr val="tx1"/>
                </a:solidFill>
                <a:effectLst/>
                <a:latin typeface="+mn-lt"/>
                <a:ea typeface="+mn-ea"/>
                <a:cs typeface="+mn-cs"/>
              </a:rPr>
              <a:t>voy</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exponer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nuestros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resultados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sobre</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análisis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predictivo</a:t>
            </a:r>
            <a:r>
              <a:rPr lang="en-US" sz="1200" kern="1200" dirty="0">
                <a:solidFill>
                  <a:schemeClr val="tx1"/>
                </a:solidFill>
                <a:effectLst/>
                <a:latin typeface="+mn-lt"/>
                <a:ea typeface="+mn-ea"/>
                <a:cs typeface="+mn-cs"/>
              </a:rPr>
              <a:t> para </a:t>
            </a:r>
            <a:r>
              <a:rPr lang="en-US" sz="1200" kern="1200" dirty="0" err="1">
                <a:solidFill>
                  <a:schemeClr val="tx1"/>
                </a:solidFill>
                <a:effectLst/>
                <a:latin typeface="+mn-lt"/>
                <a:ea typeface="+mn-ea"/>
                <a:cs typeface="+mn-cs"/>
              </a:rPr>
              <a:t>esta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nueva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iteración</a:t>
            </a:r>
            <a:r>
              <a:rPr lang="en-US" sz="1200" kern="1200" dirty="0">
                <a:solidFill>
                  <a:schemeClr val="tx1"/>
                </a:solidFill>
                <a:effectLst/>
                <a:latin typeface="+mn-lt"/>
                <a:ea typeface="+mn-ea"/>
                <a:cs typeface="+mn-cs"/>
              </a:rPr>
              <a:t>. En primer </a:t>
            </a:r>
            <a:r>
              <a:rPr lang="en-US" sz="1200" kern="1200" dirty="0" err="1">
                <a:solidFill>
                  <a:schemeClr val="tx1"/>
                </a:solidFill>
                <a:effectLst/>
                <a:latin typeface="+mn-lt"/>
                <a:ea typeface="+mn-ea"/>
                <a:cs typeface="+mn-cs"/>
              </a:rPr>
              <a:t>lugar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revisamos</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capacidad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predictiva</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modelos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lineales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cuando</a:t>
            </a:r>
            <a:r>
              <a:rPr lang="en-US" sz="1200" kern="1200" dirty="0">
                <a:solidFill>
                  <a:schemeClr val="tx1"/>
                </a:solidFill>
                <a:effectLst/>
                <a:latin typeface="+mn-lt"/>
                <a:ea typeface="+mn-ea"/>
                <a:cs typeface="+mn-cs"/>
              </a:rPr>
              <a:t> la variable de </a:t>
            </a:r>
            <a:r>
              <a:rPr lang="en-US" sz="1200" kern="1200" dirty="0" err="1">
                <a:solidFill>
                  <a:schemeClr val="tx1"/>
                </a:solidFill>
                <a:effectLst/>
                <a:latin typeface="+mn-lt"/>
                <a:ea typeface="+mn-ea"/>
                <a:cs typeface="+mn-cs"/>
              </a:rPr>
              <a:t>ingreso</a:t>
            </a:r>
            <a:r>
              <a:rPr lang="en-US" sz="1200" kern="1200" dirty="0">
                <a:solidFill>
                  <a:schemeClr val="tx1"/>
                </a:solidFill>
                <a:effectLst/>
                <a:latin typeface="+mn-lt"/>
                <a:ea typeface="+mn-ea"/>
                <a:cs typeface="+mn-cs"/>
              </a:rPr>
              <a:t> se </a:t>
            </a:r>
            <a:r>
              <a:rPr lang="en-US" sz="1200" kern="1200" dirty="0" err="1">
                <a:solidFill>
                  <a:schemeClr val="tx1"/>
                </a:solidFill>
                <a:effectLst/>
                <a:latin typeface="+mn-lt"/>
                <a:ea typeface="+mn-ea"/>
                <a:cs typeface="+mn-cs"/>
              </a:rPr>
              <a:t>transforma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mediante</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logaritmo</a:t>
            </a:r>
            <a:r>
              <a:rPr lang="en-US" sz="1200" kern="1200" dirty="0">
                <a:solidFill>
                  <a:schemeClr val="tx1"/>
                </a:solidFill>
                <a:effectLst/>
                <a:latin typeface="+mn-lt"/>
                <a:ea typeface="+mn-ea"/>
                <a:cs typeface="+mn-cs"/>
              </a:rPr>
              <a:t> natural. </a:t>
            </a:r>
            <a:r>
              <a:rPr lang="en-US" sz="1200" kern="1200" dirty="0" err="1">
                <a:solidFill>
                  <a:schemeClr val="tx1"/>
                </a:solidFill>
                <a:effectLst/>
                <a:latin typeface="+mn-lt"/>
                <a:ea typeface="+mn-ea"/>
                <a:cs typeface="+mn-cs"/>
              </a:rPr>
              <a:t>Encontramos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las </a:t>
            </a:r>
            <a:r>
              <a:rPr lang="en-US" sz="1200" kern="1200" dirty="0" err="1">
                <a:solidFill>
                  <a:schemeClr val="tx1"/>
                </a:solidFill>
                <a:effectLst/>
                <a:latin typeface="+mn-lt"/>
                <a:ea typeface="+mn-ea"/>
                <a:cs typeface="+mn-cs"/>
              </a:rPr>
              <a:t>principales</a:t>
            </a:r>
            <a:r>
              <a:rPr lang="en-US" sz="1200" kern="1200" dirty="0">
                <a:solidFill>
                  <a:schemeClr val="tx1"/>
                </a:solidFill>
                <a:effectLst/>
                <a:latin typeface="+mn-lt"/>
                <a:ea typeface="+mn-ea"/>
                <a:cs typeface="+mn-cs"/>
              </a:rPr>
              <a:t> variables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permiten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predecir</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ingreso</a:t>
            </a:r>
            <a:r>
              <a:rPr lang="en-US" sz="1200" kern="1200" dirty="0">
                <a:solidFill>
                  <a:schemeClr val="tx1"/>
                </a:solidFill>
                <a:effectLst/>
                <a:latin typeface="+mn-lt"/>
                <a:ea typeface="+mn-ea"/>
                <a:cs typeface="+mn-cs"/>
              </a:rPr>
              <a:t> son la </a:t>
            </a:r>
            <a:r>
              <a:rPr lang="en-US" sz="1200" kern="1200" dirty="0" err="1">
                <a:solidFill>
                  <a:schemeClr val="tx1"/>
                </a:solidFill>
                <a:effectLst/>
                <a:latin typeface="+mn-lt"/>
                <a:ea typeface="+mn-ea"/>
                <a:cs typeface="+mn-cs"/>
              </a:rPr>
              <a:t>duración</a:t>
            </a:r>
            <a:r>
              <a:rPr lang="en-US" sz="1200" kern="1200" dirty="0">
                <a:solidFill>
                  <a:schemeClr val="tx1"/>
                </a:solidFill>
                <a:effectLst/>
                <a:latin typeface="+mn-lt"/>
                <a:ea typeface="+mn-ea"/>
                <a:cs typeface="+mn-cs"/>
              </a:rPr>
              <a:t> de la </a:t>
            </a:r>
            <a:r>
              <a:rPr lang="en-US" sz="1200" kern="1200" dirty="0" err="1">
                <a:solidFill>
                  <a:schemeClr val="tx1"/>
                </a:solidFill>
                <a:effectLst/>
                <a:latin typeface="+mn-lt"/>
                <a:ea typeface="+mn-ea"/>
                <a:cs typeface="+mn-cs"/>
              </a:rPr>
              <a:t>sesión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pero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específicamente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a:t>
            </a:r>
            <a:r>
              <a:rPr lang="en-US" sz="1200" kern="1200" dirty="0">
                <a:solidFill>
                  <a:schemeClr val="tx1"/>
                </a:solidFill>
                <a:effectLst/>
                <a:latin typeface="+mn-lt"/>
                <a:ea typeface="+mn-ea"/>
                <a:cs typeface="+mn-cs"/>
              </a:rPr>
              <a:t> la persona dura </a:t>
            </a:r>
            <a:r>
              <a:rPr lang="en-US" sz="1200" kern="1200" dirty="0" err="1">
                <a:solidFill>
                  <a:schemeClr val="tx1"/>
                </a:solidFill>
                <a:effectLst/>
                <a:latin typeface="+mn-lt"/>
                <a:ea typeface="+mn-ea"/>
                <a:cs typeface="+mn-cs"/>
              </a:rPr>
              <a:t>más</a:t>
            </a:r>
            <a:r>
              <a:rPr lang="en-US" sz="1200" kern="1200" dirty="0">
                <a:solidFill>
                  <a:schemeClr val="tx1"/>
                </a:solidFill>
                <a:effectLst/>
                <a:latin typeface="+mn-lt"/>
                <a:ea typeface="+mn-ea"/>
                <a:cs typeface="+mn-cs"/>
              </a:rPr>
              <a:t> de 5 </a:t>
            </a:r>
            <a:r>
              <a:rPr lang="en-US" sz="1200" kern="1200" dirty="0" err="1">
                <a:solidFill>
                  <a:schemeClr val="tx1"/>
                </a:solidFill>
                <a:effectLst/>
                <a:latin typeface="+mn-lt"/>
                <a:ea typeface="+mn-ea"/>
                <a:cs typeface="+mn-cs"/>
              </a:rPr>
              <a:t>minutos</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número</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sesiones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anteriores</a:t>
            </a:r>
            <a:r>
              <a:rPr lang="en-US" sz="1200" kern="1200" dirty="0">
                <a:solidFill>
                  <a:schemeClr val="tx1"/>
                </a:solidFill>
                <a:effectLst/>
                <a:latin typeface="+mn-lt"/>
                <a:ea typeface="+mn-ea"/>
                <a:cs typeface="+mn-cs"/>
              </a:rPr>
              <a:t> y la </a:t>
            </a:r>
            <a:r>
              <a:rPr lang="en-US" sz="1200" kern="1200" dirty="0" err="1">
                <a:solidFill>
                  <a:schemeClr val="tx1"/>
                </a:solidFill>
                <a:effectLst/>
                <a:latin typeface="+mn-lt"/>
                <a:ea typeface="+mn-ea"/>
                <a:cs typeface="+mn-cs"/>
              </a:rPr>
              <a:t>interacción</a:t>
            </a:r>
            <a:r>
              <a:rPr lang="en-US" sz="1200" kern="1200" dirty="0">
                <a:solidFill>
                  <a:schemeClr val="tx1"/>
                </a:solidFill>
                <a:effectLst/>
                <a:latin typeface="+mn-lt"/>
                <a:ea typeface="+mn-ea"/>
                <a:cs typeface="+mn-cs"/>
              </a:rPr>
              <a:t> entre la </a:t>
            </a:r>
            <a:r>
              <a:rPr lang="en-US" sz="1200" kern="1200" dirty="0" err="1">
                <a:solidFill>
                  <a:schemeClr val="tx1"/>
                </a:solidFill>
                <a:effectLst/>
                <a:latin typeface="+mn-lt"/>
                <a:ea typeface="+mn-ea"/>
                <a:cs typeface="+mn-cs"/>
              </a:rPr>
              <a:t>duración</a:t>
            </a:r>
            <a:r>
              <a:rPr lang="en-US" sz="1200" kern="1200" dirty="0">
                <a:solidFill>
                  <a:schemeClr val="tx1"/>
                </a:solidFill>
                <a:effectLst/>
                <a:latin typeface="+mn-lt"/>
                <a:ea typeface="+mn-ea"/>
                <a:cs typeface="+mn-cs"/>
              </a:rPr>
              <a:t> de la </a:t>
            </a:r>
            <a:r>
              <a:rPr lang="en-US" sz="1200" kern="1200" dirty="0" err="1">
                <a:solidFill>
                  <a:schemeClr val="tx1"/>
                </a:solidFill>
                <a:effectLst/>
                <a:latin typeface="+mn-lt"/>
                <a:ea typeface="+mn-ea"/>
                <a:cs typeface="+mn-cs"/>
              </a:rPr>
              <a:t>sesión</a:t>
            </a:r>
            <a:r>
              <a:rPr lang="en-US" sz="1200" kern="1200" dirty="0">
                <a:solidFill>
                  <a:schemeClr val="tx1"/>
                </a:solidFill>
                <a:effectLst/>
                <a:latin typeface="+mn-lt"/>
                <a:ea typeface="+mn-ea"/>
                <a:cs typeface="+mn-cs"/>
              </a:rPr>
              <a:t> y las </a:t>
            </a:r>
            <a:r>
              <a:rPr lang="en-US" sz="1200" kern="1200" dirty="0" err="1">
                <a:solidFill>
                  <a:schemeClr val="tx1"/>
                </a:solidFill>
                <a:effectLst/>
                <a:latin typeface="+mn-lt"/>
                <a:ea typeface="+mn-ea"/>
                <a:cs typeface="+mn-cs"/>
              </a:rPr>
              <a:t>sesiones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anteri</a:t>
            </a:r>
            <a:r>
              <a:rPr lang="en-US" sz="1200" kern="1200" dirty="0">
                <a:solidFill>
                  <a:schemeClr val="tx1"/>
                </a:solidFill>
                <a:effectLst/>
                <a:latin typeface="+mn-lt"/>
                <a:ea typeface="+mn-ea"/>
                <a:cs typeface="+mn-cs"/>
              </a:rPr>
              <a:t>     ores. </a:t>
            </a:r>
            <a:r>
              <a:rPr lang="en-US" sz="1200" kern="1200" dirty="0" err="1">
                <a:solidFill>
                  <a:schemeClr val="tx1"/>
                </a:solidFill>
                <a:effectLst/>
                <a:latin typeface="+mn-lt"/>
                <a:ea typeface="+mn-ea"/>
                <a:cs typeface="+mn-cs"/>
              </a:rPr>
              <a:t>Concretamente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estas</a:t>
            </a:r>
            <a:r>
              <a:rPr lang="en-US" sz="1200" kern="1200" dirty="0">
                <a:solidFill>
                  <a:schemeClr val="tx1"/>
                </a:solidFill>
                <a:effectLst/>
                <a:latin typeface="+mn-lt"/>
                <a:ea typeface="+mn-ea"/>
                <a:cs typeface="+mn-cs"/>
              </a:rPr>
              <a:t> variables </a:t>
            </a:r>
            <a:r>
              <a:rPr lang="en-US" sz="1200" kern="1200" dirty="0" err="1">
                <a:solidFill>
                  <a:schemeClr val="tx1"/>
                </a:solidFill>
                <a:effectLst/>
                <a:latin typeface="+mn-lt"/>
                <a:ea typeface="+mn-ea"/>
                <a:cs typeface="+mn-cs"/>
              </a:rPr>
              <a:t>explican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casi</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totalidad</a:t>
            </a:r>
            <a:r>
              <a:rPr lang="en-US" sz="1200" kern="1200" dirty="0">
                <a:solidFill>
                  <a:schemeClr val="tx1"/>
                </a:solidFill>
                <a:effectLst/>
                <a:latin typeface="+mn-lt"/>
                <a:ea typeface="+mn-ea"/>
                <a:cs typeface="+mn-cs"/>
              </a:rPr>
              <a:t> de la </a:t>
            </a:r>
            <a:r>
              <a:rPr lang="en-US" sz="1200" kern="1200" dirty="0" err="1">
                <a:solidFill>
                  <a:schemeClr val="tx1"/>
                </a:solidFill>
                <a:effectLst/>
                <a:latin typeface="+mn-lt"/>
                <a:ea typeface="+mn-ea"/>
                <a:cs typeface="+mn-cs"/>
              </a:rPr>
              <a:t>reducción</a:t>
            </a:r>
            <a:r>
              <a:rPr lang="en-US" sz="1200" kern="1200" dirty="0">
                <a:solidFill>
                  <a:schemeClr val="tx1"/>
                </a:solidFill>
                <a:effectLst/>
                <a:latin typeface="+mn-lt"/>
                <a:ea typeface="+mn-ea"/>
                <a:cs typeface="+mn-cs"/>
              </a:rPr>
              <a:t> del error </a:t>
            </a:r>
            <a:r>
              <a:rPr lang="en-US" sz="1200" kern="1200" dirty="0" err="1">
                <a:solidFill>
                  <a:schemeClr val="tx1"/>
                </a:solidFill>
                <a:effectLst/>
                <a:latin typeface="+mn-lt"/>
                <a:ea typeface="+mn-ea"/>
                <a:cs typeface="+mn-cs"/>
              </a:rPr>
              <a:t>frente</a:t>
            </a:r>
            <a:r>
              <a:rPr lang="en-US" sz="1200" kern="1200" dirty="0">
                <a:solidFill>
                  <a:schemeClr val="tx1"/>
                </a:solidFill>
                <a:effectLst/>
                <a:latin typeface="+mn-lt"/>
                <a:ea typeface="+mn-ea"/>
                <a:cs typeface="+mn-cs"/>
              </a:rPr>
              <a:t> a solo usar la media para </a:t>
            </a:r>
            <a:r>
              <a:rPr lang="en-US" sz="1200" kern="1200" dirty="0" err="1">
                <a:solidFill>
                  <a:schemeClr val="tx1"/>
                </a:solidFill>
                <a:effectLst/>
                <a:latin typeface="+mn-lt"/>
                <a:ea typeface="+mn-ea"/>
                <a:cs typeface="+mn-cs"/>
              </a:rPr>
              <a:t>predecir</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quiebre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5 </a:t>
            </a:r>
            <a:r>
              <a:rPr lang="en-US" sz="1200" kern="1200" dirty="0" err="1">
                <a:solidFill>
                  <a:schemeClr val="tx1"/>
                </a:solidFill>
                <a:effectLst/>
                <a:latin typeface="+mn-lt"/>
                <a:ea typeface="+mn-ea"/>
                <a:cs typeface="+mn-cs"/>
              </a:rPr>
              <a:t>minutos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fue</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resultado</a:t>
            </a:r>
            <a:r>
              <a:rPr lang="en-US" sz="1200" kern="1200" dirty="0">
                <a:solidFill>
                  <a:schemeClr val="tx1"/>
                </a:solidFill>
                <a:effectLst/>
                <a:latin typeface="+mn-lt"/>
                <a:ea typeface="+mn-ea"/>
                <a:cs typeface="+mn-cs"/>
              </a:rPr>
              <a:t> de la </a:t>
            </a:r>
            <a:r>
              <a:rPr lang="en-US" sz="1200" kern="1200" dirty="0" err="1">
                <a:solidFill>
                  <a:schemeClr val="tx1"/>
                </a:solidFill>
                <a:effectLst/>
                <a:latin typeface="+mn-lt"/>
                <a:ea typeface="+mn-ea"/>
                <a:cs typeface="+mn-cs"/>
              </a:rPr>
              <a:t>iteración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pasada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donde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resaltamos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ingreso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tenía</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salto</a:t>
            </a:r>
            <a:r>
              <a:rPr lang="en-US" sz="1200" kern="1200" dirty="0">
                <a:solidFill>
                  <a:schemeClr val="tx1"/>
                </a:solidFill>
                <a:effectLst/>
                <a:latin typeface="+mn-lt"/>
                <a:ea typeface="+mn-ea"/>
                <a:cs typeface="+mn-cs"/>
              </a:rPr>
              <a:t> considerable a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5 </a:t>
            </a:r>
            <a:r>
              <a:rPr lang="en-US" sz="1200" kern="1200" dirty="0" err="1">
                <a:solidFill>
                  <a:schemeClr val="tx1"/>
                </a:solidFill>
                <a:effectLst/>
                <a:latin typeface="+mn-lt"/>
                <a:ea typeface="+mn-ea"/>
                <a:cs typeface="+mn-cs"/>
              </a:rPr>
              <a:t>minutos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datos. Más </a:t>
            </a:r>
            <a:r>
              <a:rPr lang="en-US" sz="1200" kern="1200" dirty="0" err="1">
                <a:solidFill>
                  <a:schemeClr val="tx1"/>
                </a:solidFill>
                <a:effectLst/>
                <a:latin typeface="+mn-lt"/>
                <a:ea typeface="+mn-ea"/>
                <a:cs typeface="+mn-cs"/>
              </a:rPr>
              <a:t>adelante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veremos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estos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resultados</a:t>
            </a:r>
            <a:r>
              <a:rPr lang="en-US" sz="1200" kern="1200" dirty="0">
                <a:solidFill>
                  <a:schemeClr val="tx1"/>
                </a:solidFill>
                <a:effectLst/>
                <a:latin typeface="+mn-lt"/>
                <a:ea typeface="+mn-ea"/>
                <a:cs typeface="+mn-cs"/>
              </a:rPr>
              <a:t> son </a:t>
            </a:r>
            <a:r>
              <a:rPr lang="en-US" sz="1200" kern="1200" dirty="0" err="1">
                <a:solidFill>
                  <a:schemeClr val="tx1"/>
                </a:solidFill>
                <a:effectLst/>
                <a:latin typeface="+mn-lt"/>
                <a:ea typeface="+mn-ea"/>
                <a:cs typeface="+mn-cs"/>
              </a:rPr>
              <a:t>respaldados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por</a:t>
            </a:r>
            <a:r>
              <a:rPr lang="en-US" sz="1200" kern="1200" dirty="0">
                <a:solidFill>
                  <a:schemeClr val="tx1"/>
                </a:solidFill>
                <a:effectLst/>
                <a:latin typeface="+mn-lt"/>
                <a:ea typeface="+mn-ea"/>
                <a:cs typeface="+mn-cs"/>
              </a:rPr>
              <a:t> el bosque </a:t>
            </a:r>
            <a:r>
              <a:rPr lang="en-US" sz="1200" kern="1200" dirty="0" err="1">
                <a:solidFill>
                  <a:schemeClr val="tx1"/>
                </a:solidFill>
                <a:effectLst/>
                <a:latin typeface="+mn-lt"/>
                <a:ea typeface="+mn-ea"/>
                <a:cs typeface="+mn-cs"/>
              </a:rPr>
              <a:t>aleatorio</a:t>
            </a:r>
            <a:r>
              <a:rPr lang="en-US" sz="1200" kern="1200" dirty="0">
                <a:solidFill>
                  <a:schemeClr val="tx1"/>
                </a:solidFill>
                <a:effectLst/>
                <a:latin typeface="+mn-lt"/>
                <a:ea typeface="+mn-ea"/>
                <a:cs typeface="+mn-cs"/>
              </a:rPr>
              <a:t>.</a:t>
            </a:r>
          </a:p>
          <a:p>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br>
              <a:rPr lang="en-US" sz="1200" kern="1200" dirty="0">
                <a:solidFill>
                  <a:schemeClr val="tx1"/>
                </a:solidFill>
                <a:effectLst/>
                <a:latin typeface="+mn-lt"/>
                <a:ea typeface="+mn-ea"/>
                <a:cs typeface="+mn-cs"/>
              </a:rPr>
            </a:br>
            <a:endParaRPr dirty="0"/>
          </a:p>
        </p:txBody>
      </p:sp>
      <p:sp>
        <p:nvSpPr>
          <p:cNvPr id="4" name="Slide Number Placeholder 3">
            <a:extLst>
              <a:ext uri="{FF2B5EF4-FFF2-40B4-BE49-F238E27FC236}">
                <a16:creationId xmlns:a16="http://schemas.microsoft.com/office/drawing/2014/main" id="{C4246330-3080-6C1E-BBA3-AD718BF4ECC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5614347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Pasando</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resultados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observados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vemos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el árbol </a:t>
            </a:r>
            <a:r>
              <a:rPr lang="en-US" sz="1200" kern="1200" dirty="0" err="1">
                <a:solidFill>
                  <a:schemeClr val="tx1"/>
                </a:solidFill>
                <a:effectLst/>
                <a:latin typeface="+mn-lt"/>
                <a:ea typeface="+mn-ea"/>
                <a:cs typeface="+mn-cs"/>
              </a:rPr>
              <a:t>aleatorio</a:t>
            </a:r>
            <a:r>
              <a:rPr lang="en-US" sz="1200" kern="1200" dirty="0">
                <a:solidFill>
                  <a:schemeClr val="tx1"/>
                </a:solidFill>
                <a:effectLst/>
                <a:latin typeface="+mn-lt"/>
                <a:ea typeface="+mn-ea"/>
                <a:cs typeface="+mn-cs"/>
              </a:rPr>
              <a:t> y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bosques </a:t>
            </a:r>
            <a:r>
              <a:rPr lang="en-US" sz="1200" kern="1200" dirty="0" err="1">
                <a:solidFill>
                  <a:schemeClr val="tx1"/>
                </a:solidFill>
                <a:effectLst/>
                <a:latin typeface="+mn-lt"/>
                <a:ea typeface="+mn-ea"/>
                <a:cs typeface="+mn-cs"/>
              </a:rPr>
              <a:t>presentan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errores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menores</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modelos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lineales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Ahora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expandimos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nuestro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análisis</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modelos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lineales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tomando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cuenta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comentarios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realizaron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llegando</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modelos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mejor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especificados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tuvieron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mejor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rendimiento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nuestra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propuesta</a:t>
            </a:r>
            <a:r>
              <a:rPr lang="en-US" sz="1200" kern="1200" dirty="0">
                <a:solidFill>
                  <a:schemeClr val="tx1"/>
                </a:solidFill>
                <a:effectLst/>
                <a:latin typeface="+mn-lt"/>
                <a:ea typeface="+mn-ea"/>
                <a:cs typeface="+mn-cs"/>
              </a:rPr>
              <a:t> del </a:t>
            </a:r>
            <a:r>
              <a:rPr lang="en-US" sz="1200" kern="1200" dirty="0" err="1">
                <a:solidFill>
                  <a:schemeClr val="tx1"/>
                </a:solidFill>
                <a:effectLst/>
                <a:latin typeface="+mn-lt"/>
                <a:ea typeface="+mn-ea"/>
                <a:cs typeface="+mn-cs"/>
              </a:rPr>
              <a:t>encargo</a:t>
            </a:r>
            <a:r>
              <a:rPr lang="en-US" sz="1200" kern="1200" dirty="0">
                <a:solidFill>
                  <a:schemeClr val="tx1"/>
                </a:solidFill>
                <a:effectLst/>
                <a:latin typeface="+mn-lt"/>
                <a:ea typeface="+mn-ea"/>
                <a:cs typeface="+mn-cs"/>
              </a:rPr>
              <a:t> 1. </a:t>
            </a:r>
            <a:r>
              <a:rPr lang="en-US" sz="1200" kern="1200" dirty="0" err="1">
                <a:solidFill>
                  <a:schemeClr val="tx1"/>
                </a:solidFill>
                <a:effectLst/>
                <a:latin typeface="+mn-lt"/>
                <a:ea typeface="+mn-ea"/>
                <a:cs typeface="+mn-cs"/>
              </a:rPr>
              <a:t>Aún</a:t>
            </a:r>
            <a:r>
              <a:rPr lang="en-US" sz="1200" kern="1200" dirty="0">
                <a:solidFill>
                  <a:schemeClr val="tx1"/>
                </a:solidFill>
                <a:effectLst/>
                <a:latin typeface="+mn-lt"/>
                <a:ea typeface="+mn-ea"/>
                <a:cs typeface="+mn-cs"/>
              </a:rPr>
              <a:t> con </a:t>
            </a:r>
            <a:r>
              <a:rPr lang="en-US" sz="1200" kern="1200" dirty="0" err="1">
                <a:solidFill>
                  <a:schemeClr val="tx1"/>
                </a:solidFill>
                <a:effectLst/>
                <a:latin typeface="+mn-lt"/>
                <a:ea typeface="+mn-ea"/>
                <a:cs typeface="+mn-cs"/>
              </a:rPr>
              <a:t>esto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métodos</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árboles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evidenciaron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mejores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métricas</a:t>
            </a:r>
            <a:r>
              <a:rPr lang="en-US" sz="1200" kern="1200" dirty="0">
                <a:solidFill>
                  <a:schemeClr val="tx1"/>
                </a:solidFill>
                <a:effectLst/>
                <a:latin typeface="+mn-lt"/>
                <a:ea typeface="+mn-ea"/>
                <a:cs typeface="+mn-cs"/>
              </a:rPr>
              <a:t> y es la </a:t>
            </a:r>
            <a:r>
              <a:rPr lang="en-US" sz="1200" kern="1200" dirty="0" err="1">
                <a:solidFill>
                  <a:schemeClr val="tx1"/>
                </a:solidFill>
                <a:effectLst/>
                <a:latin typeface="+mn-lt"/>
                <a:ea typeface="+mn-ea"/>
                <a:cs typeface="+mn-cs"/>
              </a:rPr>
              <a:t>razón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escogimos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Frente</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nuestro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modelo</a:t>
            </a:r>
            <a:r>
              <a:rPr lang="en-US" sz="1200" kern="1200" dirty="0">
                <a:solidFill>
                  <a:schemeClr val="tx1"/>
                </a:solidFill>
                <a:effectLst/>
                <a:latin typeface="+mn-lt"/>
                <a:ea typeface="+mn-ea"/>
                <a:cs typeface="+mn-cs"/>
              </a:rPr>
              <a:t> lineal del primer </a:t>
            </a:r>
            <a:r>
              <a:rPr lang="en-US" sz="1200" kern="1200" dirty="0" err="1">
                <a:solidFill>
                  <a:schemeClr val="tx1"/>
                </a:solidFill>
                <a:effectLst/>
                <a:latin typeface="+mn-lt"/>
                <a:ea typeface="+mn-ea"/>
                <a:cs typeface="+mn-cs"/>
              </a:rPr>
              <a:t>encargo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redujimos</a:t>
            </a:r>
            <a:r>
              <a:rPr lang="en-US" sz="1200" kern="1200" dirty="0">
                <a:solidFill>
                  <a:schemeClr val="tx1"/>
                </a:solidFill>
                <a:effectLst/>
                <a:latin typeface="+mn-lt"/>
                <a:ea typeface="+mn-ea"/>
                <a:cs typeface="+mn-cs"/>
              </a:rPr>
              <a:t> el error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un 30% y </a:t>
            </a:r>
            <a:r>
              <a:rPr lang="en-US" sz="1200" kern="1200" dirty="0" err="1">
                <a:solidFill>
                  <a:schemeClr val="tx1"/>
                </a:solidFill>
                <a:effectLst/>
                <a:latin typeface="+mn-lt"/>
                <a:ea typeface="+mn-ea"/>
                <a:cs typeface="+mn-cs"/>
              </a:rPr>
              <a:t>frente</a:t>
            </a:r>
            <a:r>
              <a:rPr lang="en-US" sz="1200" kern="1200" dirty="0">
                <a:solidFill>
                  <a:schemeClr val="tx1"/>
                </a:solidFill>
                <a:effectLst/>
                <a:latin typeface="+mn-lt"/>
                <a:ea typeface="+mn-ea"/>
                <a:cs typeface="+mn-cs"/>
              </a:rPr>
              <a:t> a las </a:t>
            </a:r>
            <a:r>
              <a:rPr lang="en-US" sz="1200" kern="1200" dirty="0" err="1">
                <a:solidFill>
                  <a:schemeClr val="tx1"/>
                </a:solidFill>
                <a:effectLst/>
                <a:latin typeface="+mn-lt"/>
                <a:ea typeface="+mn-ea"/>
                <a:cs typeface="+mn-cs"/>
              </a:rPr>
              <a:t>nuevas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versiones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lineales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un 10%. Cabe </a:t>
            </a:r>
            <a:r>
              <a:rPr lang="en-US" sz="1200" kern="1200" dirty="0" err="1">
                <a:solidFill>
                  <a:schemeClr val="tx1"/>
                </a:solidFill>
                <a:effectLst/>
                <a:latin typeface="+mn-lt"/>
                <a:ea typeface="+mn-ea"/>
                <a:cs typeface="+mn-cs"/>
              </a:rPr>
              <a:t>aclarar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las </a:t>
            </a:r>
            <a:r>
              <a:rPr lang="en-US" sz="1200" kern="1200" dirty="0" err="1">
                <a:solidFill>
                  <a:schemeClr val="tx1"/>
                </a:solidFill>
                <a:effectLst/>
                <a:latin typeface="+mn-lt"/>
                <a:ea typeface="+mn-ea"/>
                <a:cs typeface="+mn-cs"/>
              </a:rPr>
              <a:t>estimaciones</a:t>
            </a:r>
            <a:r>
              <a:rPr lang="en-US" sz="1200" kern="1200" dirty="0">
                <a:solidFill>
                  <a:schemeClr val="tx1"/>
                </a:solidFill>
                <a:effectLst/>
                <a:latin typeface="+mn-lt"/>
                <a:ea typeface="+mn-ea"/>
                <a:cs typeface="+mn-cs"/>
              </a:rPr>
              <a:t> se </a:t>
            </a:r>
            <a:r>
              <a:rPr lang="en-US" sz="1200" kern="1200" dirty="0" err="1">
                <a:solidFill>
                  <a:schemeClr val="tx1"/>
                </a:solidFill>
                <a:effectLst/>
                <a:latin typeface="+mn-lt"/>
                <a:ea typeface="+mn-ea"/>
                <a:cs typeface="+mn-cs"/>
              </a:rPr>
              <a:t>hicieron</a:t>
            </a:r>
            <a:r>
              <a:rPr lang="en-US" sz="1200" kern="1200" dirty="0">
                <a:solidFill>
                  <a:schemeClr val="tx1"/>
                </a:solidFill>
                <a:effectLst/>
                <a:latin typeface="+mn-lt"/>
                <a:ea typeface="+mn-ea"/>
                <a:cs typeface="+mn-cs"/>
              </a:rPr>
              <a:t> con la </a:t>
            </a:r>
            <a:r>
              <a:rPr lang="en-US" sz="1200" kern="1200" dirty="0" err="1">
                <a:solidFill>
                  <a:schemeClr val="tx1"/>
                </a:solidFill>
                <a:effectLst/>
                <a:latin typeface="+mn-lt"/>
                <a:ea typeface="+mn-ea"/>
                <a:cs typeface="+mn-cs"/>
              </a:rPr>
              <a:t>transformación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logarítimica</a:t>
            </a:r>
            <a:r>
              <a:rPr lang="en-US" sz="1200" kern="1200" dirty="0">
                <a:solidFill>
                  <a:schemeClr val="tx1"/>
                </a:solidFill>
                <a:effectLst/>
                <a:latin typeface="+mn-lt"/>
                <a:ea typeface="+mn-ea"/>
                <a:cs typeface="+mn-cs"/>
              </a:rPr>
              <a:t> y se </a:t>
            </a:r>
            <a:r>
              <a:rPr lang="en-US" sz="1200" kern="1200" dirty="0" err="1">
                <a:solidFill>
                  <a:schemeClr val="tx1"/>
                </a:solidFill>
                <a:effectLst/>
                <a:latin typeface="+mn-lt"/>
                <a:ea typeface="+mn-ea"/>
                <a:cs typeface="+mn-cs"/>
              </a:rPr>
              <a:t>devolvieron</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dólares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mediante</a:t>
            </a:r>
            <a:r>
              <a:rPr lang="en-US" sz="1200" kern="1200" dirty="0">
                <a:solidFill>
                  <a:schemeClr val="tx1"/>
                </a:solidFill>
                <a:effectLst/>
                <a:latin typeface="+mn-lt"/>
                <a:ea typeface="+mn-ea"/>
                <a:cs typeface="+mn-cs"/>
              </a:rPr>
              <a:t> un factor de </a:t>
            </a:r>
            <a:r>
              <a:rPr lang="en-US" sz="1200" kern="1200" dirty="0" err="1">
                <a:solidFill>
                  <a:schemeClr val="tx1"/>
                </a:solidFill>
                <a:effectLst/>
                <a:latin typeface="+mn-lt"/>
                <a:ea typeface="+mn-ea"/>
                <a:cs typeface="+mn-cs"/>
              </a:rPr>
              <a:t>ajuste</a:t>
            </a:r>
            <a:r>
              <a:rPr lang="en-US" sz="1200" kern="1200" dirty="0">
                <a:solidFill>
                  <a:schemeClr val="tx1"/>
                </a:solidFill>
                <a:effectLst/>
                <a:latin typeface="+mn-lt"/>
                <a:ea typeface="+mn-ea"/>
                <a:cs typeface="+mn-cs"/>
              </a:rPr>
              <a:t> para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se </a:t>
            </a:r>
            <a:r>
              <a:rPr lang="en-US" sz="1200" kern="1200" dirty="0" err="1">
                <a:solidFill>
                  <a:schemeClr val="tx1"/>
                </a:solidFill>
                <a:effectLst/>
                <a:latin typeface="+mn-lt"/>
                <a:ea typeface="+mn-ea"/>
                <a:cs typeface="+mn-cs"/>
              </a:rPr>
              <a:t>puediera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interpretar</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resultado</a:t>
            </a:r>
            <a:r>
              <a:rPr lang="en-US" sz="1200" kern="1200" dirty="0">
                <a:solidFill>
                  <a:schemeClr val="tx1"/>
                </a:solidFill>
                <a:effectLst/>
                <a:latin typeface="+mn-lt"/>
                <a:ea typeface="+mn-ea"/>
                <a:cs typeface="+mn-cs"/>
              </a:rPr>
              <a:t>.</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Adentrándonos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resultado</a:t>
            </a:r>
            <a:r>
              <a:rPr lang="en-US" sz="1200" kern="1200" dirty="0">
                <a:solidFill>
                  <a:schemeClr val="tx1"/>
                </a:solidFill>
                <a:effectLst/>
                <a:latin typeface="+mn-lt"/>
                <a:ea typeface="+mn-ea"/>
                <a:cs typeface="+mn-cs"/>
              </a:rPr>
              <a:t> del bosque, </a:t>
            </a:r>
            <a:r>
              <a:rPr lang="en-US" sz="1200" kern="1200" dirty="0" err="1">
                <a:solidFill>
                  <a:schemeClr val="tx1"/>
                </a:solidFill>
                <a:effectLst/>
                <a:latin typeface="+mn-lt"/>
                <a:ea typeface="+mn-ea"/>
                <a:cs typeface="+mn-cs"/>
              </a:rPr>
              <a:t>esta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figura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permite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importancia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permutación</a:t>
            </a:r>
            <a:r>
              <a:rPr lang="en-US" sz="1200" kern="1200" dirty="0">
                <a:solidFill>
                  <a:schemeClr val="tx1"/>
                </a:solidFill>
                <a:effectLst/>
                <a:latin typeface="+mn-lt"/>
                <a:ea typeface="+mn-ea"/>
                <a:cs typeface="+mn-cs"/>
              </a:rPr>
              <a:t> de las variables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especificación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logarítimica</a:t>
            </a:r>
            <a:r>
              <a:rPr lang="en-US" sz="1200" kern="1200" dirty="0">
                <a:solidFill>
                  <a:schemeClr val="tx1"/>
                </a:solidFill>
                <a:effectLst/>
                <a:latin typeface="+mn-lt"/>
                <a:ea typeface="+mn-ea"/>
                <a:cs typeface="+mn-cs"/>
              </a:rPr>
              <a:t> y, </a:t>
            </a:r>
            <a:r>
              <a:rPr lang="en-US" sz="1200" kern="1200" dirty="0" err="1">
                <a:solidFill>
                  <a:schemeClr val="tx1"/>
                </a:solidFill>
                <a:effectLst/>
                <a:latin typeface="+mn-lt"/>
                <a:ea typeface="+mn-ea"/>
                <a:cs typeface="+mn-cs"/>
              </a:rPr>
              <a:t>como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complemento</a:t>
            </a:r>
            <a:r>
              <a:rPr lang="en-US" sz="1200" kern="1200" dirty="0">
                <a:solidFill>
                  <a:schemeClr val="tx1"/>
                </a:solidFill>
                <a:effectLst/>
                <a:latin typeface="+mn-lt"/>
                <a:ea typeface="+mn-ea"/>
                <a:cs typeface="+mn-cs"/>
              </a:rPr>
              <a:t>, lineal. </a:t>
            </a:r>
            <a:r>
              <a:rPr lang="en-US" sz="1200" kern="1200" dirty="0" err="1">
                <a:solidFill>
                  <a:schemeClr val="tx1"/>
                </a:solidFill>
                <a:effectLst/>
                <a:latin typeface="+mn-lt"/>
                <a:ea typeface="+mn-ea"/>
                <a:cs typeface="+mn-cs"/>
              </a:rPr>
              <a:t>Vemos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se </a:t>
            </a:r>
            <a:r>
              <a:rPr lang="en-US" sz="1200" kern="1200" dirty="0" err="1">
                <a:solidFill>
                  <a:schemeClr val="tx1"/>
                </a:solidFill>
                <a:effectLst/>
                <a:latin typeface="+mn-lt"/>
                <a:ea typeface="+mn-ea"/>
                <a:cs typeface="+mn-cs"/>
              </a:rPr>
              <a:t>recuperan</a:t>
            </a:r>
            <a:r>
              <a:rPr lang="en-US" sz="1200" kern="1200" dirty="0">
                <a:solidFill>
                  <a:schemeClr val="tx1"/>
                </a:solidFill>
                <a:effectLst/>
                <a:latin typeface="+mn-lt"/>
                <a:ea typeface="+mn-ea"/>
                <a:cs typeface="+mn-cs"/>
              </a:rPr>
              <a:t> las </a:t>
            </a:r>
            <a:r>
              <a:rPr lang="en-US" sz="1200" kern="1200" dirty="0" err="1">
                <a:solidFill>
                  <a:schemeClr val="tx1"/>
                </a:solidFill>
                <a:effectLst/>
                <a:latin typeface="+mn-lt"/>
                <a:ea typeface="+mn-ea"/>
                <a:cs typeface="+mn-cs"/>
              </a:rPr>
              <a:t>mismas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vimos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modelos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lineales</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importancia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permutación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busca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qué</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pasa</a:t>
            </a:r>
            <a:r>
              <a:rPr lang="en-US" sz="1200" kern="1200" dirty="0">
                <a:solidFill>
                  <a:schemeClr val="tx1"/>
                </a:solidFill>
                <a:effectLst/>
                <a:latin typeface="+mn-lt"/>
                <a:ea typeface="+mn-ea"/>
                <a:cs typeface="+mn-cs"/>
              </a:rPr>
              <a:t> con las </a:t>
            </a:r>
            <a:r>
              <a:rPr lang="en-US" sz="1200" kern="1200" dirty="0" err="1">
                <a:solidFill>
                  <a:schemeClr val="tx1"/>
                </a:solidFill>
                <a:effectLst/>
                <a:latin typeface="+mn-lt"/>
                <a:ea typeface="+mn-ea"/>
                <a:cs typeface="+mn-cs"/>
              </a:rPr>
              <a:t>predicciones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desordenamos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datos de </a:t>
            </a:r>
            <a:r>
              <a:rPr lang="en-US" sz="1200" kern="1200" dirty="0" err="1">
                <a:solidFill>
                  <a:schemeClr val="tx1"/>
                </a:solidFill>
                <a:effectLst/>
                <a:latin typeface="+mn-lt"/>
                <a:ea typeface="+mn-ea"/>
                <a:cs typeface="+mn-cs"/>
              </a:rPr>
              <a:t>una</a:t>
            </a:r>
            <a:r>
              <a:rPr lang="en-US" sz="1200" kern="1200" dirty="0">
                <a:solidFill>
                  <a:schemeClr val="tx1"/>
                </a:solidFill>
                <a:effectLst/>
                <a:latin typeface="+mn-lt"/>
                <a:ea typeface="+mn-ea"/>
                <a:cs typeface="+mn-cs"/>
              </a:rPr>
              <a:t> variable, </a:t>
            </a:r>
            <a:r>
              <a:rPr lang="en-US" sz="1200" kern="1200" dirty="0" err="1">
                <a:solidFill>
                  <a:schemeClr val="tx1"/>
                </a:solidFill>
                <a:effectLst/>
                <a:latin typeface="+mn-lt"/>
                <a:ea typeface="+mn-ea"/>
                <a:cs typeface="+mn-cs"/>
              </a:rPr>
              <a:t>rompiendo</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relación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el bosque </a:t>
            </a:r>
            <a:r>
              <a:rPr lang="en-US" sz="1200" kern="1200" dirty="0" err="1">
                <a:solidFill>
                  <a:schemeClr val="tx1"/>
                </a:solidFill>
                <a:effectLst/>
                <a:latin typeface="+mn-lt"/>
                <a:ea typeface="+mn-ea"/>
                <a:cs typeface="+mn-cs"/>
              </a:rPr>
              <a:t>ya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había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identificado</a:t>
            </a:r>
            <a:r>
              <a:rPr lang="en-US" sz="1200" kern="1200" dirty="0">
                <a:solidFill>
                  <a:schemeClr val="tx1"/>
                </a:solidFill>
                <a:effectLst/>
                <a:latin typeface="+mn-lt"/>
                <a:ea typeface="+mn-ea"/>
                <a:cs typeface="+mn-cs"/>
              </a:rPr>
              <a:t>. Esto no </a:t>
            </a:r>
            <a:r>
              <a:rPr lang="en-US" sz="1200" kern="1200" dirty="0" err="1">
                <a:solidFill>
                  <a:schemeClr val="tx1"/>
                </a:solidFill>
                <a:effectLst/>
                <a:latin typeface="+mn-lt"/>
                <a:ea typeface="+mn-ea"/>
                <a:cs typeface="+mn-cs"/>
              </a:rPr>
              <a:t>recupera</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efecto</a:t>
            </a:r>
            <a:r>
              <a:rPr lang="en-US" sz="1200" kern="1200" dirty="0">
                <a:solidFill>
                  <a:schemeClr val="tx1"/>
                </a:solidFill>
                <a:effectLst/>
                <a:latin typeface="+mn-lt"/>
                <a:ea typeface="+mn-ea"/>
                <a:cs typeface="+mn-cs"/>
              </a:rPr>
              <a:t> causal. Lo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muestra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esta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figura</a:t>
            </a:r>
            <a:r>
              <a:rPr lang="en-US" sz="1200" kern="1200" dirty="0">
                <a:solidFill>
                  <a:schemeClr val="tx1"/>
                </a:solidFill>
                <a:effectLst/>
                <a:latin typeface="+mn-lt"/>
                <a:ea typeface="+mn-ea"/>
                <a:cs typeface="+mn-cs"/>
              </a:rPr>
              <a:t> es, del total del error de </a:t>
            </a:r>
            <a:r>
              <a:rPr lang="en-US" sz="1200" kern="1200" dirty="0" err="1">
                <a:solidFill>
                  <a:schemeClr val="tx1"/>
                </a:solidFill>
                <a:effectLst/>
                <a:latin typeface="+mn-lt"/>
                <a:ea typeface="+mn-ea"/>
                <a:cs typeface="+mn-cs"/>
              </a:rPr>
              <a:t>prediccion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adicional</a:t>
            </a:r>
            <a:r>
              <a:rPr lang="en-US" sz="1200" kern="1200" dirty="0">
                <a:solidFill>
                  <a:schemeClr val="tx1"/>
                </a:solidFill>
                <a:effectLst/>
                <a:latin typeface="+mn-lt"/>
                <a:ea typeface="+mn-ea"/>
                <a:cs typeface="+mn-cs"/>
              </a:rPr>
              <a:t> al </a:t>
            </a:r>
            <a:r>
              <a:rPr lang="en-US" sz="1200" kern="1200" dirty="0" err="1">
                <a:solidFill>
                  <a:schemeClr val="tx1"/>
                </a:solidFill>
                <a:effectLst/>
                <a:latin typeface="+mn-lt"/>
                <a:ea typeface="+mn-ea"/>
                <a:cs typeface="+mn-cs"/>
              </a:rPr>
              <a:t>desordenar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todas</a:t>
            </a:r>
            <a:r>
              <a:rPr lang="en-US" sz="1200" kern="1200" dirty="0">
                <a:solidFill>
                  <a:schemeClr val="tx1"/>
                </a:solidFill>
                <a:effectLst/>
                <a:latin typeface="+mn-lt"/>
                <a:ea typeface="+mn-ea"/>
                <a:cs typeface="+mn-cs"/>
              </a:rPr>
              <a:t> las variables </a:t>
            </a:r>
            <a:r>
              <a:rPr lang="en-US" sz="1200" kern="1200" dirty="0" err="1">
                <a:solidFill>
                  <a:schemeClr val="tx1"/>
                </a:solidFill>
                <a:effectLst/>
                <a:latin typeface="+mn-lt"/>
                <a:ea typeface="+mn-ea"/>
                <a:cs typeface="+mn-cs"/>
              </a:rPr>
              <a:t>una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cuanto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corresponde</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cada</a:t>
            </a:r>
            <a:r>
              <a:rPr lang="en-US" sz="1200" kern="1200" dirty="0">
                <a:solidFill>
                  <a:schemeClr val="tx1"/>
                </a:solidFill>
                <a:effectLst/>
                <a:latin typeface="+mn-lt"/>
                <a:ea typeface="+mn-ea"/>
                <a:cs typeface="+mn-cs"/>
              </a:rPr>
              <a:t> variable. Entre mayor sea el valor, </a:t>
            </a:r>
            <a:r>
              <a:rPr lang="en-US" sz="1200" kern="1200" dirty="0" err="1">
                <a:solidFill>
                  <a:schemeClr val="tx1"/>
                </a:solidFill>
                <a:effectLst/>
                <a:latin typeface="+mn-lt"/>
                <a:ea typeface="+mn-ea"/>
                <a:cs typeface="+mn-cs"/>
              </a:rPr>
              <a:t>más</a:t>
            </a:r>
            <a:r>
              <a:rPr lang="en-US" sz="1200" kern="1200" dirty="0">
                <a:solidFill>
                  <a:schemeClr val="tx1"/>
                </a:solidFill>
                <a:effectLst/>
                <a:latin typeface="+mn-lt"/>
                <a:ea typeface="+mn-ea"/>
                <a:cs typeface="+mn-cs"/>
              </a:rPr>
              <a:t> error genera </a:t>
            </a:r>
            <a:r>
              <a:rPr lang="en-US" sz="1200" kern="1200" dirty="0" err="1">
                <a:solidFill>
                  <a:schemeClr val="tx1"/>
                </a:solidFill>
                <a:effectLst/>
                <a:latin typeface="+mn-lt"/>
                <a:ea typeface="+mn-ea"/>
                <a:cs typeface="+mn-cs"/>
              </a:rPr>
              <a:t>desordenar</a:t>
            </a:r>
            <a:r>
              <a:rPr lang="en-US" sz="1200" kern="1200" dirty="0">
                <a:solidFill>
                  <a:schemeClr val="tx1"/>
                </a:solidFill>
                <a:effectLst/>
                <a:latin typeface="+mn-lt"/>
                <a:ea typeface="+mn-ea"/>
                <a:cs typeface="+mn-cs"/>
              </a:rPr>
              <a:t> la variable y, </a:t>
            </a:r>
            <a:r>
              <a:rPr lang="en-US" sz="1200" kern="1200" dirty="0" err="1">
                <a:solidFill>
                  <a:schemeClr val="tx1"/>
                </a:solidFill>
                <a:effectLst/>
                <a:latin typeface="+mn-lt"/>
                <a:ea typeface="+mn-ea"/>
                <a:cs typeface="+mn-cs"/>
              </a:rPr>
              <a:t>por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ende</a:t>
            </a:r>
            <a:r>
              <a:rPr lang="en-US" sz="1200" kern="1200" dirty="0">
                <a:solidFill>
                  <a:schemeClr val="tx1"/>
                </a:solidFill>
                <a:effectLst/>
                <a:latin typeface="+mn-lt"/>
                <a:ea typeface="+mn-ea"/>
                <a:cs typeface="+mn-cs"/>
              </a:rPr>
              <a:t>, es </a:t>
            </a:r>
            <a:r>
              <a:rPr lang="en-US" sz="1200" kern="1200" dirty="0" err="1">
                <a:solidFill>
                  <a:schemeClr val="tx1"/>
                </a:solidFill>
                <a:effectLst/>
                <a:latin typeface="+mn-lt"/>
                <a:ea typeface="+mn-ea"/>
                <a:cs typeface="+mn-cs"/>
              </a:rPr>
              <a:t>más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importante</a:t>
            </a:r>
            <a:r>
              <a:rPr lang="en-US" sz="1200" kern="1200" dirty="0">
                <a:solidFill>
                  <a:schemeClr val="tx1"/>
                </a:solidFill>
                <a:effectLst/>
                <a:latin typeface="+mn-lt"/>
                <a:ea typeface="+mn-ea"/>
                <a:cs typeface="+mn-cs"/>
              </a:rPr>
              <a:t>.</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a:t>
            </a:r>
            <a:r>
              <a:rPr lang="en-US" sz="1200" kern="1200" dirty="0" err="1">
                <a:solidFill>
                  <a:schemeClr val="tx1"/>
                </a:solidFill>
                <a:effectLst/>
                <a:latin typeface="+mn-lt"/>
                <a:ea typeface="+mn-ea"/>
                <a:cs typeface="+mn-cs"/>
              </a:rPr>
              <a:t>partir</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estos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resultados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recomendamos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utilizar</a:t>
            </a:r>
            <a:r>
              <a:rPr lang="en-US" sz="1200" kern="1200" dirty="0">
                <a:solidFill>
                  <a:schemeClr val="tx1"/>
                </a:solidFill>
                <a:effectLst/>
                <a:latin typeface="+mn-lt"/>
                <a:ea typeface="+mn-ea"/>
                <a:cs typeface="+mn-cs"/>
              </a:rPr>
              <a:t> bosques para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análisis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predictivos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principalmente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apoyados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logra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tener</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menor</a:t>
            </a:r>
            <a:r>
              <a:rPr lang="en-US" sz="1200" kern="1200" dirty="0">
                <a:solidFill>
                  <a:schemeClr val="tx1"/>
                </a:solidFill>
                <a:effectLst/>
                <a:latin typeface="+mn-lt"/>
                <a:ea typeface="+mn-ea"/>
                <a:cs typeface="+mn-cs"/>
              </a:rPr>
              <a:t> error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prueba</a:t>
            </a:r>
            <a:r>
              <a:rPr lang="en-US" sz="1200" kern="1200" dirty="0">
                <a:solidFill>
                  <a:schemeClr val="tx1"/>
                </a:solidFill>
                <a:effectLst/>
                <a:latin typeface="+mn-lt"/>
                <a:ea typeface="+mn-ea"/>
                <a:cs typeface="+mn-cs"/>
              </a:rPr>
              <a:t> (fuera de </a:t>
            </a:r>
            <a:r>
              <a:rPr lang="en-US" sz="1200" kern="1200" dirty="0" err="1">
                <a:solidFill>
                  <a:schemeClr val="tx1"/>
                </a:solidFill>
                <a:effectLst/>
                <a:latin typeface="+mn-lt"/>
                <a:ea typeface="+mn-ea"/>
                <a:cs typeface="+mn-cs"/>
              </a:rPr>
              <a:t>muestra</a:t>
            </a:r>
            <a:r>
              <a:rPr lang="en-US" sz="1200" kern="1200" dirty="0">
                <a:solidFill>
                  <a:schemeClr val="tx1"/>
                </a:solidFill>
                <a:effectLst/>
                <a:latin typeface="+mn-lt"/>
                <a:ea typeface="+mn-ea"/>
                <a:cs typeface="+mn-cs"/>
              </a:rPr>
              <a:t>) y es </a:t>
            </a:r>
            <a:r>
              <a:rPr lang="en-US" sz="1200" kern="1200" dirty="0" err="1">
                <a:solidFill>
                  <a:schemeClr val="tx1"/>
                </a:solidFill>
                <a:effectLst/>
                <a:latin typeface="+mn-lt"/>
                <a:ea typeface="+mn-ea"/>
                <a:cs typeface="+mn-cs"/>
              </a:rPr>
              <a:t>más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robusto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único</a:t>
            </a:r>
            <a:r>
              <a:rPr lang="en-US" sz="1200" kern="1200" dirty="0">
                <a:solidFill>
                  <a:schemeClr val="tx1"/>
                </a:solidFill>
                <a:effectLst/>
                <a:latin typeface="+mn-lt"/>
                <a:ea typeface="+mn-ea"/>
                <a:cs typeface="+mn-cs"/>
              </a:rPr>
              <a:t> árbol. </a:t>
            </a:r>
            <a:r>
              <a:rPr lang="en-US" sz="1200" kern="1200" dirty="0" err="1">
                <a:solidFill>
                  <a:schemeClr val="tx1"/>
                </a:solidFill>
                <a:effectLst/>
                <a:latin typeface="+mn-lt"/>
                <a:ea typeface="+mn-ea"/>
                <a:cs typeface="+mn-cs"/>
              </a:rPr>
              <a:t>Además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logra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identificar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discontinuidades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como</a:t>
            </a:r>
            <a:r>
              <a:rPr lang="en-US" sz="1200" kern="1200" dirty="0">
                <a:solidFill>
                  <a:schemeClr val="tx1"/>
                </a:solidFill>
                <a:effectLst/>
                <a:latin typeface="+mn-lt"/>
                <a:ea typeface="+mn-ea"/>
                <a:cs typeface="+mn-cs"/>
              </a:rPr>
              <a:t> la del </a:t>
            </a:r>
            <a:r>
              <a:rPr lang="en-US" sz="1200" kern="1200" dirty="0" err="1">
                <a:solidFill>
                  <a:schemeClr val="tx1"/>
                </a:solidFill>
                <a:effectLst/>
                <a:latin typeface="+mn-lt"/>
                <a:ea typeface="+mn-ea"/>
                <a:cs typeface="+mn-cs"/>
              </a:rPr>
              <a:t>tiempo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sesión</a:t>
            </a:r>
            <a:r>
              <a:rPr lang="en-US" sz="1200" kern="1200" dirty="0">
                <a:solidFill>
                  <a:schemeClr val="tx1"/>
                </a:solidFill>
                <a:effectLst/>
                <a:latin typeface="+mn-lt"/>
                <a:ea typeface="+mn-ea"/>
                <a:cs typeface="+mn-cs"/>
              </a:rPr>
              <a:t> sin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tenga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ser </a:t>
            </a:r>
            <a:r>
              <a:rPr lang="en-US" sz="1200" kern="1200" dirty="0" err="1">
                <a:solidFill>
                  <a:schemeClr val="tx1"/>
                </a:solidFill>
                <a:effectLst/>
                <a:latin typeface="+mn-lt"/>
                <a:ea typeface="+mn-ea"/>
                <a:cs typeface="+mn-cs"/>
              </a:rPr>
              <a:t>especificada</a:t>
            </a:r>
            <a:r>
              <a:rPr lang="en-US" sz="1200" kern="1200" dirty="0">
                <a:solidFill>
                  <a:schemeClr val="tx1"/>
                </a:solidFill>
                <a:effectLst/>
                <a:latin typeface="+mn-lt"/>
                <a:ea typeface="+mn-ea"/>
                <a:cs typeface="+mn-cs"/>
              </a:rPr>
              <a:t>, lo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evita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tener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hacer</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análisis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riguroso</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todas</a:t>
            </a:r>
            <a:r>
              <a:rPr lang="en-US" sz="1200" kern="1200" dirty="0">
                <a:solidFill>
                  <a:schemeClr val="tx1"/>
                </a:solidFill>
                <a:effectLst/>
                <a:latin typeface="+mn-lt"/>
                <a:ea typeface="+mn-ea"/>
                <a:cs typeface="+mn-cs"/>
              </a:rPr>
              <a:t> las </a:t>
            </a:r>
            <a:r>
              <a:rPr lang="en-US" sz="1200" kern="1200" dirty="0" err="1">
                <a:solidFill>
                  <a:schemeClr val="tx1"/>
                </a:solidFill>
                <a:effectLst/>
                <a:latin typeface="+mn-lt"/>
                <a:ea typeface="+mn-ea"/>
                <a:cs typeface="+mn-cs"/>
              </a:rPr>
              <a:t>posibles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interacciones</a:t>
            </a:r>
            <a:r>
              <a:rPr lang="en-US" sz="1200" kern="1200" dirty="0">
                <a:solidFill>
                  <a:schemeClr val="tx1"/>
                </a:solidFill>
                <a:effectLst/>
                <a:latin typeface="+mn-lt"/>
                <a:ea typeface="+mn-ea"/>
                <a:cs typeface="+mn-cs"/>
              </a:rPr>
              <a:t> y no </a:t>
            </a:r>
            <a:r>
              <a:rPr lang="en-US" sz="1200" kern="1200" dirty="0" err="1">
                <a:solidFill>
                  <a:schemeClr val="tx1"/>
                </a:solidFill>
                <a:effectLst/>
                <a:latin typeface="+mn-lt"/>
                <a:ea typeface="+mn-ea"/>
                <a:cs typeface="+mn-cs"/>
              </a:rPr>
              <a:t>linealidades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puedan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tener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datos y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serían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relevantes</a:t>
            </a:r>
            <a:r>
              <a:rPr lang="en-US" sz="1200" kern="1200" dirty="0">
                <a:solidFill>
                  <a:schemeClr val="tx1"/>
                </a:solidFill>
                <a:effectLst/>
                <a:latin typeface="+mn-lt"/>
                <a:ea typeface="+mn-ea"/>
                <a:cs typeface="+mn-cs"/>
              </a:rPr>
              <a:t> para la </a:t>
            </a:r>
            <a:r>
              <a:rPr lang="en-US" sz="1200" kern="1200" dirty="0" err="1">
                <a:solidFill>
                  <a:schemeClr val="tx1"/>
                </a:solidFill>
                <a:effectLst/>
                <a:latin typeface="+mn-lt"/>
                <a:ea typeface="+mn-ea"/>
                <a:cs typeface="+mn-cs"/>
              </a:rPr>
              <a:t>predicción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Ahora</a:t>
            </a:r>
            <a:r>
              <a:rPr lang="en-US" sz="1200" kern="1200" dirty="0">
                <a:solidFill>
                  <a:schemeClr val="tx1"/>
                </a:solidFill>
                <a:effectLst/>
                <a:latin typeface="+mn-lt"/>
                <a:ea typeface="+mn-ea"/>
                <a:cs typeface="+mn-cs"/>
              </a:rPr>
              <a:t>, hay </a:t>
            </a:r>
            <a:r>
              <a:rPr lang="en-US" sz="1200" kern="1200" dirty="0" err="1">
                <a:solidFill>
                  <a:schemeClr val="tx1"/>
                </a:solidFill>
                <a:effectLst/>
                <a:latin typeface="+mn-lt"/>
                <a:ea typeface="+mn-ea"/>
                <a:cs typeface="+mn-cs"/>
              </a:rPr>
              <a:t>limitaciones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conocidas</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este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método</a:t>
            </a:r>
            <a:r>
              <a:rPr lang="en-US" sz="1200" kern="1200" dirty="0">
                <a:solidFill>
                  <a:schemeClr val="tx1"/>
                </a:solidFill>
                <a:effectLst/>
                <a:latin typeface="+mn-lt"/>
                <a:ea typeface="+mn-ea"/>
                <a:cs typeface="+mn-cs"/>
              </a:rPr>
              <a:t> para </a:t>
            </a:r>
            <a:r>
              <a:rPr lang="en-US" sz="1200" kern="1200" dirty="0" err="1">
                <a:solidFill>
                  <a:schemeClr val="tx1"/>
                </a:solidFill>
                <a:effectLst/>
                <a:latin typeface="+mn-lt"/>
                <a:ea typeface="+mn-ea"/>
                <a:cs typeface="+mn-cs"/>
              </a:rPr>
              <a:t>nuestro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caso</a:t>
            </a:r>
            <a:r>
              <a:rPr lang="en-US" sz="1200" kern="1200" dirty="0">
                <a:solidFill>
                  <a:schemeClr val="tx1"/>
                </a:solidFill>
                <a:effectLst/>
                <a:latin typeface="+mn-lt"/>
                <a:ea typeface="+mn-ea"/>
                <a:cs typeface="+mn-cs"/>
              </a:rPr>
              <a:t>. En primer </a:t>
            </a:r>
            <a:r>
              <a:rPr lang="en-US" sz="1200" kern="1200" dirty="0" err="1">
                <a:solidFill>
                  <a:schemeClr val="tx1"/>
                </a:solidFill>
                <a:effectLst/>
                <a:latin typeface="+mn-lt"/>
                <a:ea typeface="+mn-ea"/>
                <a:cs typeface="+mn-cs"/>
              </a:rPr>
              <a:t>lugar</a:t>
            </a:r>
            <a:r>
              <a:rPr lang="en-US" sz="1200" kern="1200" dirty="0">
                <a:solidFill>
                  <a:schemeClr val="tx1"/>
                </a:solidFill>
                <a:effectLst/>
                <a:latin typeface="+mn-lt"/>
                <a:ea typeface="+mn-ea"/>
                <a:cs typeface="+mn-cs"/>
              </a:rPr>
              <a:t>, no se </a:t>
            </a:r>
            <a:r>
              <a:rPr lang="en-US" sz="1200" kern="1200" dirty="0" err="1">
                <a:solidFill>
                  <a:schemeClr val="tx1"/>
                </a:solidFill>
                <a:effectLst/>
                <a:latin typeface="+mn-lt"/>
                <a:ea typeface="+mn-ea"/>
                <a:cs typeface="+mn-cs"/>
              </a:rPr>
              <a:t>puede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interpretar</a:t>
            </a:r>
            <a:r>
              <a:rPr lang="en-US" sz="1200" kern="1200" dirty="0">
                <a:solidFill>
                  <a:schemeClr val="tx1"/>
                </a:solidFill>
                <a:effectLst/>
                <a:latin typeface="+mn-lt"/>
                <a:ea typeface="+mn-ea"/>
                <a:cs typeface="+mn-cs"/>
              </a:rPr>
              <a:t> tan </a:t>
            </a:r>
            <a:r>
              <a:rPr lang="en-US" sz="1200" kern="1200" dirty="0" err="1">
                <a:solidFill>
                  <a:schemeClr val="tx1"/>
                </a:solidFill>
                <a:effectLst/>
                <a:latin typeface="+mn-lt"/>
                <a:ea typeface="+mn-ea"/>
                <a:cs typeface="+mn-cs"/>
              </a:rPr>
              <a:t>fácilmente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como</a:t>
            </a:r>
            <a:r>
              <a:rPr lang="en-US" sz="1200" kern="1200" dirty="0">
                <a:solidFill>
                  <a:schemeClr val="tx1"/>
                </a:solidFill>
                <a:effectLst/>
                <a:latin typeface="+mn-lt"/>
                <a:ea typeface="+mn-ea"/>
                <a:cs typeface="+mn-cs"/>
              </a:rPr>
              <a:t> un </a:t>
            </a:r>
            <a:r>
              <a:rPr lang="en-US" sz="1200" kern="1200" dirty="0" err="1">
                <a:solidFill>
                  <a:schemeClr val="tx1"/>
                </a:solidFill>
                <a:effectLst/>
                <a:latin typeface="+mn-lt"/>
                <a:ea typeface="+mn-ea"/>
                <a:cs typeface="+mn-cs"/>
              </a:rPr>
              <a:t>único</a:t>
            </a:r>
            <a:r>
              <a:rPr lang="en-US" sz="1200" kern="1200" dirty="0">
                <a:solidFill>
                  <a:schemeClr val="tx1"/>
                </a:solidFill>
                <a:effectLst/>
                <a:latin typeface="+mn-lt"/>
                <a:ea typeface="+mn-ea"/>
                <a:cs typeface="+mn-cs"/>
              </a:rPr>
              <a:t> árbol causal, es lo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perdemos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robustez</a:t>
            </a:r>
            <a:r>
              <a:rPr lang="en-US" sz="1200" kern="1200" dirty="0">
                <a:solidFill>
                  <a:schemeClr val="tx1"/>
                </a:solidFill>
                <a:effectLst/>
                <a:latin typeface="+mn-lt"/>
                <a:ea typeface="+mn-ea"/>
                <a:cs typeface="+mn-cs"/>
              </a:rPr>
              <a:t> del bosque. </a:t>
            </a:r>
            <a:r>
              <a:rPr lang="en-US" sz="1200" kern="1200" dirty="0" err="1">
                <a:solidFill>
                  <a:schemeClr val="tx1"/>
                </a:solidFill>
                <a:effectLst/>
                <a:latin typeface="+mn-lt"/>
                <a:ea typeface="+mn-ea"/>
                <a:cs typeface="+mn-cs"/>
              </a:rPr>
              <a:t>Además</a:t>
            </a:r>
            <a:r>
              <a:rPr lang="en-US" sz="1200" kern="1200" dirty="0">
                <a:solidFill>
                  <a:schemeClr val="tx1"/>
                </a:solidFill>
                <a:effectLst/>
                <a:latin typeface="+mn-lt"/>
                <a:ea typeface="+mn-ea"/>
                <a:cs typeface="+mn-cs"/>
              </a:rPr>
              <a:t>, no </a:t>
            </a:r>
            <a:r>
              <a:rPr lang="en-US" sz="1200" kern="1200" dirty="0" err="1">
                <a:solidFill>
                  <a:schemeClr val="tx1"/>
                </a:solidFill>
                <a:effectLst/>
                <a:latin typeface="+mn-lt"/>
                <a:ea typeface="+mn-ea"/>
                <a:cs typeface="+mn-cs"/>
              </a:rPr>
              <a:t>extrapola</a:t>
            </a:r>
            <a:r>
              <a:rPr lang="en-US" sz="1200" kern="1200" dirty="0">
                <a:solidFill>
                  <a:schemeClr val="tx1"/>
                </a:solidFill>
                <a:effectLst/>
                <a:latin typeface="+mn-lt"/>
                <a:ea typeface="+mn-ea"/>
                <a:cs typeface="+mn-cs"/>
              </a:rPr>
              <a:t> fuera del </a:t>
            </a:r>
            <a:r>
              <a:rPr lang="en-US" sz="1200" kern="1200" dirty="0" err="1">
                <a:solidFill>
                  <a:schemeClr val="tx1"/>
                </a:solidFill>
                <a:effectLst/>
                <a:latin typeface="+mn-lt"/>
                <a:ea typeface="+mn-ea"/>
                <a:cs typeface="+mn-cs"/>
              </a:rPr>
              <a:t>rango</a:t>
            </a:r>
            <a:r>
              <a:rPr lang="en-US" sz="1200" kern="1200" dirty="0">
                <a:solidFill>
                  <a:schemeClr val="tx1"/>
                </a:solidFill>
                <a:effectLst/>
                <a:latin typeface="+mn-lt"/>
                <a:ea typeface="+mn-ea"/>
                <a:cs typeface="+mn-cs"/>
              </a:rPr>
              <a:t> del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entrenado</a:t>
            </a:r>
            <a:r>
              <a:rPr lang="en-US" sz="1200" kern="1200" dirty="0">
                <a:solidFill>
                  <a:schemeClr val="tx1"/>
                </a:solidFill>
                <a:effectLst/>
                <a:latin typeface="+mn-lt"/>
                <a:ea typeface="+mn-ea"/>
                <a:cs typeface="+mn-cs"/>
              </a:rPr>
              <a:t> tan bien, se </a:t>
            </a:r>
            <a:r>
              <a:rPr lang="en-US" sz="1200" kern="1200" dirty="0" err="1">
                <a:solidFill>
                  <a:schemeClr val="tx1"/>
                </a:solidFill>
                <a:effectLst/>
                <a:latin typeface="+mn-lt"/>
                <a:ea typeface="+mn-ea"/>
                <a:cs typeface="+mn-cs"/>
              </a:rPr>
              <a:t>limita</a:t>
            </a:r>
            <a:r>
              <a:rPr lang="en-US" sz="1200" kern="1200" dirty="0">
                <a:solidFill>
                  <a:schemeClr val="tx1"/>
                </a:solidFill>
                <a:effectLst/>
                <a:latin typeface="+mn-lt"/>
                <a:ea typeface="+mn-ea"/>
                <a:cs typeface="+mn-cs"/>
              </a:rPr>
              <a:t> a un </a:t>
            </a:r>
            <a:r>
              <a:rPr lang="en-US" sz="1200" kern="1200" dirty="0" err="1">
                <a:solidFill>
                  <a:schemeClr val="tx1"/>
                </a:solidFill>
                <a:effectLst/>
                <a:latin typeface="+mn-lt"/>
                <a:ea typeface="+mn-ea"/>
                <a:cs typeface="+mn-cs"/>
              </a:rPr>
              <a:t>análisis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predicitvo</a:t>
            </a:r>
            <a:r>
              <a:rPr lang="en-US" sz="1200" kern="1200" dirty="0">
                <a:solidFill>
                  <a:schemeClr val="tx1"/>
                </a:solidFill>
                <a:effectLst/>
                <a:latin typeface="+mn-lt"/>
                <a:ea typeface="+mn-ea"/>
                <a:cs typeface="+mn-cs"/>
              </a:rPr>
              <a:t> y es </a:t>
            </a:r>
            <a:r>
              <a:rPr lang="en-US" sz="1200" kern="1200" dirty="0" err="1">
                <a:solidFill>
                  <a:schemeClr val="tx1"/>
                </a:solidFill>
                <a:effectLst/>
                <a:latin typeface="+mn-lt"/>
                <a:ea typeface="+mn-ea"/>
                <a:cs typeface="+mn-cs"/>
              </a:rPr>
              <a:t>requiere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más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capacidad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computacional</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Ahora</a:t>
            </a:r>
            <a:r>
              <a:rPr lang="en-US" sz="1200" kern="1200" dirty="0">
                <a:solidFill>
                  <a:schemeClr val="tx1"/>
                </a:solidFill>
                <a:effectLst/>
                <a:latin typeface="+mn-lt"/>
                <a:ea typeface="+mn-ea"/>
                <a:cs typeface="+mn-cs"/>
              </a:rPr>
              <a:t> Mateo les </a:t>
            </a:r>
            <a:r>
              <a:rPr lang="en-US" sz="1200" kern="1200" dirty="0" err="1">
                <a:solidFill>
                  <a:schemeClr val="tx1"/>
                </a:solidFill>
                <a:effectLst/>
                <a:latin typeface="+mn-lt"/>
                <a:ea typeface="+mn-ea"/>
                <a:cs typeface="+mn-cs"/>
              </a:rPr>
              <a:t>va</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comentar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nuestros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hallazgos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análisis</a:t>
            </a:r>
            <a:r>
              <a:rPr lang="en-US" sz="1200" kern="1200" dirty="0">
                <a:solidFill>
                  <a:schemeClr val="tx1"/>
                </a:solidFill>
                <a:effectLst/>
                <a:latin typeface="+mn-lt"/>
                <a:ea typeface="+mn-ea"/>
                <a:cs typeface="+mn-cs"/>
              </a:rPr>
              <a:t> causal </a:t>
            </a:r>
            <a:r>
              <a:rPr lang="en-US" sz="1200" kern="1200" dirty="0" err="1">
                <a:solidFill>
                  <a:schemeClr val="tx1"/>
                </a:solidFill>
                <a:effectLst/>
                <a:latin typeface="+mn-lt"/>
                <a:ea typeface="+mn-ea"/>
                <a:cs typeface="+mn-cs"/>
              </a:rPr>
              <a:t>usando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métodos</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árboles</a:t>
            </a:r>
            <a:r>
              <a:rPr lang="en-US" sz="1200" kern="1200" dirty="0">
                <a:solidFill>
                  <a:schemeClr val="tx1"/>
                </a:solidFill>
                <a:effectLst/>
                <a:latin typeface="+mn-lt"/>
                <a:ea typeface="+mn-ea"/>
                <a:cs typeface="+mn-cs"/>
              </a:rPr>
              <a:t>. </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En </a:t>
            </a:r>
            <a:r>
              <a:rPr lang="en-US" sz="1200" kern="1200" dirty="0" err="1">
                <a:solidFill>
                  <a:schemeClr val="tx1"/>
                </a:solidFill>
                <a:effectLst/>
                <a:latin typeface="+mn-lt"/>
                <a:ea typeface="+mn-ea"/>
                <a:cs typeface="+mn-cs"/>
              </a:rPr>
              <a:t>resumen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nuestra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recomendación</a:t>
            </a:r>
            <a:r>
              <a:rPr lang="en-US" sz="1200" kern="1200" dirty="0">
                <a:solidFill>
                  <a:schemeClr val="tx1"/>
                </a:solidFill>
                <a:effectLst/>
                <a:latin typeface="+mn-lt"/>
                <a:ea typeface="+mn-ea"/>
                <a:cs typeface="+mn-cs"/>
              </a:rPr>
              <a:t> es </a:t>
            </a:r>
            <a:r>
              <a:rPr lang="en-US" sz="1200" kern="1200" dirty="0" err="1">
                <a:solidFill>
                  <a:schemeClr val="tx1"/>
                </a:solidFill>
                <a:effectLst/>
                <a:latin typeface="+mn-lt"/>
                <a:ea typeface="+mn-ea"/>
                <a:cs typeface="+mn-cs"/>
              </a:rPr>
              <a:t>aplicar</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registro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facilitado</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todos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usuarios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computadores</a:t>
            </a:r>
            <a:r>
              <a:rPr lang="en-US" sz="1200" kern="1200" dirty="0">
                <a:solidFill>
                  <a:schemeClr val="tx1"/>
                </a:solidFill>
                <a:effectLst/>
                <a:latin typeface="+mn-lt"/>
                <a:ea typeface="+mn-ea"/>
                <a:cs typeface="+mn-cs"/>
              </a:rPr>
              <a:t> y </a:t>
            </a:r>
            <a:r>
              <a:rPr lang="en-US" sz="1200" kern="1200" dirty="0" err="1">
                <a:solidFill>
                  <a:schemeClr val="tx1"/>
                </a:solidFill>
                <a:effectLst/>
                <a:latin typeface="+mn-lt"/>
                <a:ea typeface="+mn-ea"/>
                <a:cs typeface="+mn-cs"/>
              </a:rPr>
              <a:t>tabletas</a:t>
            </a:r>
            <a:r>
              <a:rPr lang="en-US" sz="1200" kern="1200" dirty="0">
                <a:solidFill>
                  <a:schemeClr val="tx1"/>
                </a:solidFill>
                <a:effectLst/>
                <a:latin typeface="+mn-lt"/>
                <a:ea typeface="+mn-ea"/>
                <a:cs typeface="+mn-cs"/>
              </a:rPr>
              <a:t>, y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celular</a:t>
            </a:r>
            <a:r>
              <a:rPr lang="en-US" sz="1200" kern="1200" dirty="0">
                <a:solidFill>
                  <a:schemeClr val="tx1"/>
                </a:solidFill>
                <a:effectLst/>
                <a:latin typeface="+mn-lt"/>
                <a:ea typeface="+mn-ea"/>
                <a:cs typeface="+mn-cs"/>
              </a:rPr>
              <a:t> solo para </a:t>
            </a:r>
            <a:r>
              <a:rPr lang="en-US" sz="1200" kern="1200" dirty="0" err="1">
                <a:solidFill>
                  <a:schemeClr val="tx1"/>
                </a:solidFill>
                <a:effectLst/>
                <a:latin typeface="+mn-lt"/>
                <a:ea typeface="+mn-ea"/>
                <a:cs typeface="+mn-cs"/>
              </a:rPr>
              <a:t>los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manejan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osx</a:t>
            </a:r>
            <a:r>
              <a:rPr lang="en-US" sz="1200" kern="1200" dirty="0">
                <a:solidFill>
                  <a:schemeClr val="tx1"/>
                </a:solidFill>
                <a:effectLst/>
                <a:latin typeface="+mn-lt"/>
                <a:ea typeface="+mn-ea"/>
                <a:cs typeface="+mn-cs"/>
              </a:rPr>
              <a:t>. Para </a:t>
            </a:r>
            <a:r>
              <a:rPr lang="en-US" sz="1200" kern="1200" dirty="0" err="1">
                <a:solidFill>
                  <a:schemeClr val="tx1"/>
                </a:solidFill>
                <a:effectLst/>
                <a:latin typeface="+mn-lt"/>
                <a:ea typeface="+mn-ea"/>
                <a:cs typeface="+mn-cs"/>
              </a:rPr>
              <a:t>quienes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tienen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celulares</a:t>
            </a:r>
            <a:r>
              <a:rPr lang="en-US" sz="1200" kern="1200" dirty="0">
                <a:solidFill>
                  <a:schemeClr val="tx1"/>
                </a:solidFill>
                <a:effectLst/>
                <a:latin typeface="+mn-lt"/>
                <a:ea typeface="+mn-ea"/>
                <a:cs typeface="+mn-cs"/>
              </a:rPr>
              <a:t> con windows u </a:t>
            </a:r>
            <a:r>
              <a:rPr lang="en-US" sz="1200" kern="1200" dirty="0" err="1">
                <a:solidFill>
                  <a:schemeClr val="tx1"/>
                </a:solidFill>
                <a:effectLst/>
                <a:latin typeface="+mn-lt"/>
                <a:ea typeface="+mn-ea"/>
                <a:cs typeface="+mn-cs"/>
              </a:rPr>
              <a:t>otros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sitema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dejamos</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esquema</a:t>
            </a:r>
            <a:r>
              <a:rPr lang="en-US" sz="1200" kern="1200" dirty="0">
                <a:solidFill>
                  <a:schemeClr val="tx1"/>
                </a:solidFill>
                <a:effectLst/>
                <a:latin typeface="+mn-lt"/>
                <a:ea typeface="+mn-ea"/>
                <a:cs typeface="+mn-cs"/>
              </a:rPr>
              <a:t> actual. Esto se </a:t>
            </a:r>
            <a:r>
              <a:rPr lang="en-US" sz="1200" kern="1200" dirty="0" err="1">
                <a:solidFill>
                  <a:schemeClr val="tx1"/>
                </a:solidFill>
                <a:effectLst/>
                <a:latin typeface="+mn-lt"/>
                <a:ea typeface="+mn-ea"/>
                <a:cs typeface="+mn-cs"/>
              </a:rPr>
              <a:t>respalda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análisis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predictivo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sobre</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muestra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histórica</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uso</a:t>
            </a:r>
            <a:r>
              <a:rPr lang="en-US" sz="1200" kern="1200" dirty="0">
                <a:solidFill>
                  <a:schemeClr val="tx1"/>
                </a:solidFill>
                <a:effectLst/>
                <a:latin typeface="+mn-lt"/>
                <a:ea typeface="+mn-ea"/>
                <a:cs typeface="+mn-cs"/>
              </a:rPr>
              <a:t> de bosques </a:t>
            </a:r>
            <a:r>
              <a:rPr lang="en-US" sz="1200" kern="1200" dirty="0" err="1">
                <a:solidFill>
                  <a:schemeClr val="tx1"/>
                </a:solidFill>
                <a:effectLst/>
                <a:latin typeface="+mn-lt"/>
                <a:ea typeface="+mn-ea"/>
                <a:cs typeface="+mn-cs"/>
              </a:rPr>
              <a:t>causales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sobre</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muestra</a:t>
            </a:r>
            <a:r>
              <a:rPr lang="en-US" sz="1200" kern="1200" dirty="0">
                <a:solidFill>
                  <a:schemeClr val="tx1"/>
                </a:solidFill>
                <a:effectLst/>
                <a:latin typeface="+mn-lt"/>
                <a:ea typeface="+mn-ea"/>
                <a:cs typeface="+mn-cs"/>
              </a:rPr>
              <a:t> del </a:t>
            </a:r>
            <a:r>
              <a:rPr lang="en-US" sz="1200" kern="1200" dirty="0" err="1">
                <a:solidFill>
                  <a:schemeClr val="tx1"/>
                </a:solidFill>
                <a:effectLst/>
                <a:latin typeface="+mn-lt"/>
                <a:ea typeface="+mn-ea"/>
                <a:cs typeface="+mn-cs"/>
              </a:rPr>
              <a:t>experimento</a:t>
            </a:r>
            <a:r>
              <a:rPr lang="en-US" sz="1200" kern="1200" dirty="0">
                <a:solidFill>
                  <a:schemeClr val="tx1"/>
                </a:solidFill>
                <a:effectLst/>
                <a:latin typeface="+mn-lt"/>
                <a:ea typeface="+mn-ea"/>
                <a:cs typeface="+mn-cs"/>
              </a:rPr>
              <a:t> y la </a:t>
            </a:r>
            <a:r>
              <a:rPr lang="en-US" sz="1200" kern="1200" dirty="0" err="1">
                <a:solidFill>
                  <a:schemeClr val="tx1"/>
                </a:solidFill>
                <a:effectLst/>
                <a:latin typeface="+mn-lt"/>
                <a:ea typeface="+mn-ea"/>
                <a:cs typeface="+mn-cs"/>
              </a:rPr>
              <a:t>heterogeneidad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identificada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último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finalmente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preguntas</a:t>
            </a:r>
            <a:r>
              <a:rPr lang="en-US" sz="1200" kern="1200" dirty="0">
                <a:solidFill>
                  <a:schemeClr val="tx1"/>
                </a:solidFill>
                <a:effectLst/>
                <a:latin typeface="+mn-lt"/>
                <a:ea typeface="+mn-ea"/>
                <a:cs typeface="+mn-cs"/>
              </a:rPr>
              <a:t> a responder para </a:t>
            </a:r>
            <a:r>
              <a:rPr lang="en-US" sz="1200" kern="1200" dirty="0" err="1">
                <a:solidFill>
                  <a:schemeClr val="tx1"/>
                </a:solidFill>
                <a:effectLst/>
                <a:latin typeface="+mn-lt"/>
                <a:ea typeface="+mn-ea"/>
                <a:cs typeface="+mn-cs"/>
              </a:rPr>
              <a:t>ampliar</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análisis</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Chemarket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tenemos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ítems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porqué</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tratamiento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parece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reducir</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ingreso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celulares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no </a:t>
            </a:r>
            <a:r>
              <a:rPr lang="en-US" sz="1200" kern="1200" dirty="0" err="1">
                <a:solidFill>
                  <a:schemeClr val="tx1"/>
                </a:solidFill>
                <a:effectLst/>
                <a:latin typeface="+mn-lt"/>
                <a:ea typeface="+mn-ea"/>
                <a:cs typeface="+mn-cs"/>
              </a:rPr>
              <a:t>sean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iphones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analizar</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beneficio</a:t>
            </a:r>
            <a:r>
              <a:rPr lang="en-US" sz="1200" kern="1200" dirty="0">
                <a:solidFill>
                  <a:schemeClr val="tx1"/>
                </a:solidFill>
                <a:effectLst/>
                <a:latin typeface="+mn-lt"/>
                <a:ea typeface="+mn-ea"/>
                <a:cs typeface="+mn-cs"/>
              </a:rPr>
              <a:t> del </a:t>
            </a:r>
            <a:r>
              <a:rPr lang="en-US" sz="1200" kern="1200" dirty="0" err="1">
                <a:solidFill>
                  <a:schemeClr val="tx1"/>
                </a:solidFill>
                <a:effectLst/>
                <a:latin typeface="+mn-lt"/>
                <a:ea typeface="+mn-ea"/>
                <a:cs typeface="+mn-cs"/>
              </a:rPr>
              <a:t>tratamiento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identificamos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frente</a:t>
            </a:r>
            <a:r>
              <a:rPr lang="en-US" sz="1200" kern="1200" dirty="0">
                <a:solidFill>
                  <a:schemeClr val="tx1"/>
                </a:solidFill>
                <a:effectLst/>
                <a:latin typeface="+mn-lt"/>
                <a:ea typeface="+mn-ea"/>
                <a:cs typeface="+mn-cs"/>
              </a:rPr>
              <a:t> al </a:t>
            </a:r>
            <a:r>
              <a:rPr lang="en-US" sz="1200" kern="1200" dirty="0" err="1">
                <a:solidFill>
                  <a:schemeClr val="tx1"/>
                </a:solidFill>
                <a:effectLst/>
                <a:latin typeface="+mn-lt"/>
                <a:ea typeface="+mn-ea"/>
                <a:cs typeface="+mn-cs"/>
              </a:rPr>
              <a:t>costo</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implementarlo</a:t>
            </a:r>
            <a:r>
              <a:rPr lang="en-US" sz="1200" kern="1200" dirty="0">
                <a:solidFill>
                  <a:schemeClr val="tx1"/>
                </a:solidFill>
                <a:effectLst/>
                <a:latin typeface="+mn-lt"/>
                <a:ea typeface="+mn-ea"/>
                <a:cs typeface="+mn-cs"/>
              </a:rPr>
              <a:t> a gran </a:t>
            </a:r>
            <a:r>
              <a:rPr lang="en-US" sz="1200" kern="1200" dirty="0" err="1">
                <a:solidFill>
                  <a:schemeClr val="tx1"/>
                </a:solidFill>
                <a:effectLst/>
                <a:latin typeface="+mn-lt"/>
                <a:ea typeface="+mn-ea"/>
                <a:cs typeface="+mn-cs"/>
              </a:rPr>
              <a:t>escala</a:t>
            </a:r>
            <a:r>
              <a:rPr lang="en-US" sz="1200" kern="1200" dirty="0">
                <a:solidFill>
                  <a:schemeClr val="tx1"/>
                </a:solidFill>
                <a:effectLst/>
                <a:latin typeface="+mn-lt"/>
                <a:ea typeface="+mn-ea"/>
                <a:cs typeface="+mn-cs"/>
              </a:rPr>
              <a:t> y </a:t>
            </a:r>
            <a:r>
              <a:rPr lang="en-US" sz="1200" kern="1200" dirty="0" err="1">
                <a:solidFill>
                  <a:schemeClr val="tx1"/>
                </a:solidFill>
                <a:effectLst/>
                <a:latin typeface="+mn-lt"/>
                <a:ea typeface="+mn-ea"/>
                <a:cs typeface="+mn-cs"/>
              </a:rPr>
              <a:t>revisar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cómo</a:t>
            </a:r>
            <a:r>
              <a:rPr lang="en-US" sz="1200" kern="1200" dirty="0">
                <a:solidFill>
                  <a:schemeClr val="tx1"/>
                </a:solidFill>
                <a:effectLst/>
                <a:latin typeface="+mn-lt"/>
                <a:ea typeface="+mn-ea"/>
                <a:cs typeface="+mn-cs"/>
              </a:rPr>
              <a:t> se </a:t>
            </a:r>
            <a:r>
              <a:rPr lang="en-US" sz="1200" kern="1200" dirty="0" err="1">
                <a:solidFill>
                  <a:schemeClr val="tx1"/>
                </a:solidFill>
                <a:effectLst/>
                <a:latin typeface="+mn-lt"/>
                <a:ea typeface="+mn-ea"/>
                <a:cs typeface="+mn-cs"/>
              </a:rPr>
              <a:t>sostendrían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estas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conclusiones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el </a:t>
            </a:r>
            <a:r>
              <a:rPr lang="en-US" sz="1200" kern="1200" dirty="0" err="1">
                <a:solidFill>
                  <a:schemeClr val="tx1"/>
                </a:solidFill>
                <a:effectLst/>
                <a:latin typeface="+mn-lt"/>
                <a:ea typeface="+mn-ea"/>
                <a:cs typeface="+mn-cs"/>
              </a:rPr>
              <a:t>tiempo</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través</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revisiones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continuas</a:t>
            </a:r>
            <a:r>
              <a:rPr lang="en-US" sz="1200" kern="1200" dirty="0">
                <a:solidFill>
                  <a:schemeClr val="tx1"/>
                </a:solidFill>
                <a:effectLst/>
                <a:latin typeface="+mn-lt"/>
                <a:ea typeface="+mn-ea"/>
                <a:cs typeface="+mn-cs"/>
              </a:rPr>
              <a:t> con </a:t>
            </a:r>
            <a:r>
              <a:rPr lang="en-US" sz="1200" kern="1200" dirty="0" err="1">
                <a:solidFill>
                  <a:schemeClr val="tx1"/>
                </a:solidFill>
                <a:effectLst/>
                <a:latin typeface="+mn-lt"/>
                <a:ea typeface="+mn-ea"/>
                <a:cs typeface="+mn-cs"/>
              </a:rPr>
              <a:t>nueva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400" y="378023"/>
            <a:ext cx="10871200" cy="739577"/>
          </a:xfrm>
          <a:prstGeom prst="rect">
            <a:avLst/>
          </a:prstGeom>
          <a:noFill/>
          <a:ln/>
        </p:spPr>
        <p:txBody>
          <a:bodyPr wrap="square" lIns="0" tIns="0" rIns="0" bIns="0" rtlCol="0" anchor="t"/>
          <a:lstStyle>
            <a:lvl1pPr marL="0" indent="0" algn="l">
              <a:lnSpc>
                <a:spcPct val="115000"/>
              </a:lnSpc>
              <a:buNone/>
              <a:defRPr lang="en-US" sz="2600" dirty="0">
                <a:solidFill>
                  <a:srgbClr val="051C2C"/>
                </a:solidFill>
                <a:latin typeface="Georgia" pitchFamily="34" charset="0"/>
                <a:ea typeface="Georgia" pitchFamily="34" charset="-122"/>
                <a:cs typeface="Georgia" pitchFamily="34" charset="-120"/>
              </a:defRPr>
            </a:lvl1pPr>
          </a:lstStyle>
          <a:p>
            <a:pPr marL="0" indent="0" algn="l">
              <a:lnSpc>
                <a:spcPct val="115000"/>
              </a:lnSpc>
              <a:buNone/>
            </a:pPr>
            <a:endParaRPr lang="en-US" sz="2600"/>
          </a:p>
        </p:txBody>
      </p:sp>
      <p:sp>
        <p:nvSpPr>
          <p:cNvPr id="3" name="Text Placeholder 2"/>
          <p:cNvSpPr>
            <a:spLocks noGrp="1"/>
          </p:cNvSpPr>
          <p:nvPr>
            <p:ph type="body" idx="101"/>
          </p:nvPr>
        </p:nvSpPr>
        <p:spPr>
          <a:xfrm>
            <a:off x="660400" y="1422400"/>
            <a:ext cx="10718800" cy="4622800"/>
          </a:xfrm>
          <a:prstGeom prst="rect">
            <a:avLst/>
          </a:prstGeom>
          <a:noFill/>
          <a:ln/>
        </p:spPr>
        <p:txBody>
          <a:bodyPr wrap="square" lIns="0" tIns="0" rIns="0" bIns="0" rtlCol="0" anchor="t"/>
          <a:lstStyle>
            <a:lvl1pPr marL="0" indent="0" algn="l">
              <a:lnSpc>
                <a:spcPct val="140000"/>
              </a:lnSpc>
              <a:buNone/>
              <a:defRPr lang="en-US" sz="1600" dirty="0">
                <a:solidFill>
                  <a:srgbClr val="051C2C"/>
                </a:solidFill>
                <a:latin typeface="Arial" pitchFamily="34" charset="0"/>
                <a:ea typeface="Arial" pitchFamily="34" charset="-122"/>
                <a:cs typeface="Arial" pitchFamily="34" charset="-120"/>
              </a:defRPr>
            </a:lvl1pPr>
          </a:lstStyle>
          <a:p>
            <a:pPr marL="0" indent="0" algn="l">
              <a:lnSpc>
                <a:spcPct val="140000"/>
              </a:lnSpc>
              <a:buNone/>
            </a:pPr>
            <a:endParaRPr lang="en-US" sz="16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400" y="378023"/>
            <a:ext cx="10871200" cy="739577"/>
          </a:xfrm>
          <a:prstGeom prst="rect">
            <a:avLst/>
          </a:prstGeom>
          <a:noFill/>
          <a:ln/>
        </p:spPr>
        <p:txBody>
          <a:bodyPr wrap="square" lIns="0" tIns="0" rIns="0" bIns="0" rtlCol="0" anchor="t"/>
          <a:lstStyle>
            <a:lvl1pPr marL="0" indent="0" algn="l">
              <a:lnSpc>
                <a:spcPct val="115000"/>
              </a:lnSpc>
              <a:buNone/>
              <a:defRPr lang="en-US" sz="2600" dirty="0">
                <a:solidFill>
                  <a:srgbClr val="051C2C"/>
                </a:solidFill>
                <a:latin typeface="Georgia" pitchFamily="34" charset="0"/>
                <a:ea typeface="Georgia" pitchFamily="34" charset="-122"/>
                <a:cs typeface="Georgia" pitchFamily="34" charset="-120"/>
              </a:defRPr>
            </a:lvl1pPr>
          </a:lstStyle>
          <a:p>
            <a:pPr marL="0" indent="0" algn="l">
              <a:lnSpc>
                <a:spcPct val="115000"/>
              </a:lnSpc>
              <a:buNone/>
            </a:pPr>
            <a:endParaRPr lang="en-US" sz="2600"/>
          </a:p>
        </p:txBody>
      </p:sp>
      <p:sp>
        <p:nvSpPr>
          <p:cNvPr id="3" name="Text Placeholder 2"/>
          <p:cNvSpPr>
            <a:spLocks noGrp="1"/>
          </p:cNvSpPr>
          <p:nvPr>
            <p:ph type="body" idx="101"/>
          </p:nvPr>
        </p:nvSpPr>
        <p:spPr>
          <a:xfrm>
            <a:off x="660400" y="1422400"/>
            <a:ext cx="10718800" cy="4622800"/>
          </a:xfrm>
          <a:prstGeom prst="rect">
            <a:avLst/>
          </a:prstGeom>
          <a:noFill/>
          <a:ln/>
        </p:spPr>
        <p:txBody>
          <a:bodyPr wrap="square" lIns="0" tIns="0" rIns="0" bIns="0" rtlCol="0" anchor="t"/>
          <a:lstStyle>
            <a:lvl1pPr marL="0" indent="0" algn="l">
              <a:lnSpc>
                <a:spcPct val="140000"/>
              </a:lnSpc>
              <a:buNone/>
              <a:defRPr lang="en-US" sz="1600" dirty="0">
                <a:solidFill>
                  <a:srgbClr val="051C2C"/>
                </a:solidFill>
                <a:latin typeface="Arial" pitchFamily="34" charset="0"/>
                <a:ea typeface="Arial" pitchFamily="34" charset="-122"/>
                <a:cs typeface="Arial" pitchFamily="34" charset="-120"/>
              </a:defRPr>
            </a:lvl1pPr>
          </a:lstStyle>
          <a:p>
            <a:pPr marL="0" indent="0" algn="l">
              <a:lnSpc>
                <a:spcPct val="140000"/>
              </a:lnSpc>
              <a:buNone/>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1C2C"/>
        </a:solidFill>
        <a:effectLst/>
      </p:bgPr>
    </p:bg>
    <p:spTree>
      <p:nvGrpSpPr>
        <p:cNvPr id="1" name=""/>
        <p:cNvGrpSpPr/>
        <p:nvPr/>
      </p:nvGrpSpPr>
      <p:grpSpPr>
        <a:xfrm>
          <a:off x="0" y="0"/>
          <a:ext cx="0" cy="0"/>
          <a:chOff x="0" y="0"/>
          <a:chExt cx="0" cy="0"/>
        </a:xfrm>
      </p:grpSpPr>
      <p:pic>
        <p:nvPicPr>
          <p:cNvPr id="2" name="Image 0" descr="Bodega con estantes llenos de cajas"/>
          <p:cNvPicPr>
            <a:picLocks noChangeAspect="1"/>
          </p:cNvPicPr>
          <p:nvPr/>
        </p:nvPicPr>
        <p:blipFill>
          <a:blip r:embed="rId3"/>
          <a:srcRect l="10093" r="10093"/>
          <a:stretch/>
        </p:blipFill>
        <p:spPr>
          <a:xfrm>
            <a:off x="6718300" y="0"/>
            <a:ext cx="5473700" cy="6858000"/>
          </a:xfrm>
          <a:prstGeom prst="rect">
            <a:avLst/>
          </a:prstGeom>
        </p:spPr>
      </p:pic>
      <p:sp>
        <p:nvSpPr>
          <p:cNvPr id="4" name="Text 0"/>
          <p:cNvSpPr>
            <a:spLocks noGrp="1"/>
          </p:cNvSpPr>
          <p:nvPr>
            <p:ph type="title"/>
          </p:nvPr>
        </p:nvSpPr>
        <p:spPr>
          <a:xfrm>
            <a:off x="571500" y="1333500"/>
            <a:ext cx="5886450" cy="1701800"/>
          </a:xfrm>
          <a:prstGeom prst="rect">
            <a:avLst/>
          </a:prstGeom>
          <a:noFill/>
          <a:ln/>
        </p:spPr>
        <p:txBody>
          <a:bodyPr wrap="square" lIns="0" tIns="0" rIns="0" bIns="0" rtlCol="0" anchor="t">
            <a:normAutofit/>
          </a:bodyPr>
          <a:lstStyle/>
          <a:p>
            <a:pPr marL="0" indent="0" algn="l">
              <a:lnSpc>
                <a:spcPts val="4400"/>
              </a:lnSpc>
              <a:buNone/>
            </a:pPr>
            <a:r>
              <a:rPr lang="en-US" sz="4000" b="1" i="0">
                <a:solidFill>
                  <a:srgbClr val="FFFFFF"/>
                </a:solidFill>
                <a:latin typeface="Georgia" pitchFamily="18" charset="0"/>
                <a:ea typeface="Georgia" pitchFamily="18" charset="-122"/>
                <a:cs typeface="Georgia" pitchFamily="18" charset="-120"/>
              </a:rPr>
              <a:t>¿A quién debe CheMarket darle el registro facilitado?</a:t>
            </a:r>
            <a:endParaRPr lang="en-US" sz="4000"/>
          </a:p>
        </p:txBody>
      </p:sp>
      <p:sp>
        <p:nvSpPr>
          <p:cNvPr id="5" name="Text 1"/>
          <p:cNvSpPr/>
          <p:nvPr/>
        </p:nvSpPr>
        <p:spPr>
          <a:xfrm>
            <a:off x="571500" y="3873500"/>
            <a:ext cx="5755640" cy="642541"/>
          </a:xfrm>
          <a:prstGeom prst="rect">
            <a:avLst/>
          </a:prstGeom>
          <a:noFill/>
          <a:ln/>
        </p:spPr>
        <p:txBody>
          <a:bodyPr wrap="square" lIns="0" tIns="0" rIns="0" bIns="0" rtlCol="0" anchor="t">
            <a:normAutofit/>
          </a:bodyPr>
          <a:lstStyle/>
          <a:p>
            <a:pPr marL="0" indent="0" algn="l">
              <a:lnSpc>
                <a:spcPts val="2430"/>
              </a:lnSpc>
              <a:buNone/>
            </a:pPr>
            <a:r>
              <a:rPr lang="en-US" sz="1800" err="1">
                <a:solidFill>
                  <a:srgbClr val="E6EDF2"/>
                </a:solidFill>
                <a:latin typeface="Arial"/>
                <a:ea typeface="Arial" pitchFamily="34" charset="-122"/>
                <a:cs typeface="Arial"/>
              </a:rPr>
              <a:t>Encargo</a:t>
            </a:r>
            <a:r>
              <a:rPr lang="en-US" sz="1800">
                <a:solidFill>
                  <a:srgbClr val="E6EDF2"/>
                </a:solidFill>
                <a:latin typeface="Arial"/>
                <a:ea typeface="Arial" pitchFamily="34" charset="-122"/>
                <a:cs typeface="Arial"/>
              </a:rPr>
              <a:t> 2: ¿</a:t>
            </a:r>
            <a:r>
              <a:rPr lang="en-US" err="1">
                <a:solidFill>
                  <a:srgbClr val="E6EDF2"/>
                </a:solidFill>
                <a:latin typeface="Arial"/>
                <a:ea typeface="Arial" pitchFamily="34" charset="-122"/>
                <a:cs typeface="Arial"/>
              </a:rPr>
              <a:t>Qué</a:t>
            </a:r>
            <a:r>
              <a:rPr lang="en-US" sz="1800">
                <a:solidFill>
                  <a:srgbClr val="E6EDF2"/>
                </a:solidFill>
                <a:latin typeface="Arial"/>
                <a:ea typeface="Arial" pitchFamily="34" charset="-122"/>
                <a:cs typeface="Arial"/>
              </a:rPr>
              <a:t> cambia con ln(Revenue) y con </a:t>
            </a:r>
            <a:r>
              <a:rPr lang="en-US" sz="1800" err="1">
                <a:solidFill>
                  <a:srgbClr val="E6EDF2"/>
                </a:solidFill>
                <a:latin typeface="Arial"/>
                <a:ea typeface="Arial" pitchFamily="34" charset="-122"/>
                <a:cs typeface="Arial"/>
              </a:rPr>
              <a:t>métodos</a:t>
            </a:r>
            <a:r>
              <a:rPr lang="en-US" sz="1800">
                <a:solidFill>
                  <a:srgbClr val="E6EDF2"/>
                </a:solidFill>
                <a:latin typeface="Arial"/>
                <a:ea typeface="Arial" pitchFamily="34" charset="-122"/>
                <a:cs typeface="Arial"/>
              </a:rPr>
              <a:t> </a:t>
            </a:r>
            <a:r>
              <a:rPr lang="en-US" sz="1800" err="1">
                <a:solidFill>
                  <a:srgbClr val="E6EDF2"/>
                </a:solidFill>
                <a:latin typeface="Arial"/>
                <a:ea typeface="Arial" pitchFamily="34" charset="-122"/>
                <a:cs typeface="Arial"/>
              </a:rPr>
              <a:t>basados</a:t>
            </a:r>
            <a:r>
              <a:rPr lang="en-US" sz="1800">
                <a:solidFill>
                  <a:srgbClr val="E6EDF2"/>
                </a:solidFill>
                <a:latin typeface="Arial"/>
                <a:ea typeface="Arial" pitchFamily="34" charset="-122"/>
                <a:cs typeface="Arial"/>
              </a:rPr>
              <a:t> </a:t>
            </a:r>
            <a:r>
              <a:rPr lang="en-US" sz="1800" err="1">
                <a:solidFill>
                  <a:srgbClr val="E6EDF2"/>
                </a:solidFill>
                <a:latin typeface="Arial"/>
                <a:ea typeface="Arial" pitchFamily="34" charset="-122"/>
                <a:cs typeface="Arial"/>
              </a:rPr>
              <a:t>en</a:t>
            </a:r>
            <a:r>
              <a:rPr lang="en-US" sz="1800">
                <a:solidFill>
                  <a:srgbClr val="E6EDF2"/>
                </a:solidFill>
                <a:latin typeface="Arial"/>
                <a:ea typeface="Arial" pitchFamily="34" charset="-122"/>
                <a:cs typeface="Arial"/>
              </a:rPr>
              <a:t> </a:t>
            </a:r>
            <a:r>
              <a:rPr lang="en-US" sz="1800" err="1">
                <a:solidFill>
                  <a:srgbClr val="E6EDF2"/>
                </a:solidFill>
                <a:latin typeface="Arial"/>
                <a:ea typeface="Arial" pitchFamily="34" charset="-122"/>
                <a:cs typeface="Arial"/>
              </a:rPr>
              <a:t>árboles</a:t>
            </a:r>
            <a:r>
              <a:rPr lang="en-US" sz="1800">
                <a:solidFill>
                  <a:srgbClr val="E6EDF2"/>
                </a:solidFill>
                <a:latin typeface="Arial"/>
                <a:ea typeface="Arial" pitchFamily="34" charset="-122"/>
                <a:cs typeface="Arial"/>
              </a:rPr>
              <a:t>, </a:t>
            </a:r>
            <a:r>
              <a:rPr lang="en-US" sz="1800" err="1">
                <a:solidFill>
                  <a:srgbClr val="E6EDF2"/>
                </a:solidFill>
                <a:latin typeface="Arial"/>
                <a:ea typeface="Arial" pitchFamily="34" charset="-122"/>
                <a:cs typeface="Arial"/>
              </a:rPr>
              <a:t>frente</a:t>
            </a:r>
            <a:r>
              <a:rPr lang="en-US" sz="1800">
                <a:solidFill>
                  <a:srgbClr val="E6EDF2"/>
                </a:solidFill>
                <a:latin typeface="Arial"/>
                <a:ea typeface="Arial" pitchFamily="34" charset="-122"/>
                <a:cs typeface="Arial"/>
              </a:rPr>
              <a:t> al </a:t>
            </a:r>
            <a:r>
              <a:rPr lang="en-US" sz="1800" err="1">
                <a:solidFill>
                  <a:srgbClr val="E6EDF2"/>
                </a:solidFill>
                <a:latin typeface="Arial"/>
                <a:ea typeface="Arial" pitchFamily="34" charset="-122"/>
                <a:cs typeface="Arial"/>
              </a:rPr>
              <a:t>encargo</a:t>
            </a:r>
            <a:r>
              <a:rPr lang="en-US" sz="1800">
                <a:solidFill>
                  <a:srgbClr val="E6EDF2"/>
                </a:solidFill>
                <a:latin typeface="Arial"/>
                <a:ea typeface="Arial" pitchFamily="34" charset="-122"/>
                <a:cs typeface="Arial"/>
              </a:rPr>
              <a:t> 1?</a:t>
            </a:r>
            <a:endParaRPr lang="en-US" sz="1800">
              <a:latin typeface="Arial"/>
              <a:cs typeface="Arial"/>
            </a:endParaRPr>
          </a:p>
        </p:txBody>
      </p:sp>
      <p:sp>
        <p:nvSpPr>
          <p:cNvPr id="6" name="Text 2"/>
          <p:cNvSpPr/>
          <p:nvPr/>
        </p:nvSpPr>
        <p:spPr>
          <a:xfrm>
            <a:off x="571500" y="5245100"/>
            <a:ext cx="5755640"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FFFFFF"/>
                </a:solidFill>
                <a:latin typeface="Georgia" pitchFamily="18" charset="0"/>
                <a:ea typeface="Georgia" pitchFamily="18" charset="-122"/>
                <a:cs typeface="Georgia" pitchFamily="18" charset="-120"/>
              </a:rPr>
              <a:t>Grupo 6</a:t>
            </a:r>
            <a:endParaRPr lang="en-US" sz="1600"/>
          </a:p>
        </p:txBody>
      </p:sp>
      <p:sp>
        <p:nvSpPr>
          <p:cNvPr id="7" name="Text 3"/>
          <p:cNvSpPr/>
          <p:nvPr/>
        </p:nvSpPr>
        <p:spPr>
          <a:xfrm>
            <a:off x="571500" y="5588000"/>
            <a:ext cx="5755640" cy="635000"/>
          </a:xfrm>
          <a:prstGeom prst="rect">
            <a:avLst/>
          </a:prstGeom>
          <a:noFill/>
          <a:ln/>
        </p:spPr>
        <p:txBody>
          <a:bodyPr wrap="square" lIns="0" tIns="0" rIns="0" bIns="0" rtlCol="0" anchor="t">
            <a:normAutofit/>
          </a:bodyPr>
          <a:lstStyle/>
          <a:p>
            <a:pPr marL="0" indent="0" algn="l">
              <a:lnSpc>
                <a:spcPts val="2400"/>
              </a:lnSpc>
              <a:buNone/>
            </a:pPr>
            <a:r>
              <a:rPr lang="en-US" sz="1600" b="1">
                <a:solidFill>
                  <a:srgbClr val="FFFFFF"/>
                </a:solidFill>
                <a:latin typeface="Georgia" pitchFamily="18" charset="0"/>
                <a:ea typeface="Georgia" pitchFamily="18" charset="-122"/>
                <a:cs typeface="Georgia" pitchFamily="18" charset="-120"/>
              </a:rPr>
              <a:t>Samuel Escandón · Douglas Plazas</a:t>
            </a:r>
            <a:endParaRPr lang="en-US" sz="1600"/>
          </a:p>
          <a:p>
            <a:pPr marL="0" indent="0" algn="l">
              <a:lnSpc>
                <a:spcPts val="2400"/>
              </a:lnSpc>
              <a:buNone/>
            </a:pPr>
            <a:r>
              <a:rPr lang="en-US" sz="1600" b="1">
                <a:solidFill>
                  <a:srgbClr val="FFFFFF"/>
                </a:solidFill>
                <a:latin typeface="Georgia" pitchFamily="18" charset="0"/>
                <a:ea typeface="Georgia" pitchFamily="18" charset="-122"/>
                <a:cs typeface="Georgia" pitchFamily="18" charset="-120"/>
              </a:rPr>
              <a:t>Mateo Olmos · Santiago Muñoz</a:t>
            </a:r>
            <a:endParaRPr lang="en-US" sz="1600"/>
          </a:p>
        </p:txBody>
      </p:sp>
      <p:pic>
        <p:nvPicPr>
          <p:cNvPr id="8" name="Picture 7">
            <a:extLst>
              <a:ext uri="{FF2B5EF4-FFF2-40B4-BE49-F238E27FC236}">
                <a16:creationId xmlns:a16="http://schemas.microsoft.com/office/drawing/2014/main" id="{C886CA10-FDCA-2831-1C9E-FE36023C6597}"/>
              </a:ext>
            </a:extLst>
          </p:cNvPr>
          <p:cNvPicPr>
            <a:picLocks noChangeAspect="1"/>
          </p:cNvPicPr>
          <p:nvPr/>
        </p:nvPicPr>
        <p:blipFill>
          <a:blip r:embed="rId4"/>
          <a:stretch>
            <a:fillRect/>
          </a:stretch>
        </p:blipFill>
        <p:spPr>
          <a:xfrm>
            <a:off x="1207018" y="218853"/>
            <a:ext cx="2860896" cy="832294"/>
          </a:xfrm>
          <a:prstGeom prst="rect">
            <a:avLst/>
          </a:prstGeom>
        </p:spPr>
      </p:pic>
    </p:spTree>
    <p:extLst>
      <p:ext uri="{BB962C8B-B14F-4D97-AF65-F5344CB8AC3E}">
        <p14:creationId xmlns:p14="http://schemas.microsoft.com/office/powerpoint/2010/main" val="38077147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1F3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78023"/>
            <a:ext cx="11197336" cy="764977"/>
          </a:xfrm>
          <a:prstGeom prst="rect">
            <a:avLst/>
          </a:prstGeom>
          <a:noFill/>
          <a:ln/>
        </p:spPr>
        <p:txBody>
          <a:bodyPr wrap="square" lIns="0" tIns="0" rIns="0" bIns="0" rtlCol="0" anchor="t">
            <a:normAutofit/>
          </a:bodyPr>
          <a:lstStyle/>
          <a:p>
            <a:pPr marL="0" indent="0" algn="l">
              <a:lnSpc>
                <a:spcPts val="2912"/>
              </a:lnSpc>
              <a:buNone/>
            </a:pPr>
            <a:r>
              <a:rPr lang="en-US" sz="2600" b="1" i="0">
                <a:solidFill>
                  <a:srgbClr val="FFFFFF"/>
                </a:solidFill>
                <a:latin typeface="Georgia" pitchFamily="18" charset="0"/>
                <a:ea typeface="Georgia" pitchFamily="18" charset="-122"/>
                <a:cs typeface="Georgia" pitchFamily="18" charset="-120"/>
              </a:rPr>
              <a:t>Recomendación: escalar el registro facilitado a todos, salvo a celulares con Windows u otro sistema</a:t>
            </a:r>
            <a:endParaRPr lang="en-US" sz="260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Shape 1"/>
          <p:cNvSpPr/>
          <p:nvPr/>
        </p:nvSpPr>
        <p:spPr>
          <a:xfrm>
            <a:off x="660400" y="2209800"/>
            <a:ext cx="2527300" cy="0"/>
          </a:xfrm>
          <a:prstGeom prst="line">
            <a:avLst/>
          </a:prstGeom>
          <a:noFill/>
          <a:ln w="12700">
            <a:solidFill>
              <a:srgbClr val="5B7083"/>
            </a:solidFill>
            <a:prstDash val="solid"/>
          </a:ln>
        </p:spPr>
        <p:txBody>
          <a:bodyPr/>
          <a:lstStyle/>
          <a:p>
            <a:endParaRPr lang="en-US"/>
          </a:p>
        </p:txBody>
      </p:sp>
      <p:sp>
        <p:nvSpPr>
          <p:cNvPr id="5" name="Text 2"/>
          <p:cNvSpPr/>
          <p:nvPr/>
        </p:nvSpPr>
        <p:spPr>
          <a:xfrm>
            <a:off x="660400" y="2330450"/>
            <a:ext cx="2603119" cy="299690"/>
          </a:xfrm>
          <a:prstGeom prst="rect">
            <a:avLst/>
          </a:prstGeom>
          <a:noFill/>
          <a:ln/>
        </p:spPr>
        <p:txBody>
          <a:bodyPr wrap="square" lIns="0" tIns="0" rIns="0" bIns="0" rtlCol="0" anchor="t">
            <a:normAutofit/>
          </a:bodyPr>
          <a:lstStyle/>
          <a:p>
            <a:pPr marL="0" indent="0" algn="l">
              <a:lnSpc>
                <a:spcPts val="2160"/>
              </a:lnSpc>
              <a:buNone/>
            </a:pPr>
            <a:r>
              <a:rPr lang="en-US" sz="1800" b="1">
                <a:solidFill>
                  <a:srgbClr val="1FB7F5"/>
                </a:solidFill>
                <a:latin typeface="Arial" pitchFamily="34" charset="0"/>
                <a:ea typeface="Arial" pitchFamily="34" charset="-122"/>
                <a:cs typeface="Arial" pitchFamily="34" charset="-120"/>
              </a:rPr>
              <a:t>Recomendación</a:t>
            </a:r>
            <a:endParaRPr lang="en-US" sz="1800"/>
          </a:p>
        </p:txBody>
      </p:sp>
      <p:sp>
        <p:nvSpPr>
          <p:cNvPr id="6" name="Text 3"/>
          <p:cNvSpPr/>
          <p:nvPr/>
        </p:nvSpPr>
        <p:spPr>
          <a:xfrm>
            <a:off x="660400" y="2693640"/>
            <a:ext cx="2603119" cy="1311275"/>
          </a:xfrm>
          <a:prstGeom prst="rect">
            <a:avLst/>
          </a:prstGeom>
          <a:noFill/>
          <a:ln/>
        </p:spPr>
        <p:txBody>
          <a:bodyPr wrap="square" lIns="0" tIns="0" rIns="0" bIns="0" rtlCol="0" anchor="t">
            <a:normAutofit/>
          </a:bodyPr>
          <a:lstStyle/>
          <a:p>
            <a:pPr marL="0" indent="0" algn="l">
              <a:lnSpc>
                <a:spcPts val="2025"/>
              </a:lnSpc>
              <a:buNone/>
            </a:pPr>
            <a:r>
              <a:rPr lang="en-US" sz="1500">
                <a:solidFill>
                  <a:srgbClr val="FFFFFF"/>
                </a:solidFill>
                <a:latin typeface="Arial" pitchFamily="34" charset="0"/>
                <a:ea typeface="Arial" pitchFamily="34" charset="-122"/>
                <a:cs typeface="Arial" pitchFamily="34" charset="-120"/>
              </a:rPr>
              <a:t>Dar el registro facilitado al 65% de los usuarios. Los celulares con Windows u otro sistema (35%) mantienen el formulario actual.</a:t>
            </a:r>
            <a:endParaRPr lang="en-US" sz="1500"/>
          </a:p>
        </p:txBody>
      </p:sp>
      <p:sp>
        <p:nvSpPr>
          <p:cNvPr id="7" name="Shape 4"/>
          <p:cNvSpPr/>
          <p:nvPr/>
        </p:nvSpPr>
        <p:spPr>
          <a:xfrm>
            <a:off x="3441700" y="2209800"/>
            <a:ext cx="2527300" cy="0"/>
          </a:xfrm>
          <a:prstGeom prst="line">
            <a:avLst/>
          </a:prstGeom>
          <a:noFill/>
          <a:ln w="12700">
            <a:solidFill>
              <a:srgbClr val="5B7083"/>
            </a:solidFill>
            <a:prstDash val="solid"/>
          </a:ln>
        </p:spPr>
        <p:txBody>
          <a:bodyPr/>
          <a:lstStyle/>
          <a:p>
            <a:endParaRPr lang="en-US"/>
          </a:p>
        </p:txBody>
      </p:sp>
      <p:sp>
        <p:nvSpPr>
          <p:cNvPr id="8" name="Text 5"/>
          <p:cNvSpPr/>
          <p:nvPr/>
        </p:nvSpPr>
        <p:spPr>
          <a:xfrm>
            <a:off x="3441700" y="2330450"/>
            <a:ext cx="2603119" cy="299690"/>
          </a:xfrm>
          <a:prstGeom prst="rect">
            <a:avLst/>
          </a:prstGeom>
          <a:noFill/>
          <a:ln/>
        </p:spPr>
        <p:txBody>
          <a:bodyPr wrap="square" lIns="0" tIns="0" rIns="0" bIns="0" rtlCol="0" anchor="t">
            <a:normAutofit/>
          </a:bodyPr>
          <a:lstStyle/>
          <a:p>
            <a:pPr marL="0" indent="0" algn="l">
              <a:lnSpc>
                <a:spcPts val="2160"/>
              </a:lnSpc>
              <a:buNone/>
            </a:pPr>
            <a:r>
              <a:rPr lang="en-US" sz="1800" b="1">
                <a:solidFill>
                  <a:srgbClr val="1FB7F5"/>
                </a:solidFill>
                <a:latin typeface="Arial" pitchFamily="34" charset="0"/>
                <a:ea typeface="Arial" pitchFamily="34" charset="-122"/>
                <a:cs typeface="Arial" pitchFamily="34" charset="-120"/>
              </a:rPr>
              <a:t>Hallazgo</a:t>
            </a:r>
            <a:endParaRPr lang="en-US" sz="1800"/>
          </a:p>
        </p:txBody>
      </p:sp>
      <p:sp>
        <p:nvSpPr>
          <p:cNvPr id="9" name="Text 6"/>
          <p:cNvSpPr/>
          <p:nvPr/>
        </p:nvSpPr>
        <p:spPr>
          <a:xfrm>
            <a:off x="3441700" y="2693640"/>
            <a:ext cx="2603119" cy="1311275"/>
          </a:xfrm>
          <a:prstGeom prst="rect">
            <a:avLst/>
          </a:prstGeom>
          <a:noFill/>
          <a:ln/>
        </p:spPr>
        <p:txBody>
          <a:bodyPr wrap="square" lIns="0" tIns="0" rIns="0" bIns="0" rtlCol="0" anchor="t">
            <a:normAutofit/>
          </a:bodyPr>
          <a:lstStyle/>
          <a:p>
            <a:pPr marL="0" indent="0" algn="l">
              <a:lnSpc>
                <a:spcPts val="2025"/>
              </a:lnSpc>
              <a:buNone/>
            </a:pPr>
            <a:r>
              <a:rPr lang="en-US" sz="1500">
                <a:solidFill>
                  <a:srgbClr val="FFFFFF"/>
                </a:solidFill>
                <a:latin typeface="Arial" pitchFamily="34" charset="0"/>
                <a:ea typeface="Arial" pitchFamily="34" charset="-122"/>
                <a:cs typeface="Arial" pitchFamily="34" charset="-120"/>
              </a:rPr>
              <a:t>El efecto promedio esconde efectos opuestos: de +45% en computador con osx a −22% en celular con Windows.</a:t>
            </a:r>
            <a:endParaRPr lang="en-US" sz="1500"/>
          </a:p>
        </p:txBody>
      </p:sp>
      <p:sp>
        <p:nvSpPr>
          <p:cNvPr id="10" name="Shape 7"/>
          <p:cNvSpPr/>
          <p:nvPr/>
        </p:nvSpPr>
        <p:spPr>
          <a:xfrm>
            <a:off x="6223000" y="2209800"/>
            <a:ext cx="2527300" cy="0"/>
          </a:xfrm>
          <a:prstGeom prst="line">
            <a:avLst/>
          </a:prstGeom>
          <a:noFill/>
          <a:ln w="12700">
            <a:solidFill>
              <a:srgbClr val="5B7083"/>
            </a:solidFill>
            <a:prstDash val="solid"/>
          </a:ln>
        </p:spPr>
        <p:txBody>
          <a:bodyPr/>
          <a:lstStyle/>
          <a:p>
            <a:endParaRPr lang="en-US"/>
          </a:p>
        </p:txBody>
      </p:sp>
      <p:sp>
        <p:nvSpPr>
          <p:cNvPr id="11" name="Text 8"/>
          <p:cNvSpPr/>
          <p:nvPr/>
        </p:nvSpPr>
        <p:spPr>
          <a:xfrm>
            <a:off x="6223000" y="2330450"/>
            <a:ext cx="2603119" cy="299690"/>
          </a:xfrm>
          <a:prstGeom prst="rect">
            <a:avLst/>
          </a:prstGeom>
          <a:noFill/>
          <a:ln/>
        </p:spPr>
        <p:txBody>
          <a:bodyPr wrap="square" lIns="0" tIns="0" rIns="0" bIns="0" rtlCol="0" anchor="t">
            <a:normAutofit/>
          </a:bodyPr>
          <a:lstStyle/>
          <a:p>
            <a:pPr marL="0" indent="0" algn="l">
              <a:lnSpc>
                <a:spcPts val="2160"/>
              </a:lnSpc>
              <a:buNone/>
            </a:pPr>
            <a:r>
              <a:rPr lang="en-US" sz="1800" b="1">
                <a:solidFill>
                  <a:srgbClr val="1FB7F5"/>
                </a:solidFill>
                <a:latin typeface="Arial" pitchFamily="34" charset="0"/>
                <a:ea typeface="Arial" pitchFamily="34" charset="-122"/>
                <a:cs typeface="Arial" pitchFamily="34" charset="-120"/>
              </a:rPr>
              <a:t>Evidencia</a:t>
            </a:r>
            <a:endParaRPr lang="en-US" sz="1800"/>
          </a:p>
        </p:txBody>
      </p:sp>
      <p:sp>
        <p:nvSpPr>
          <p:cNvPr id="12" name="Text 9"/>
          <p:cNvSpPr/>
          <p:nvPr/>
        </p:nvSpPr>
        <p:spPr>
          <a:xfrm>
            <a:off x="6223000" y="2693640"/>
            <a:ext cx="2603119" cy="1311275"/>
          </a:xfrm>
          <a:prstGeom prst="rect">
            <a:avLst/>
          </a:prstGeom>
          <a:noFill/>
          <a:ln/>
        </p:spPr>
        <p:txBody>
          <a:bodyPr wrap="square" lIns="0" tIns="0" rIns="0" bIns="0" rtlCol="0" anchor="t">
            <a:normAutofit/>
          </a:bodyPr>
          <a:lstStyle/>
          <a:p>
            <a:pPr marL="0" indent="0" algn="l">
              <a:lnSpc>
                <a:spcPts val="2025"/>
              </a:lnSpc>
              <a:buNone/>
            </a:pPr>
            <a:r>
              <a:rPr lang="en-US" sz="1500">
                <a:solidFill>
                  <a:srgbClr val="FFFFFF"/>
                </a:solidFill>
                <a:latin typeface="Arial" pitchFamily="34" charset="0"/>
                <a:ea typeface="Arial" pitchFamily="34" charset="-122"/>
                <a:cs typeface="Arial" pitchFamily="34" charset="-120"/>
              </a:rPr>
              <a:t>En la mitad del experimento que no eligió la regla, el gasto típico de la base sube +10.2%. Dárselo a todos lo sube +0.8%.</a:t>
            </a:r>
            <a:endParaRPr lang="en-US" sz="1500"/>
          </a:p>
        </p:txBody>
      </p:sp>
      <p:sp>
        <p:nvSpPr>
          <p:cNvPr id="13" name="Shape 10"/>
          <p:cNvSpPr/>
          <p:nvPr/>
        </p:nvSpPr>
        <p:spPr>
          <a:xfrm>
            <a:off x="9004300" y="2209800"/>
            <a:ext cx="2527300" cy="0"/>
          </a:xfrm>
          <a:prstGeom prst="line">
            <a:avLst/>
          </a:prstGeom>
          <a:noFill/>
          <a:ln w="12700">
            <a:solidFill>
              <a:srgbClr val="5B7083"/>
            </a:solidFill>
            <a:prstDash val="solid"/>
          </a:ln>
        </p:spPr>
        <p:txBody>
          <a:bodyPr/>
          <a:lstStyle/>
          <a:p>
            <a:endParaRPr lang="en-US"/>
          </a:p>
        </p:txBody>
      </p:sp>
      <p:sp>
        <p:nvSpPr>
          <p:cNvPr id="14" name="Text 11"/>
          <p:cNvSpPr/>
          <p:nvPr/>
        </p:nvSpPr>
        <p:spPr>
          <a:xfrm>
            <a:off x="9004300" y="2330450"/>
            <a:ext cx="2603119" cy="299690"/>
          </a:xfrm>
          <a:prstGeom prst="rect">
            <a:avLst/>
          </a:prstGeom>
          <a:noFill/>
          <a:ln/>
        </p:spPr>
        <p:txBody>
          <a:bodyPr wrap="square" lIns="0" tIns="0" rIns="0" bIns="0" rtlCol="0" anchor="t">
            <a:normAutofit/>
          </a:bodyPr>
          <a:lstStyle/>
          <a:p>
            <a:pPr marL="0" indent="0" algn="l">
              <a:lnSpc>
                <a:spcPts val="2160"/>
              </a:lnSpc>
              <a:buNone/>
            </a:pPr>
            <a:r>
              <a:rPr lang="en-US" sz="1800" b="1">
                <a:solidFill>
                  <a:srgbClr val="1FB7F5"/>
                </a:solidFill>
                <a:latin typeface="Arial" pitchFamily="34" charset="0"/>
                <a:ea typeface="Arial" pitchFamily="34" charset="-122"/>
                <a:cs typeface="Arial" pitchFamily="34" charset="-120"/>
              </a:rPr>
              <a:t>Por confirmar</a:t>
            </a:r>
            <a:endParaRPr lang="en-US" sz="1800"/>
          </a:p>
        </p:txBody>
      </p:sp>
      <p:sp>
        <p:nvSpPr>
          <p:cNvPr id="15" name="Text 12"/>
          <p:cNvSpPr/>
          <p:nvPr/>
        </p:nvSpPr>
        <p:spPr>
          <a:xfrm>
            <a:off x="9004300" y="2693640"/>
            <a:ext cx="2603119" cy="1311275"/>
          </a:xfrm>
          <a:prstGeom prst="rect">
            <a:avLst/>
          </a:prstGeom>
          <a:noFill/>
          <a:ln/>
        </p:spPr>
        <p:txBody>
          <a:bodyPr wrap="square" lIns="0" tIns="0" rIns="0" bIns="0" rtlCol="0" anchor="t">
            <a:normAutofit/>
          </a:bodyPr>
          <a:lstStyle/>
          <a:p>
            <a:pPr marL="0" indent="0" algn="l">
              <a:lnSpc>
                <a:spcPts val="2025"/>
              </a:lnSpc>
              <a:buNone/>
            </a:pPr>
            <a:r>
              <a:rPr lang="en-US" sz="1500">
                <a:solidFill>
                  <a:srgbClr val="FFFFFF"/>
                </a:solidFill>
                <a:latin typeface="Arial" pitchFamily="34" charset="0"/>
                <a:ea typeface="Arial" pitchFamily="34" charset="-122"/>
                <a:cs typeface="Arial" pitchFamily="34" charset="-120"/>
              </a:rPr>
              <a:t>Por qué baja el gasto en celulares no osx, el costo de formularios distintos y si el patrón se sostiene en otro periodo.</a:t>
            </a:r>
            <a:endParaRPr lang="en-US" sz="1500"/>
          </a:p>
        </p:txBody>
      </p:sp>
      <p:sp>
        <p:nvSpPr>
          <p:cNvPr id="16" name="Shape 13"/>
          <p:cNvSpPr/>
          <p:nvPr/>
        </p:nvSpPr>
        <p:spPr>
          <a:xfrm>
            <a:off x="666750" y="4239865"/>
            <a:ext cx="10858500" cy="1138535"/>
          </a:xfrm>
          <a:prstGeom prst="roundRect">
            <a:avLst>
              <a:gd name="adj" fmla="val 15059"/>
            </a:avLst>
          </a:prstGeom>
          <a:ln/>
        </p:spPr>
        <p:style>
          <a:lnRef idx="2">
            <a:schemeClr val="accent1"/>
          </a:lnRef>
          <a:fillRef idx="1">
            <a:schemeClr val="lt1"/>
          </a:fillRef>
          <a:effectRef idx="0">
            <a:schemeClr val="accent1"/>
          </a:effectRef>
          <a:fontRef idx="minor">
            <a:schemeClr val="dk1"/>
          </a:fontRef>
        </p:style>
        <p:txBody>
          <a:bodyPr/>
          <a:lstStyle/>
          <a:p>
            <a:endParaRPr lang="en-US"/>
          </a:p>
        </p:txBody>
      </p:sp>
      <p:sp>
        <p:nvSpPr>
          <p:cNvPr id="17" name="Text 14"/>
          <p:cNvSpPr/>
          <p:nvPr/>
        </p:nvSpPr>
        <p:spPr>
          <a:xfrm>
            <a:off x="788809" y="4480246"/>
            <a:ext cx="10639782" cy="736601"/>
          </a:xfrm>
          <a:prstGeom prst="rect">
            <a:avLst/>
          </a:prstGeom>
          <a:noFill/>
          <a:ln/>
        </p:spPr>
        <p:txBody>
          <a:bodyPr wrap="square" lIns="0" tIns="0" rIns="0" bIns="0" rtlCol="0" anchor="t">
            <a:normAutofit/>
          </a:bodyPr>
          <a:lstStyle/>
          <a:p>
            <a:pPr marL="0" indent="0" algn="ctr">
              <a:lnSpc>
                <a:spcPts val="2640"/>
              </a:lnSpc>
              <a:buNone/>
            </a:pPr>
            <a:r>
              <a:rPr lang="en-US" sz="2200" b="1" dirty="0" err="1">
                <a:solidFill>
                  <a:srgbClr val="051C2C"/>
                </a:solidFill>
              </a:rPr>
              <a:t>Escalar</a:t>
            </a:r>
            <a:r>
              <a:rPr lang="en-US" sz="2200" b="1" dirty="0">
                <a:solidFill>
                  <a:srgbClr val="051C2C"/>
                </a:solidFill>
              </a:rPr>
              <a:t> el </a:t>
            </a:r>
            <a:r>
              <a:rPr lang="en-US" sz="2200" b="1" dirty="0" err="1">
                <a:solidFill>
                  <a:srgbClr val="051C2C"/>
                </a:solidFill>
              </a:rPr>
              <a:t>registro</a:t>
            </a:r>
            <a:r>
              <a:rPr lang="en-US" sz="2200" b="1" dirty="0">
                <a:solidFill>
                  <a:srgbClr val="051C2C"/>
                </a:solidFill>
              </a:rPr>
              <a:t> </a:t>
            </a:r>
            <a:r>
              <a:rPr lang="en-US" sz="2200" b="1" dirty="0" err="1">
                <a:solidFill>
                  <a:srgbClr val="051C2C"/>
                </a:solidFill>
              </a:rPr>
              <a:t>facilitado</a:t>
            </a:r>
            <a:r>
              <a:rPr lang="en-US" sz="2200" b="1" dirty="0">
                <a:solidFill>
                  <a:srgbClr val="051C2C"/>
                </a:solidFill>
              </a:rPr>
              <a:t> </a:t>
            </a:r>
            <a:r>
              <a:rPr lang="en-US" sz="2200" b="1" dirty="0" err="1">
                <a:solidFill>
                  <a:srgbClr val="051C2C"/>
                </a:solidFill>
              </a:rPr>
              <a:t>según</a:t>
            </a:r>
            <a:r>
              <a:rPr lang="en-US" sz="2200" b="1" dirty="0">
                <a:solidFill>
                  <a:srgbClr val="051C2C"/>
                </a:solidFill>
              </a:rPr>
              <a:t> </a:t>
            </a:r>
            <a:r>
              <a:rPr lang="en-US" sz="2200" b="1" dirty="0" err="1">
                <a:solidFill>
                  <a:srgbClr val="051C2C"/>
                </a:solidFill>
              </a:rPr>
              <a:t>esta</a:t>
            </a:r>
            <a:r>
              <a:rPr lang="en-US" sz="2200" b="1" dirty="0">
                <a:solidFill>
                  <a:srgbClr val="051C2C"/>
                </a:solidFill>
              </a:rPr>
              <a:t> </a:t>
            </a:r>
            <a:r>
              <a:rPr lang="en-US" sz="2200" b="1" dirty="0" err="1">
                <a:solidFill>
                  <a:srgbClr val="051C2C"/>
                </a:solidFill>
              </a:rPr>
              <a:t>regla</a:t>
            </a:r>
            <a:r>
              <a:rPr lang="en-US" sz="2200" b="1" dirty="0">
                <a:solidFill>
                  <a:srgbClr val="051C2C"/>
                </a:solidFill>
              </a:rPr>
              <a:t> </a:t>
            </a:r>
            <a:r>
              <a:rPr lang="en-US" sz="2200" b="1" dirty="0" err="1">
                <a:solidFill>
                  <a:srgbClr val="051C2C"/>
                </a:solidFill>
              </a:rPr>
              <a:t>tendrá</a:t>
            </a:r>
            <a:r>
              <a:rPr lang="en-US" sz="2200" b="1" dirty="0">
                <a:solidFill>
                  <a:srgbClr val="051C2C"/>
                </a:solidFill>
              </a:rPr>
              <a:t> un </a:t>
            </a:r>
            <a:r>
              <a:rPr lang="en-US" sz="2200" b="1" dirty="0" err="1">
                <a:solidFill>
                  <a:srgbClr val="051C2C"/>
                </a:solidFill>
              </a:rPr>
              <a:t>aumento</a:t>
            </a:r>
            <a:r>
              <a:rPr lang="en-US" sz="2200" b="1" dirty="0">
                <a:solidFill>
                  <a:srgbClr val="051C2C"/>
                </a:solidFill>
              </a:rPr>
              <a:t> </a:t>
            </a:r>
            <a:r>
              <a:rPr lang="en-US" sz="2200" b="1" dirty="0" err="1">
                <a:solidFill>
                  <a:srgbClr val="051C2C"/>
                </a:solidFill>
              </a:rPr>
              <a:t>estimado</a:t>
            </a:r>
            <a:r>
              <a:rPr lang="en-US" sz="2200" b="1" dirty="0">
                <a:solidFill>
                  <a:srgbClr val="051C2C"/>
                </a:solidFill>
              </a:rPr>
              <a:t> del </a:t>
            </a:r>
            <a:r>
              <a:rPr lang="en-US" sz="2200" b="1" dirty="0" err="1">
                <a:solidFill>
                  <a:srgbClr val="051C2C"/>
                </a:solidFill>
              </a:rPr>
              <a:t>ingreso</a:t>
            </a:r>
            <a:r>
              <a:rPr lang="en-US" sz="2200" b="1" dirty="0">
                <a:solidFill>
                  <a:srgbClr val="051C2C"/>
                </a:solidFill>
              </a:rPr>
              <a:t> </a:t>
            </a:r>
            <a:r>
              <a:rPr lang="en-US" sz="2200" b="1" dirty="0" err="1">
                <a:solidFill>
                  <a:srgbClr val="051C2C"/>
                </a:solidFill>
              </a:rPr>
              <a:t>por</a:t>
            </a:r>
            <a:r>
              <a:rPr lang="en-US" sz="2200" b="1" dirty="0">
                <a:solidFill>
                  <a:srgbClr val="051C2C"/>
                </a:solidFill>
              </a:rPr>
              <a:t> </a:t>
            </a:r>
            <a:r>
              <a:rPr lang="en-US" sz="2200" b="1" dirty="0" err="1">
                <a:solidFill>
                  <a:srgbClr val="051C2C"/>
                </a:solidFill>
              </a:rPr>
              <a:t>usuario</a:t>
            </a:r>
            <a:r>
              <a:rPr lang="en-US" sz="2200" b="1" dirty="0">
                <a:solidFill>
                  <a:srgbClr val="051C2C"/>
                </a:solidFill>
              </a:rPr>
              <a:t> de 10.2% o 0.66 </a:t>
            </a:r>
            <a:r>
              <a:rPr lang="en-US" sz="2200" b="1" dirty="0" err="1">
                <a:solidFill>
                  <a:srgbClr val="051C2C"/>
                </a:solidFill>
              </a:rPr>
              <a:t>dólares</a:t>
            </a:r>
            <a:r>
              <a:rPr lang="en-US" sz="2200" b="1" dirty="0">
                <a:solidFill>
                  <a:srgbClr val="051C2C"/>
                </a:solidFill>
              </a:rPr>
              <a:t> </a:t>
            </a:r>
            <a:r>
              <a:rPr lang="en-US" sz="2200" b="1" dirty="0" err="1">
                <a:solidFill>
                  <a:srgbClr val="051C2C"/>
                </a:solidFill>
              </a:rPr>
              <a:t>en</a:t>
            </a:r>
            <a:r>
              <a:rPr lang="en-US" sz="2200" b="1" dirty="0">
                <a:solidFill>
                  <a:srgbClr val="051C2C"/>
                </a:solidFill>
              </a:rPr>
              <a:t> </a:t>
            </a:r>
            <a:r>
              <a:rPr lang="en-US" sz="2200" b="1" dirty="0" err="1">
                <a:solidFill>
                  <a:srgbClr val="051C2C"/>
                </a:solidFill>
              </a:rPr>
              <a:t>los</a:t>
            </a:r>
            <a:r>
              <a:rPr lang="en-US" sz="2200" b="1" dirty="0">
                <a:solidFill>
                  <a:srgbClr val="051C2C"/>
                </a:solidFill>
              </a:rPr>
              <a:t> </a:t>
            </a:r>
            <a:r>
              <a:rPr lang="en-US" sz="2200" b="1" dirty="0" err="1">
                <a:solidFill>
                  <a:srgbClr val="051C2C"/>
                </a:solidFill>
              </a:rPr>
              <a:t>usuarios</a:t>
            </a:r>
            <a:r>
              <a:rPr lang="en-US" sz="2200" b="1" dirty="0">
                <a:solidFill>
                  <a:srgbClr val="051C2C"/>
                </a:solidFill>
              </a:rPr>
              <a:t> </a:t>
            </a:r>
            <a:r>
              <a:rPr lang="en-US" sz="2200" b="1" dirty="0" err="1">
                <a:solidFill>
                  <a:srgbClr val="051C2C"/>
                </a:solidFill>
              </a:rPr>
              <a:t>objetivo</a:t>
            </a:r>
            <a:endParaRPr lang="en-US" sz="2200" b="1" dirty="0">
              <a:solidFill>
                <a:srgbClr val="051C2C"/>
              </a:solidFill>
            </a:endParaRPr>
          </a:p>
        </p:txBody>
      </p:sp>
      <p:sp>
        <p:nvSpPr>
          <p:cNvPr id="20" name="Text 17"/>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9DB2C2"/>
                </a:solidFill>
                <a:latin typeface="Arial" pitchFamily="34" charset="0"/>
                <a:ea typeface="Arial" pitchFamily="34" charset="-122"/>
                <a:cs typeface="Arial" pitchFamily="34" charset="-120"/>
              </a:rPr>
              <a:t>2</a:t>
            </a:r>
            <a:endParaRPr lang="en-US" sz="1200"/>
          </a:p>
        </p:txBody>
      </p:sp>
      <p:pic>
        <p:nvPicPr>
          <p:cNvPr id="22" name="Picture 21">
            <a:extLst>
              <a:ext uri="{FF2B5EF4-FFF2-40B4-BE49-F238E27FC236}">
                <a16:creationId xmlns:a16="http://schemas.microsoft.com/office/drawing/2014/main" id="{3907932E-F3A3-DE7A-00ED-D3ABA05B394A}"/>
              </a:ext>
            </a:extLst>
          </p:cNvPr>
          <p:cNvPicPr>
            <a:picLocks noChangeAspect="1"/>
          </p:cNvPicPr>
          <p:nvPr/>
        </p:nvPicPr>
        <p:blipFill>
          <a:blip r:embed="rId4"/>
          <a:stretch>
            <a:fillRect/>
          </a:stretch>
        </p:blipFill>
        <p:spPr>
          <a:xfrm>
            <a:off x="9726385" y="1224643"/>
            <a:ext cx="1083129" cy="1006929"/>
          </a:xfrm>
          <a:prstGeom prst="rect">
            <a:avLst/>
          </a:prstGeom>
        </p:spPr>
      </p:pic>
      <p:pic>
        <p:nvPicPr>
          <p:cNvPr id="23" name="Picture 22">
            <a:extLst>
              <a:ext uri="{FF2B5EF4-FFF2-40B4-BE49-F238E27FC236}">
                <a16:creationId xmlns:a16="http://schemas.microsoft.com/office/drawing/2014/main" id="{6BA18E6B-6243-748A-26D9-8F490C6F603E}"/>
              </a:ext>
            </a:extLst>
          </p:cNvPr>
          <p:cNvPicPr>
            <a:picLocks noChangeAspect="1"/>
          </p:cNvPicPr>
          <p:nvPr/>
        </p:nvPicPr>
        <p:blipFill>
          <a:blip r:embed="rId5"/>
          <a:srcRect l="3683" t="-5357" r="-3683" b="5357"/>
          <a:stretch>
            <a:fillRect/>
          </a:stretch>
        </p:blipFill>
        <p:spPr>
          <a:xfrm>
            <a:off x="7004956" y="1121230"/>
            <a:ext cx="1039591" cy="1050476"/>
          </a:xfrm>
          <a:prstGeom prst="rect">
            <a:avLst/>
          </a:prstGeom>
        </p:spPr>
      </p:pic>
      <p:pic>
        <p:nvPicPr>
          <p:cNvPr id="25" name="Picture 24">
            <a:extLst>
              <a:ext uri="{FF2B5EF4-FFF2-40B4-BE49-F238E27FC236}">
                <a16:creationId xmlns:a16="http://schemas.microsoft.com/office/drawing/2014/main" id="{BFB8C731-725B-049B-F3FC-2CF43B190F0D}"/>
              </a:ext>
            </a:extLst>
          </p:cNvPr>
          <p:cNvPicPr>
            <a:picLocks noChangeAspect="1"/>
          </p:cNvPicPr>
          <p:nvPr/>
        </p:nvPicPr>
        <p:blipFill>
          <a:blip r:embed="rId6"/>
          <a:stretch>
            <a:fillRect/>
          </a:stretch>
        </p:blipFill>
        <p:spPr>
          <a:xfrm>
            <a:off x="1398814" y="1202871"/>
            <a:ext cx="1050472" cy="1028701"/>
          </a:xfrm>
          <a:prstGeom prst="rect">
            <a:avLst/>
          </a:prstGeom>
        </p:spPr>
      </p:pic>
      <p:pic>
        <p:nvPicPr>
          <p:cNvPr id="27" name="Picture 26">
            <a:extLst>
              <a:ext uri="{FF2B5EF4-FFF2-40B4-BE49-F238E27FC236}">
                <a16:creationId xmlns:a16="http://schemas.microsoft.com/office/drawing/2014/main" id="{26AAD4A3-002A-8B4E-45A3-ADFC8E05AD7E}"/>
              </a:ext>
            </a:extLst>
          </p:cNvPr>
          <p:cNvPicPr>
            <a:picLocks noChangeAspect="1"/>
          </p:cNvPicPr>
          <p:nvPr/>
        </p:nvPicPr>
        <p:blipFill>
          <a:blip r:embed="rId7"/>
          <a:stretch>
            <a:fillRect/>
          </a:stretch>
        </p:blipFill>
        <p:spPr>
          <a:xfrm>
            <a:off x="4033157" y="1121229"/>
            <a:ext cx="1094015" cy="1170215"/>
          </a:xfrm>
          <a:prstGeom prst="rect">
            <a:avLst/>
          </a:prstGeom>
        </p:spPr>
      </p:pic>
      <p:pic>
        <p:nvPicPr>
          <p:cNvPr id="29" name="Picture 28">
            <a:extLst>
              <a:ext uri="{FF2B5EF4-FFF2-40B4-BE49-F238E27FC236}">
                <a16:creationId xmlns:a16="http://schemas.microsoft.com/office/drawing/2014/main" id="{1F45843B-D4C3-801B-4AC3-D042D6433F26}"/>
              </a:ext>
            </a:extLst>
          </p:cNvPr>
          <p:cNvPicPr>
            <a:picLocks noChangeAspect="1"/>
          </p:cNvPicPr>
          <p:nvPr/>
        </p:nvPicPr>
        <p:blipFill>
          <a:blip r:embed="rId8"/>
          <a:stretch>
            <a:fillRect/>
          </a:stretch>
        </p:blipFill>
        <p:spPr>
          <a:xfrm>
            <a:off x="4664240" y="5595186"/>
            <a:ext cx="2860896" cy="832294"/>
          </a:xfrm>
          <a:prstGeom prst="rect">
            <a:avLst/>
          </a:prstGeom>
        </p:spPr>
      </p:pic>
    </p:spTree>
    <p:extLst>
      <p:ext uri="{BB962C8B-B14F-4D97-AF65-F5344CB8AC3E}">
        <p14:creationId xmlns:p14="http://schemas.microsoft.com/office/powerpoint/2010/main" val="30728917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78023"/>
            <a:ext cx="11197336" cy="764977"/>
          </a:xfrm>
          <a:prstGeom prst="rect">
            <a:avLst/>
          </a:prstGeom>
          <a:noFill/>
          <a:ln/>
        </p:spPr>
        <p:txBody>
          <a:bodyPr wrap="square" lIns="0" tIns="0" rIns="0" bIns="0" rtlCol="0" anchor="t">
            <a:normAutofit/>
          </a:bodyPr>
          <a:lstStyle/>
          <a:p>
            <a:pPr marL="0" indent="0" algn="l">
              <a:lnSpc>
                <a:spcPts val="2912"/>
              </a:lnSpc>
              <a:buNone/>
            </a:pPr>
            <a:r>
              <a:rPr lang="en-US" sz="2600" b="1" i="0">
                <a:solidFill>
                  <a:srgbClr val="051C2C"/>
                </a:solidFill>
                <a:latin typeface="Georgia" pitchFamily="18" charset="0"/>
                <a:ea typeface="Georgia" pitchFamily="18" charset="-122"/>
                <a:cs typeface="Georgia" pitchFamily="18" charset="-120"/>
              </a:rPr>
              <a:t>Cambiamos la escala del gasto y el método, y atribuimos cada diferencia con el encargo 1</a:t>
            </a:r>
            <a:endParaRPr lang="en-US" sz="260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Punto de partida y estimando</a:t>
            </a:r>
            <a:endParaRPr lang="en-US" sz="1400"/>
          </a:p>
        </p:txBody>
      </p:sp>
      <p:sp>
        <p:nvSpPr>
          <p:cNvPr id="6" name="Text 3"/>
          <p:cNvSpPr/>
          <p:nvPr/>
        </p:nvSpPr>
        <p:spPr>
          <a:xfrm>
            <a:off x="927100" y="1931640"/>
            <a:ext cx="5166995" cy="299690"/>
          </a:xfrm>
          <a:prstGeom prst="rect">
            <a:avLst/>
          </a:prstGeom>
          <a:noFill/>
          <a:ln/>
        </p:spPr>
        <p:txBody>
          <a:bodyPr wrap="square" lIns="0" tIns="0" rIns="0" bIns="0" rtlCol="0" anchor="t">
            <a:normAutofit/>
          </a:bodyPr>
          <a:lstStyle/>
          <a:p>
            <a:pPr marL="0" indent="0" algn="ctr">
              <a:lnSpc>
                <a:spcPts val="2160"/>
              </a:lnSpc>
              <a:buNone/>
            </a:pPr>
            <a:r>
              <a:rPr lang="en-US" sz="1800" b="1">
                <a:solidFill>
                  <a:srgbClr val="051C2C"/>
                </a:solidFill>
                <a:latin typeface="Arial" pitchFamily="34" charset="0"/>
                <a:ea typeface="Arial" pitchFamily="34" charset="-122"/>
                <a:cs typeface="Arial" pitchFamily="34" charset="-120"/>
              </a:rPr>
              <a:t>Lo que sabíamos (encargo 1)</a:t>
            </a:r>
            <a:endParaRPr lang="en-US" sz="1800"/>
          </a:p>
        </p:txBody>
      </p:sp>
      <p:sp>
        <p:nvSpPr>
          <p:cNvPr id="7" name="Text 4"/>
          <p:cNvSpPr/>
          <p:nvPr/>
        </p:nvSpPr>
        <p:spPr>
          <a:xfrm>
            <a:off x="927100" y="2317408"/>
            <a:ext cx="5166995" cy="1033638"/>
          </a:xfrm>
          <a:prstGeom prst="rect">
            <a:avLst/>
          </a:prstGeom>
          <a:noFill/>
          <a:ln/>
        </p:spPr>
        <p:txBody>
          <a:bodyPr wrap="square" lIns="0" tIns="0" rIns="0" bIns="0" rtlCol="0" anchor="t">
            <a:normAutofit/>
          </a:bodyPr>
          <a:lstStyle/>
          <a:p>
            <a:pPr algn="ctr">
              <a:lnSpc>
                <a:spcPts val="2025"/>
              </a:lnSpc>
            </a:pPr>
            <a:r>
              <a:rPr lang="en-US" sz="1500" b="1" err="1">
                <a:solidFill>
                  <a:srgbClr val="1B1B1B"/>
                </a:solidFill>
                <a:latin typeface="Arial"/>
                <a:ea typeface="Arial" pitchFamily="34" charset="-122"/>
                <a:cs typeface="Arial"/>
              </a:rPr>
              <a:t>Predicción</a:t>
            </a:r>
            <a:r>
              <a:rPr lang="en-US" sz="1500" b="1">
                <a:solidFill>
                  <a:srgbClr val="1B1B1B"/>
                </a:solidFill>
                <a:latin typeface="Arial"/>
                <a:ea typeface="Arial" pitchFamily="34" charset="-122"/>
                <a:cs typeface="Arial"/>
              </a:rPr>
              <a:t>:</a:t>
            </a:r>
            <a:r>
              <a:rPr lang="en-US" sz="1500">
                <a:solidFill>
                  <a:srgbClr val="1B1B1B"/>
                </a:solidFill>
                <a:latin typeface="Arial"/>
                <a:ea typeface="Arial" pitchFamily="34" charset="-122"/>
                <a:cs typeface="Arial"/>
              </a:rPr>
              <a:t> </a:t>
            </a:r>
            <a:endParaRPr lang="en-US" sz="1500">
              <a:solidFill>
                <a:srgbClr val="051C2C"/>
              </a:solidFill>
              <a:latin typeface="Arial"/>
              <a:ea typeface="Arial" pitchFamily="34" charset="-122"/>
              <a:cs typeface="Arial"/>
            </a:endParaRPr>
          </a:p>
          <a:p>
            <a:pPr marL="0" indent="0" algn="ctr">
              <a:lnSpc>
                <a:spcPts val="2025"/>
              </a:lnSpc>
              <a:buNone/>
            </a:pPr>
            <a:r>
              <a:rPr lang="en-US" sz="1500">
                <a:solidFill>
                  <a:srgbClr val="1B1B1B"/>
                </a:solidFill>
                <a:latin typeface="Arial"/>
                <a:ea typeface="Arial" pitchFamily="34" charset="-122"/>
                <a:cs typeface="Arial"/>
              </a:rPr>
              <a:t>La </a:t>
            </a:r>
            <a:r>
              <a:rPr lang="en-US" sz="1500" err="1">
                <a:solidFill>
                  <a:srgbClr val="1B1B1B"/>
                </a:solidFill>
                <a:latin typeface="Arial"/>
                <a:ea typeface="Arial" pitchFamily="34" charset="-122"/>
                <a:cs typeface="Arial"/>
              </a:rPr>
              <a:t>regresión</a:t>
            </a:r>
            <a:r>
              <a:rPr lang="en-US" sz="1500">
                <a:solidFill>
                  <a:srgbClr val="1B1B1B"/>
                </a:solidFill>
                <a:latin typeface="Arial"/>
                <a:ea typeface="Arial" pitchFamily="34" charset="-122"/>
                <a:cs typeface="Arial"/>
              </a:rPr>
              <a:t> lineal reduce el error 14.8% </a:t>
            </a:r>
            <a:r>
              <a:rPr lang="en-US" sz="1500" err="1">
                <a:solidFill>
                  <a:srgbClr val="1B1B1B"/>
                </a:solidFill>
                <a:latin typeface="Arial"/>
                <a:ea typeface="Arial" pitchFamily="34" charset="-122"/>
                <a:cs typeface="Arial"/>
              </a:rPr>
              <a:t>frente</a:t>
            </a:r>
            <a:r>
              <a:rPr lang="en-US" sz="1500">
                <a:solidFill>
                  <a:srgbClr val="1B1B1B"/>
                </a:solidFill>
                <a:latin typeface="Arial"/>
                <a:ea typeface="Arial" pitchFamily="34" charset="-122"/>
                <a:cs typeface="Arial"/>
              </a:rPr>
              <a:t> al </a:t>
            </a:r>
            <a:r>
              <a:rPr lang="en-US" sz="1500" err="1">
                <a:solidFill>
                  <a:srgbClr val="1B1B1B"/>
                </a:solidFill>
                <a:latin typeface="Arial"/>
                <a:ea typeface="Arial" pitchFamily="34" charset="-122"/>
                <a:cs typeface="Arial"/>
              </a:rPr>
              <a:t>promedio</a:t>
            </a:r>
            <a:r>
              <a:rPr lang="en-US" sz="1500">
                <a:solidFill>
                  <a:srgbClr val="1B1B1B"/>
                </a:solidFill>
                <a:latin typeface="Arial"/>
                <a:ea typeface="Arial" pitchFamily="34" charset="-122"/>
                <a:cs typeface="Arial"/>
              </a:rPr>
              <a:t>: RMSE de 2.31 contra 2.72 </a:t>
            </a:r>
            <a:r>
              <a:rPr lang="en-US" sz="1500" err="1">
                <a:solidFill>
                  <a:srgbClr val="1B1B1B"/>
                </a:solidFill>
                <a:latin typeface="Arial"/>
                <a:ea typeface="Arial" pitchFamily="34" charset="-122"/>
                <a:cs typeface="Arial"/>
              </a:rPr>
              <a:t>dólares</a:t>
            </a:r>
            <a:r>
              <a:rPr lang="en-US" sz="1500">
                <a:solidFill>
                  <a:srgbClr val="1B1B1B"/>
                </a:solidFill>
                <a:latin typeface="Arial"/>
                <a:ea typeface="Arial" pitchFamily="34" charset="-122"/>
                <a:cs typeface="Arial"/>
              </a:rPr>
              <a:t>.</a:t>
            </a:r>
            <a:endParaRPr lang="en-US" sz="1500">
              <a:latin typeface="Arial"/>
              <a:cs typeface="Arial"/>
            </a:endParaRPr>
          </a:p>
        </p:txBody>
      </p:sp>
      <p:sp>
        <p:nvSpPr>
          <p:cNvPr id="8" name="Text 5"/>
          <p:cNvSpPr/>
          <p:nvPr/>
        </p:nvSpPr>
        <p:spPr>
          <a:xfrm>
            <a:off x="927100" y="3804013"/>
            <a:ext cx="5166995" cy="991306"/>
          </a:xfrm>
          <a:prstGeom prst="rect">
            <a:avLst/>
          </a:prstGeom>
          <a:noFill/>
          <a:ln/>
        </p:spPr>
        <p:txBody>
          <a:bodyPr wrap="square" lIns="0" tIns="0" rIns="0" bIns="0" rtlCol="0" anchor="t">
            <a:normAutofit/>
          </a:bodyPr>
          <a:lstStyle/>
          <a:p>
            <a:pPr algn="ctr">
              <a:lnSpc>
                <a:spcPts val="2025"/>
              </a:lnSpc>
            </a:pPr>
            <a:r>
              <a:rPr lang="en-US" sz="1500" b="1" err="1">
                <a:solidFill>
                  <a:srgbClr val="1B1B1B"/>
                </a:solidFill>
                <a:latin typeface="Arial"/>
                <a:ea typeface="Arial" pitchFamily="34" charset="-122"/>
                <a:cs typeface="Arial"/>
              </a:rPr>
              <a:t>Efecto</a:t>
            </a:r>
            <a:r>
              <a:rPr lang="en-US" sz="1500" b="1">
                <a:solidFill>
                  <a:srgbClr val="1B1B1B"/>
                </a:solidFill>
                <a:latin typeface="Arial"/>
                <a:ea typeface="Arial" pitchFamily="34" charset="-122"/>
                <a:cs typeface="Arial"/>
              </a:rPr>
              <a:t> causal:</a:t>
            </a:r>
            <a:r>
              <a:rPr lang="en-US" sz="1500">
                <a:solidFill>
                  <a:srgbClr val="1B1B1B"/>
                </a:solidFill>
                <a:latin typeface="Arial"/>
                <a:ea typeface="Arial" pitchFamily="34" charset="-122"/>
                <a:cs typeface="Arial"/>
              </a:rPr>
              <a:t> </a:t>
            </a:r>
            <a:endParaRPr lang="en-US" sz="1500">
              <a:solidFill>
                <a:srgbClr val="051C2C"/>
              </a:solidFill>
              <a:latin typeface="Arial"/>
              <a:ea typeface="Arial" pitchFamily="34" charset="-122"/>
              <a:cs typeface="Arial"/>
            </a:endParaRPr>
          </a:p>
          <a:p>
            <a:pPr marL="0" indent="0" algn="ctr">
              <a:lnSpc>
                <a:spcPts val="2025"/>
              </a:lnSpc>
              <a:buNone/>
            </a:pPr>
            <a:r>
              <a:rPr lang="en-US" sz="1500">
                <a:solidFill>
                  <a:srgbClr val="1B1B1B"/>
                </a:solidFill>
                <a:latin typeface="Arial"/>
                <a:ea typeface="Arial" pitchFamily="34" charset="-122"/>
                <a:cs typeface="Arial"/>
              </a:rPr>
              <a:t>+0.49 </a:t>
            </a:r>
            <a:r>
              <a:rPr lang="en-US" sz="1500" err="1">
                <a:solidFill>
                  <a:srgbClr val="1B1B1B"/>
                </a:solidFill>
                <a:latin typeface="Arial"/>
                <a:ea typeface="Arial" pitchFamily="34" charset="-122"/>
                <a:cs typeface="Arial"/>
              </a:rPr>
              <a:t>dólares</a:t>
            </a:r>
            <a:r>
              <a:rPr lang="en-US" sz="1500">
                <a:solidFill>
                  <a:srgbClr val="1B1B1B"/>
                </a:solidFill>
                <a:latin typeface="Arial"/>
                <a:ea typeface="Arial" pitchFamily="34" charset="-122"/>
                <a:cs typeface="Arial"/>
              </a:rPr>
              <a:t> </a:t>
            </a:r>
            <a:r>
              <a:rPr lang="en-US" sz="1500" err="1">
                <a:solidFill>
                  <a:srgbClr val="1B1B1B"/>
                </a:solidFill>
                <a:latin typeface="Arial"/>
                <a:ea typeface="Arial" pitchFamily="34" charset="-122"/>
                <a:cs typeface="Arial"/>
              </a:rPr>
              <a:t>por</a:t>
            </a:r>
            <a:r>
              <a:rPr lang="en-US" sz="1500">
                <a:solidFill>
                  <a:srgbClr val="1B1B1B"/>
                </a:solidFill>
                <a:latin typeface="Arial"/>
                <a:ea typeface="Arial" pitchFamily="34" charset="-122"/>
                <a:cs typeface="Arial"/>
              </a:rPr>
              <a:t> </a:t>
            </a:r>
            <a:r>
              <a:rPr lang="en-US" sz="1500" err="1">
                <a:solidFill>
                  <a:srgbClr val="1B1B1B"/>
                </a:solidFill>
                <a:latin typeface="Arial"/>
                <a:ea typeface="Arial" pitchFamily="34" charset="-122"/>
                <a:cs typeface="Arial"/>
              </a:rPr>
              <a:t>usuario</a:t>
            </a:r>
            <a:r>
              <a:rPr lang="en-US" sz="1500">
                <a:solidFill>
                  <a:srgbClr val="1B1B1B"/>
                </a:solidFill>
                <a:latin typeface="Arial"/>
                <a:ea typeface="Arial" pitchFamily="34" charset="-122"/>
                <a:cs typeface="Arial"/>
              </a:rPr>
              <a:t> </a:t>
            </a:r>
            <a:r>
              <a:rPr lang="en-US" sz="1500" err="1">
                <a:solidFill>
                  <a:srgbClr val="1B1B1B"/>
                </a:solidFill>
                <a:latin typeface="Arial"/>
                <a:ea typeface="Arial" pitchFamily="34" charset="-122"/>
                <a:cs typeface="Arial"/>
              </a:rPr>
              <a:t>en</a:t>
            </a:r>
            <a:r>
              <a:rPr lang="en-US" sz="1500">
                <a:solidFill>
                  <a:srgbClr val="1B1B1B"/>
                </a:solidFill>
                <a:latin typeface="Arial"/>
                <a:ea typeface="Arial" pitchFamily="34" charset="-122"/>
                <a:cs typeface="Arial"/>
              </a:rPr>
              <a:t> </a:t>
            </a:r>
            <a:r>
              <a:rPr lang="en-US" sz="1500" err="1">
                <a:solidFill>
                  <a:srgbClr val="1B1B1B"/>
                </a:solidFill>
                <a:latin typeface="Arial"/>
                <a:ea typeface="Arial" pitchFamily="34" charset="-122"/>
                <a:cs typeface="Arial"/>
              </a:rPr>
              <a:t>promedio</a:t>
            </a:r>
            <a:r>
              <a:rPr lang="en-US" sz="1500">
                <a:solidFill>
                  <a:srgbClr val="1B1B1B"/>
                </a:solidFill>
                <a:latin typeface="Arial"/>
                <a:ea typeface="Arial" pitchFamily="34" charset="-122"/>
                <a:cs typeface="Arial"/>
              </a:rPr>
              <a:t>, </a:t>
            </a:r>
            <a:r>
              <a:rPr lang="en-US" sz="1500" err="1">
                <a:solidFill>
                  <a:srgbClr val="1B1B1B"/>
                </a:solidFill>
                <a:latin typeface="Arial"/>
                <a:ea typeface="Arial" pitchFamily="34" charset="-122"/>
                <a:cs typeface="Arial"/>
              </a:rPr>
              <a:t>pero</a:t>
            </a:r>
            <a:r>
              <a:rPr lang="en-US" sz="1500">
                <a:solidFill>
                  <a:srgbClr val="1B1B1B"/>
                </a:solidFill>
                <a:latin typeface="Arial"/>
                <a:ea typeface="Arial" pitchFamily="34" charset="-122"/>
                <a:cs typeface="Arial"/>
              </a:rPr>
              <a:t> +1.3% </a:t>
            </a:r>
            <a:r>
              <a:rPr lang="en-US" sz="1500" err="1">
                <a:solidFill>
                  <a:srgbClr val="1B1B1B"/>
                </a:solidFill>
                <a:latin typeface="Arial"/>
                <a:ea typeface="Arial" pitchFamily="34" charset="-122"/>
                <a:cs typeface="Arial"/>
              </a:rPr>
              <a:t>en</a:t>
            </a:r>
            <a:r>
              <a:rPr lang="en-US" sz="1500">
                <a:solidFill>
                  <a:srgbClr val="1B1B1B"/>
                </a:solidFill>
                <a:latin typeface="Arial"/>
                <a:ea typeface="Arial" pitchFamily="34" charset="-122"/>
                <a:cs typeface="Arial"/>
              </a:rPr>
              <a:t> </a:t>
            </a:r>
            <a:r>
              <a:rPr lang="en-US" sz="1500" err="1">
                <a:solidFill>
                  <a:srgbClr val="1B1B1B"/>
                </a:solidFill>
                <a:latin typeface="Arial"/>
                <a:ea typeface="Arial" pitchFamily="34" charset="-122"/>
                <a:cs typeface="Arial"/>
              </a:rPr>
              <a:t>logaritmo</a:t>
            </a:r>
            <a:r>
              <a:rPr lang="en-US" sz="1500">
                <a:solidFill>
                  <a:srgbClr val="1B1B1B"/>
                </a:solidFill>
                <a:latin typeface="Arial"/>
                <a:ea typeface="Arial" pitchFamily="34" charset="-122"/>
                <a:cs typeface="Arial"/>
              </a:rPr>
              <a:t>, sin </a:t>
            </a:r>
            <a:r>
              <a:rPr lang="en-US" sz="1500" err="1">
                <a:solidFill>
                  <a:srgbClr val="1B1B1B"/>
                </a:solidFill>
                <a:latin typeface="Arial"/>
                <a:ea typeface="Arial" pitchFamily="34" charset="-122"/>
                <a:cs typeface="Arial"/>
              </a:rPr>
              <a:t>distinguirse</a:t>
            </a:r>
            <a:r>
              <a:rPr lang="en-US" sz="1500">
                <a:solidFill>
                  <a:srgbClr val="1B1B1B"/>
                </a:solidFill>
                <a:latin typeface="Arial"/>
                <a:ea typeface="Arial" pitchFamily="34" charset="-122"/>
                <a:cs typeface="Arial"/>
              </a:rPr>
              <a:t> de cero.</a:t>
            </a:r>
            <a:endParaRPr lang="en-US" sz="1500">
              <a:latin typeface="Arial"/>
              <a:cs typeface="Arial"/>
            </a:endParaRPr>
          </a:p>
        </p:txBody>
      </p:sp>
      <p:sp>
        <p:nvSpPr>
          <p:cNvPr id="9" name="Text 6"/>
          <p:cNvSpPr/>
          <p:nvPr/>
        </p:nvSpPr>
        <p:spPr>
          <a:xfrm>
            <a:off x="927100" y="5389397"/>
            <a:ext cx="5166995" cy="539750"/>
          </a:xfrm>
          <a:prstGeom prst="rect">
            <a:avLst/>
          </a:prstGeom>
          <a:noFill/>
          <a:ln/>
        </p:spPr>
        <p:txBody>
          <a:bodyPr wrap="square" lIns="0" tIns="0" rIns="0" bIns="0" rtlCol="0" anchor="t">
            <a:normAutofit/>
          </a:bodyPr>
          <a:lstStyle/>
          <a:p>
            <a:pPr algn="ctr">
              <a:lnSpc>
                <a:spcPts val="2025"/>
              </a:lnSpc>
            </a:pPr>
            <a:r>
              <a:rPr lang="en-US" sz="1500" b="1" err="1">
                <a:solidFill>
                  <a:srgbClr val="1B1B1B"/>
                </a:solidFill>
                <a:latin typeface="Arial"/>
                <a:ea typeface="Arial" pitchFamily="34" charset="-122"/>
                <a:cs typeface="Arial"/>
              </a:rPr>
              <a:t>Recomendación</a:t>
            </a:r>
            <a:r>
              <a:rPr lang="en-US" sz="1500" b="1">
                <a:solidFill>
                  <a:srgbClr val="1B1B1B"/>
                </a:solidFill>
                <a:latin typeface="Arial"/>
                <a:ea typeface="Arial" pitchFamily="34" charset="-122"/>
                <a:cs typeface="Arial"/>
              </a:rPr>
              <a:t>:</a:t>
            </a:r>
          </a:p>
          <a:p>
            <a:pPr marL="0" indent="0" algn="ctr">
              <a:lnSpc>
                <a:spcPts val="2025"/>
              </a:lnSpc>
              <a:buNone/>
            </a:pPr>
            <a:r>
              <a:rPr lang="en-US" sz="1500">
                <a:solidFill>
                  <a:srgbClr val="1B1B1B"/>
                </a:solidFill>
                <a:latin typeface="Arial"/>
                <a:ea typeface="Arial" pitchFamily="34" charset="-122"/>
                <a:cs typeface="Arial"/>
              </a:rPr>
              <a:t>No escalar todavía y esperar más evidencia.</a:t>
            </a:r>
            <a:endParaRPr lang="en-US" sz="1500">
              <a:latin typeface="Arial"/>
              <a:cs typeface="Arial"/>
            </a:endParaRPr>
          </a:p>
        </p:txBody>
      </p:sp>
      <p:sp>
        <p:nvSpPr>
          <p:cNvPr id="10" name="Shape 7"/>
          <p:cNvSpPr/>
          <p:nvPr/>
        </p:nvSpPr>
        <p:spPr>
          <a:xfrm>
            <a:off x="6515100" y="1690340"/>
            <a:ext cx="5016500" cy="2349351"/>
          </a:xfrm>
          <a:prstGeom prst="roundRect">
            <a:avLst>
              <a:gd name="adj" fmla="val 7568"/>
            </a:avLst>
          </a:prstGeom>
          <a:solidFill>
            <a:srgbClr val="082033"/>
          </a:solidFill>
          <a:ln/>
        </p:spPr>
        <p:txBody>
          <a:bodyPr/>
          <a:lstStyle/>
          <a:p>
            <a:endParaRPr lang="en-US"/>
          </a:p>
        </p:txBody>
      </p:sp>
      <p:sp>
        <p:nvSpPr>
          <p:cNvPr id="11" name="Text 8"/>
          <p:cNvSpPr/>
          <p:nvPr/>
        </p:nvSpPr>
        <p:spPr>
          <a:xfrm>
            <a:off x="6769100" y="1780395"/>
            <a:ext cx="4643755" cy="299690"/>
          </a:xfrm>
          <a:prstGeom prst="rect">
            <a:avLst/>
          </a:prstGeom>
          <a:noFill/>
          <a:ln/>
        </p:spPr>
        <p:txBody>
          <a:bodyPr wrap="square" lIns="0" tIns="0" rIns="0" bIns="0" rtlCol="0" anchor="t">
            <a:normAutofit/>
          </a:bodyPr>
          <a:lstStyle/>
          <a:p>
            <a:pPr marL="0" indent="0" algn="l">
              <a:lnSpc>
                <a:spcPts val="2160"/>
              </a:lnSpc>
              <a:buNone/>
            </a:pPr>
            <a:r>
              <a:rPr lang="en-US" sz="1800" b="1">
                <a:solidFill>
                  <a:srgbClr val="1FB7F5"/>
                </a:solidFill>
                <a:latin typeface="Georgia"/>
                <a:ea typeface="Arial" pitchFamily="34" charset="-122"/>
                <a:cs typeface="Arial" pitchFamily="34" charset="-120"/>
              </a:rPr>
              <a:t>Un estimando por parte</a:t>
            </a:r>
            <a:endParaRPr lang="en-US" sz="1800">
              <a:latin typeface="Georgia"/>
            </a:endParaRPr>
          </a:p>
        </p:txBody>
      </p:sp>
      <p:sp>
        <p:nvSpPr>
          <p:cNvPr id="12" name="Text 9"/>
          <p:cNvSpPr/>
          <p:nvPr/>
        </p:nvSpPr>
        <p:spPr>
          <a:xfrm>
            <a:off x="6769099" y="2114656"/>
            <a:ext cx="4643755" cy="505420"/>
          </a:xfrm>
          <a:prstGeom prst="rect">
            <a:avLst/>
          </a:prstGeom>
          <a:noFill/>
          <a:ln/>
        </p:spPr>
        <p:txBody>
          <a:bodyPr wrap="square" lIns="0" tIns="0" rIns="0" bIns="0" rtlCol="0" anchor="t">
            <a:normAutofit/>
          </a:bodyPr>
          <a:lstStyle/>
          <a:p>
            <a:pPr>
              <a:lnSpc>
                <a:spcPts val="1890"/>
              </a:lnSpc>
            </a:pPr>
            <a:r>
              <a:rPr lang="en-US" sz="1400" b="1" dirty="0" err="1">
                <a:solidFill>
                  <a:srgbClr val="FFFFFF"/>
                </a:solidFill>
                <a:latin typeface="Arial"/>
                <a:ea typeface="Arial" pitchFamily="34" charset="-122"/>
                <a:cs typeface="Arial"/>
              </a:rPr>
              <a:t>Parte</a:t>
            </a:r>
            <a:r>
              <a:rPr lang="en-US" sz="1400" b="1" dirty="0">
                <a:solidFill>
                  <a:srgbClr val="FFFFFF"/>
                </a:solidFill>
                <a:latin typeface="Arial"/>
                <a:ea typeface="Arial" pitchFamily="34" charset="-122"/>
                <a:cs typeface="Arial"/>
              </a:rPr>
              <a:t> A. </a:t>
            </a:r>
            <a:endParaRPr lang="en-US" sz="1400" b="1" dirty="0">
              <a:solidFill>
                <a:srgbClr val="051C2C"/>
              </a:solidFill>
              <a:latin typeface="Arial"/>
              <a:ea typeface="Arial" pitchFamily="34" charset="-122"/>
              <a:cs typeface="Arial"/>
            </a:endParaRPr>
          </a:p>
          <a:p>
            <a:pPr marL="0" indent="0" algn="l">
              <a:lnSpc>
                <a:spcPts val="1889"/>
              </a:lnSpc>
              <a:buNone/>
            </a:pPr>
            <a:r>
              <a:rPr lang="en-US" sz="1400" dirty="0" err="1">
                <a:solidFill>
                  <a:srgbClr val="FFFFFF"/>
                </a:solidFill>
                <a:latin typeface="Arial"/>
                <a:ea typeface="Arial" pitchFamily="34" charset="-122"/>
                <a:cs typeface="Arial"/>
              </a:rPr>
              <a:t>Predecir</a:t>
            </a:r>
            <a:r>
              <a:rPr lang="en-US" sz="1400" dirty="0">
                <a:solidFill>
                  <a:srgbClr val="FFFFFF"/>
                </a:solidFill>
                <a:latin typeface="Arial"/>
                <a:ea typeface="Arial" pitchFamily="34" charset="-122"/>
                <a:cs typeface="Arial"/>
              </a:rPr>
              <a:t> ln(Revenue). No hay </a:t>
            </a:r>
            <a:r>
              <a:rPr lang="en-US" sz="1400" dirty="0" err="1">
                <a:solidFill>
                  <a:srgbClr val="FFFFFF"/>
                </a:solidFill>
                <a:latin typeface="Arial"/>
                <a:ea typeface="Arial" pitchFamily="34" charset="-122"/>
                <a:cs typeface="Arial"/>
              </a:rPr>
              <a:t>parámetro</a:t>
            </a:r>
            <a:r>
              <a:rPr lang="en-US" sz="1400" dirty="0">
                <a:solidFill>
                  <a:srgbClr val="FFFFFF"/>
                </a:solidFill>
                <a:latin typeface="Arial"/>
                <a:ea typeface="Arial" pitchFamily="34" charset="-122"/>
                <a:cs typeface="Arial"/>
              </a:rPr>
              <a:t> causal.</a:t>
            </a:r>
            <a:endParaRPr lang="en-US" sz="1400" dirty="0">
              <a:latin typeface="Arial"/>
              <a:cs typeface="Arial"/>
            </a:endParaRPr>
          </a:p>
        </p:txBody>
      </p:sp>
      <p:sp>
        <p:nvSpPr>
          <p:cNvPr id="13" name="Text 10"/>
          <p:cNvSpPr/>
          <p:nvPr/>
        </p:nvSpPr>
        <p:spPr>
          <a:xfrm>
            <a:off x="6701472" y="2839193"/>
            <a:ext cx="4643755" cy="985441"/>
          </a:xfrm>
          <a:prstGeom prst="rect">
            <a:avLst/>
          </a:prstGeom>
          <a:noFill/>
          <a:ln/>
        </p:spPr>
        <p:txBody>
          <a:bodyPr wrap="square" lIns="0" tIns="0" rIns="0" bIns="0" rtlCol="0" anchor="t">
            <a:normAutofit/>
          </a:bodyPr>
          <a:lstStyle/>
          <a:p>
            <a:pPr algn="r">
              <a:lnSpc>
                <a:spcPts val="1890"/>
              </a:lnSpc>
            </a:pPr>
            <a:r>
              <a:rPr lang="en-US" sz="1400" b="1" dirty="0" err="1">
                <a:solidFill>
                  <a:srgbClr val="FFFFFF"/>
                </a:solidFill>
                <a:latin typeface="Arial"/>
                <a:ea typeface="Arial" pitchFamily="34" charset="-122"/>
                <a:cs typeface="Arial"/>
              </a:rPr>
              <a:t>Parte</a:t>
            </a:r>
            <a:r>
              <a:rPr lang="en-US" sz="1400" b="1" dirty="0">
                <a:solidFill>
                  <a:srgbClr val="FFFFFF"/>
                </a:solidFill>
                <a:latin typeface="Arial"/>
                <a:ea typeface="Arial" pitchFamily="34" charset="-122"/>
                <a:cs typeface="Arial"/>
              </a:rPr>
              <a:t> B. </a:t>
            </a:r>
            <a:endParaRPr lang="en-US" sz="1400" b="1" dirty="0">
              <a:solidFill>
                <a:srgbClr val="051C2C"/>
              </a:solidFill>
              <a:latin typeface="Arial"/>
              <a:ea typeface="Arial" pitchFamily="34" charset="-122"/>
              <a:cs typeface="Arial"/>
            </a:endParaRPr>
          </a:p>
          <a:p>
            <a:pPr marL="0" indent="0" algn="r">
              <a:lnSpc>
                <a:spcPts val="1889"/>
              </a:lnSpc>
              <a:buNone/>
            </a:pPr>
            <a:r>
              <a:rPr lang="en-US" sz="1400" dirty="0" err="1">
                <a:solidFill>
                  <a:srgbClr val="FFFFFF"/>
                </a:solidFill>
                <a:latin typeface="Arial"/>
                <a:ea typeface="Arial" pitchFamily="34" charset="-122"/>
                <a:cs typeface="Arial"/>
              </a:rPr>
              <a:t>Efecto</a:t>
            </a:r>
            <a:r>
              <a:rPr lang="en-US" sz="1400" dirty="0">
                <a:solidFill>
                  <a:srgbClr val="FFFFFF"/>
                </a:solidFill>
                <a:latin typeface="Arial"/>
                <a:ea typeface="Arial" pitchFamily="34" charset="-122"/>
                <a:cs typeface="Arial"/>
              </a:rPr>
              <a:t> causal de </a:t>
            </a:r>
            <a:r>
              <a:rPr lang="en-US" sz="1400" dirty="0" err="1">
                <a:solidFill>
                  <a:srgbClr val="FFFFFF"/>
                </a:solidFill>
                <a:latin typeface="Arial"/>
                <a:ea typeface="Arial" pitchFamily="34" charset="-122"/>
                <a:cs typeface="Arial"/>
              </a:rPr>
              <a:t>facilitar</a:t>
            </a:r>
            <a:r>
              <a:rPr lang="en-US" sz="1400" dirty="0">
                <a:solidFill>
                  <a:srgbClr val="FFFFFF"/>
                </a:solidFill>
                <a:latin typeface="Arial"/>
                <a:ea typeface="Arial" pitchFamily="34" charset="-122"/>
                <a:cs typeface="Arial"/>
              </a:rPr>
              <a:t> el </a:t>
            </a:r>
            <a:r>
              <a:rPr lang="en-US" sz="1400" dirty="0" err="1">
                <a:solidFill>
                  <a:srgbClr val="FFFFFF"/>
                </a:solidFill>
                <a:latin typeface="Arial"/>
                <a:ea typeface="Arial" pitchFamily="34" charset="-122"/>
                <a:cs typeface="Arial"/>
              </a:rPr>
              <a:t>registro</a:t>
            </a:r>
            <a:r>
              <a:rPr lang="en-US" sz="1400" dirty="0">
                <a:solidFill>
                  <a:srgbClr val="FFFFFF"/>
                </a:solidFill>
                <a:latin typeface="Arial"/>
                <a:ea typeface="Arial" pitchFamily="34" charset="-122"/>
                <a:cs typeface="Arial"/>
              </a:rPr>
              <a:t> </a:t>
            </a:r>
            <a:r>
              <a:rPr lang="en-US" sz="1400" dirty="0" err="1">
                <a:solidFill>
                  <a:srgbClr val="FFFFFF"/>
                </a:solidFill>
                <a:latin typeface="Arial"/>
                <a:ea typeface="Arial" pitchFamily="34" charset="-122"/>
                <a:cs typeface="Arial"/>
              </a:rPr>
              <a:t>sobre</a:t>
            </a:r>
            <a:r>
              <a:rPr lang="en-US" sz="1400" dirty="0">
                <a:solidFill>
                  <a:srgbClr val="FFFFFF"/>
                </a:solidFill>
                <a:latin typeface="Arial"/>
                <a:ea typeface="Arial" pitchFamily="34" charset="-122"/>
                <a:cs typeface="Arial"/>
              </a:rPr>
              <a:t> ln(Revenue), </a:t>
            </a:r>
            <a:r>
              <a:rPr lang="en-US" sz="1400" dirty="0" err="1">
                <a:solidFill>
                  <a:srgbClr val="FFFFFF"/>
                </a:solidFill>
                <a:latin typeface="Arial"/>
                <a:ea typeface="Arial" pitchFamily="34" charset="-122"/>
                <a:cs typeface="Arial"/>
              </a:rPr>
              <a:t>leído</a:t>
            </a:r>
            <a:r>
              <a:rPr lang="en-US" sz="1400" dirty="0">
                <a:solidFill>
                  <a:srgbClr val="FFFFFF"/>
                </a:solidFill>
                <a:latin typeface="Arial"/>
                <a:ea typeface="Arial" pitchFamily="34" charset="-122"/>
                <a:cs typeface="Arial"/>
              </a:rPr>
              <a:t> </a:t>
            </a:r>
            <a:r>
              <a:rPr lang="en-US" sz="1400" dirty="0" err="1">
                <a:solidFill>
                  <a:srgbClr val="FFFFFF"/>
                </a:solidFill>
                <a:latin typeface="Arial"/>
                <a:ea typeface="Arial" pitchFamily="34" charset="-122"/>
                <a:cs typeface="Arial"/>
              </a:rPr>
              <a:t>como</a:t>
            </a:r>
            <a:r>
              <a:rPr lang="en-US" sz="1400" dirty="0">
                <a:solidFill>
                  <a:srgbClr val="FFFFFF"/>
                </a:solidFill>
                <a:latin typeface="Arial"/>
                <a:ea typeface="Arial" pitchFamily="34" charset="-122"/>
                <a:cs typeface="Arial"/>
              </a:rPr>
              <a:t> </a:t>
            </a:r>
            <a:r>
              <a:rPr lang="en-US" sz="1400" dirty="0" err="1">
                <a:solidFill>
                  <a:srgbClr val="FFFFFF"/>
                </a:solidFill>
                <a:latin typeface="Arial"/>
                <a:ea typeface="Arial" pitchFamily="34" charset="-122"/>
                <a:cs typeface="Arial"/>
              </a:rPr>
              <a:t>cambio</a:t>
            </a:r>
            <a:r>
              <a:rPr lang="en-US" sz="1400" dirty="0">
                <a:solidFill>
                  <a:srgbClr val="FFFFFF"/>
                </a:solidFill>
                <a:latin typeface="Arial"/>
                <a:ea typeface="Arial" pitchFamily="34" charset="-122"/>
                <a:cs typeface="Arial"/>
              </a:rPr>
              <a:t> % del </a:t>
            </a:r>
            <a:r>
              <a:rPr lang="en-US" sz="1400" dirty="0" err="1">
                <a:solidFill>
                  <a:srgbClr val="FFFFFF"/>
                </a:solidFill>
                <a:latin typeface="Arial"/>
                <a:ea typeface="Arial" pitchFamily="34" charset="-122"/>
                <a:cs typeface="Arial"/>
              </a:rPr>
              <a:t>gasto</a:t>
            </a:r>
            <a:r>
              <a:rPr lang="en-US" sz="1400" dirty="0">
                <a:solidFill>
                  <a:srgbClr val="FFFFFF"/>
                </a:solidFill>
                <a:latin typeface="Arial"/>
                <a:ea typeface="Arial" pitchFamily="34" charset="-122"/>
                <a:cs typeface="Arial"/>
              </a:rPr>
              <a:t> del </a:t>
            </a:r>
            <a:r>
              <a:rPr lang="en-US" sz="1400" dirty="0" err="1">
                <a:solidFill>
                  <a:srgbClr val="FFFFFF"/>
                </a:solidFill>
                <a:latin typeface="Arial"/>
                <a:ea typeface="Arial" pitchFamily="34" charset="-122"/>
                <a:cs typeface="Arial"/>
              </a:rPr>
              <a:t>usuario</a:t>
            </a:r>
            <a:r>
              <a:rPr lang="en-US" sz="1400" dirty="0">
                <a:solidFill>
                  <a:srgbClr val="FFFFFF"/>
                </a:solidFill>
                <a:latin typeface="Arial"/>
                <a:ea typeface="Arial" pitchFamily="34" charset="-122"/>
                <a:cs typeface="Arial"/>
              </a:rPr>
              <a:t> </a:t>
            </a:r>
            <a:r>
              <a:rPr lang="en-US" sz="1400" dirty="0" err="1">
                <a:solidFill>
                  <a:srgbClr val="FFFFFF"/>
                </a:solidFill>
                <a:latin typeface="Arial"/>
                <a:ea typeface="Arial" pitchFamily="34" charset="-122"/>
                <a:cs typeface="Arial"/>
              </a:rPr>
              <a:t>típico</a:t>
            </a:r>
            <a:r>
              <a:rPr lang="en-US" sz="1400" dirty="0">
                <a:solidFill>
                  <a:srgbClr val="FFFFFF"/>
                </a:solidFill>
                <a:latin typeface="Arial"/>
                <a:ea typeface="Arial" pitchFamily="34" charset="-122"/>
                <a:cs typeface="Arial"/>
              </a:rPr>
              <a:t>. Los </a:t>
            </a:r>
            <a:r>
              <a:rPr lang="en-US" sz="1400" dirty="0" err="1">
                <a:solidFill>
                  <a:srgbClr val="FFFFFF"/>
                </a:solidFill>
                <a:latin typeface="Arial"/>
                <a:ea typeface="Arial" pitchFamily="34" charset="-122"/>
                <a:cs typeface="Arial"/>
              </a:rPr>
              <a:t>dólares</a:t>
            </a:r>
            <a:r>
              <a:rPr lang="en-US" sz="1400" dirty="0">
                <a:solidFill>
                  <a:srgbClr val="FFFFFF"/>
                </a:solidFill>
                <a:latin typeface="Arial"/>
                <a:ea typeface="Arial" pitchFamily="34" charset="-122"/>
                <a:cs typeface="Arial"/>
              </a:rPr>
              <a:t> </a:t>
            </a:r>
            <a:r>
              <a:rPr lang="en-US" sz="1400" dirty="0" err="1">
                <a:solidFill>
                  <a:srgbClr val="FFFFFF"/>
                </a:solidFill>
                <a:latin typeface="Arial"/>
                <a:ea typeface="Arial" pitchFamily="34" charset="-122"/>
                <a:cs typeface="Arial"/>
              </a:rPr>
              <a:t>por</a:t>
            </a:r>
            <a:r>
              <a:rPr lang="en-US" sz="1400" dirty="0">
                <a:solidFill>
                  <a:srgbClr val="FFFFFF"/>
                </a:solidFill>
                <a:latin typeface="Arial"/>
                <a:ea typeface="Arial" pitchFamily="34" charset="-122"/>
                <a:cs typeface="Arial"/>
              </a:rPr>
              <a:t> </a:t>
            </a:r>
            <a:r>
              <a:rPr lang="en-US" sz="1400" dirty="0" err="1">
                <a:solidFill>
                  <a:srgbClr val="FFFFFF"/>
                </a:solidFill>
                <a:latin typeface="Arial"/>
                <a:ea typeface="Arial" pitchFamily="34" charset="-122"/>
                <a:cs typeface="Arial"/>
              </a:rPr>
              <a:t>usuario</a:t>
            </a:r>
            <a:r>
              <a:rPr lang="en-US" sz="1400" dirty="0">
                <a:solidFill>
                  <a:srgbClr val="FFFFFF"/>
                </a:solidFill>
                <a:latin typeface="Arial"/>
                <a:ea typeface="Arial" pitchFamily="34" charset="-122"/>
                <a:cs typeface="Arial"/>
              </a:rPr>
              <a:t> son un </a:t>
            </a:r>
            <a:r>
              <a:rPr lang="en-US" sz="1400" dirty="0" err="1">
                <a:solidFill>
                  <a:srgbClr val="FFFFFF"/>
                </a:solidFill>
                <a:latin typeface="Arial"/>
                <a:ea typeface="Arial" pitchFamily="34" charset="-122"/>
                <a:cs typeface="Arial"/>
              </a:rPr>
              <a:t>complemento</a:t>
            </a:r>
            <a:r>
              <a:rPr lang="en-US" sz="1400" dirty="0">
                <a:solidFill>
                  <a:srgbClr val="FFFFFF"/>
                </a:solidFill>
                <a:latin typeface="Arial"/>
                <a:ea typeface="Arial" pitchFamily="34" charset="-122"/>
                <a:cs typeface="Arial"/>
              </a:rPr>
              <a:t> </a:t>
            </a:r>
            <a:r>
              <a:rPr lang="en-US" sz="1400" dirty="0" err="1">
                <a:solidFill>
                  <a:srgbClr val="FFFFFF"/>
                </a:solidFill>
                <a:latin typeface="Arial"/>
                <a:ea typeface="Arial" pitchFamily="34" charset="-122"/>
                <a:cs typeface="Arial"/>
              </a:rPr>
              <a:t>etiquetado</a:t>
            </a:r>
            <a:r>
              <a:rPr lang="en-US" sz="1400" dirty="0">
                <a:solidFill>
                  <a:srgbClr val="FFFFFF"/>
                </a:solidFill>
                <a:latin typeface="Arial"/>
                <a:ea typeface="Arial" pitchFamily="34" charset="-122"/>
                <a:cs typeface="Arial"/>
              </a:rPr>
              <a:t>.</a:t>
            </a:r>
            <a:endParaRPr lang="en-US" sz="1400" dirty="0">
              <a:latin typeface="Arial"/>
              <a:cs typeface="Arial"/>
            </a:endParaRPr>
          </a:p>
        </p:txBody>
      </p:sp>
      <p:graphicFrame>
        <p:nvGraphicFramePr>
          <p:cNvPr id="14" name="Table 0"/>
          <p:cNvGraphicFramePr>
            <a:graphicFrameLocks noGrp="1"/>
          </p:cNvGraphicFramePr>
          <p:nvPr/>
        </p:nvGraphicFramePr>
        <p:xfrm>
          <a:off x="6527800" y="4808747"/>
          <a:ext cx="5003800" cy="1158033"/>
        </p:xfrm>
        <a:graphic>
          <a:graphicData uri="http://schemas.openxmlformats.org/drawingml/2006/table">
            <a:tbl>
              <a:tblPr>
                <a:tableStyleId>{8799B23B-EC83-4686-B30A-512413B5E67A}</a:tableStyleId>
              </a:tblPr>
              <a:tblGrid>
                <a:gridCol w="1100836">
                  <a:extLst>
                    <a:ext uri="{9D8B030D-6E8A-4147-A177-3AD203B41FA5}">
                      <a16:colId xmlns:a16="http://schemas.microsoft.com/office/drawing/2014/main" val="20000"/>
                    </a:ext>
                  </a:extLst>
                </a:gridCol>
                <a:gridCol w="1951482">
                  <a:extLst>
                    <a:ext uri="{9D8B030D-6E8A-4147-A177-3AD203B41FA5}">
                      <a16:colId xmlns:a16="http://schemas.microsoft.com/office/drawing/2014/main" val="20001"/>
                    </a:ext>
                  </a:extLst>
                </a:gridCol>
                <a:gridCol w="1951482">
                  <a:extLst>
                    <a:ext uri="{9D8B030D-6E8A-4147-A177-3AD203B41FA5}">
                      <a16:colId xmlns:a16="http://schemas.microsoft.com/office/drawing/2014/main" val="20002"/>
                    </a:ext>
                  </a:extLst>
                </a:gridCol>
              </a:tblGrid>
              <a:tr h="386011">
                <a:tc>
                  <a:txBody>
                    <a:bodyPr/>
                    <a:lstStyle/>
                    <a:p>
                      <a:pPr marL="0" indent="0">
                        <a:lnSpc>
                          <a:spcPts val="1960"/>
                        </a:lnSpc>
                        <a:buNone/>
                      </a:pPr>
                      <a:endParaRPr lang="en-US" sz="1400"/>
                    </a:p>
                  </a:txBody>
                  <a:tcPr marL="62230" marR="62230" marT="62230" marB="62230"/>
                </a:tc>
                <a:tc>
                  <a:txBody>
                    <a:bodyPr/>
                    <a:lstStyle/>
                    <a:p>
                      <a:pPr marL="0" indent="0">
                        <a:lnSpc>
                          <a:spcPts val="1960"/>
                        </a:lnSpc>
                        <a:buNone/>
                      </a:pPr>
                      <a:r>
                        <a:rPr lang="en-US" sz="1400" b="1" i="0">
                          <a:solidFill>
                            <a:srgbClr val="051C2C"/>
                          </a:solidFill>
                          <a:latin typeface="Georgia"/>
                        </a:rPr>
                        <a:t>Revenue </a:t>
                      </a:r>
                      <a:r>
                        <a:rPr lang="en-US" sz="1400" b="1" i="0" err="1">
                          <a:solidFill>
                            <a:srgbClr val="051C2C"/>
                          </a:solidFill>
                          <a:latin typeface="Georgia"/>
                        </a:rPr>
                        <a:t>en</a:t>
                      </a:r>
                      <a:r>
                        <a:rPr lang="en-US" sz="1400" b="1" i="0">
                          <a:solidFill>
                            <a:srgbClr val="051C2C"/>
                          </a:solidFill>
                          <a:latin typeface="Georgia"/>
                        </a:rPr>
                        <a:t> </a:t>
                      </a:r>
                      <a:r>
                        <a:rPr lang="en-US" sz="1400" b="1" i="0" err="1">
                          <a:solidFill>
                            <a:srgbClr val="051C2C"/>
                          </a:solidFill>
                          <a:latin typeface="Georgia"/>
                        </a:rPr>
                        <a:t>dólares</a:t>
                      </a:r>
                      <a:endParaRPr lang="en-US" sz="1400" b="1" i="0">
                        <a:latin typeface="Georgia"/>
                      </a:endParaRPr>
                    </a:p>
                  </a:txBody>
                  <a:tcPr marL="62230" marR="62230" marT="62230" marB="62230"/>
                </a:tc>
                <a:tc>
                  <a:txBody>
                    <a:bodyPr/>
                    <a:lstStyle/>
                    <a:p>
                      <a:pPr marL="0" indent="0">
                        <a:lnSpc>
                          <a:spcPts val="1960"/>
                        </a:lnSpc>
                        <a:buNone/>
                      </a:pPr>
                      <a:r>
                        <a:rPr lang="en-US" sz="1400" b="1" i="0">
                          <a:solidFill>
                            <a:srgbClr val="051C2C"/>
                          </a:solidFill>
                          <a:latin typeface="Georgia"/>
                        </a:rPr>
                        <a:t>ln(Revenue)</a:t>
                      </a:r>
                      <a:endParaRPr lang="en-US" sz="1400" b="1" i="0">
                        <a:latin typeface="Georgia"/>
                      </a:endParaRPr>
                    </a:p>
                  </a:txBody>
                  <a:tcPr marL="62230" marR="62230" marT="62230" marB="62230"/>
                </a:tc>
                <a:extLst>
                  <a:ext uri="{0D108BD9-81ED-4DB2-BD59-A6C34878D82A}">
                    <a16:rowId xmlns:a16="http://schemas.microsoft.com/office/drawing/2014/main" val="10000"/>
                  </a:ext>
                </a:extLst>
              </a:tr>
              <a:tr h="386011">
                <a:tc>
                  <a:txBody>
                    <a:bodyPr/>
                    <a:lstStyle/>
                    <a:p>
                      <a:pPr marL="0" indent="0">
                        <a:lnSpc>
                          <a:spcPts val="1960"/>
                        </a:lnSpc>
                        <a:buNone/>
                      </a:pPr>
                      <a:r>
                        <a:rPr lang="en-US" sz="1400" b="1" i="0">
                          <a:solidFill>
                            <a:srgbClr val="051C2C"/>
                          </a:solidFill>
                          <a:latin typeface="Georgia"/>
                        </a:rPr>
                        <a:t>Lineal</a:t>
                      </a:r>
                      <a:endParaRPr lang="en-US" sz="1400" b="1" i="0">
                        <a:latin typeface="Georgia"/>
                      </a:endParaRPr>
                    </a:p>
                  </a:txBody>
                  <a:tcPr marL="62230" marR="62230" marT="62230" marB="62230"/>
                </a:tc>
                <a:tc>
                  <a:txBody>
                    <a:bodyPr/>
                    <a:lstStyle/>
                    <a:p>
                      <a:pPr marL="0" indent="0">
                        <a:lnSpc>
                          <a:spcPts val="1960"/>
                        </a:lnSpc>
                        <a:buNone/>
                      </a:pPr>
                      <a:r>
                        <a:rPr lang="en-US" sz="1400" err="1">
                          <a:solidFill>
                            <a:srgbClr val="051C2C"/>
                          </a:solidFill>
                        </a:rPr>
                        <a:t>Encargo</a:t>
                      </a:r>
                      <a:r>
                        <a:rPr lang="en-US" sz="1400">
                          <a:solidFill>
                            <a:srgbClr val="051C2C"/>
                          </a:solidFill>
                        </a:rPr>
                        <a:t> 1</a:t>
                      </a:r>
                      <a:endParaRPr lang="en-US" sz="1400"/>
                    </a:p>
                  </a:txBody>
                  <a:tcPr marL="62230" marR="62230" marT="62230" marB="62230"/>
                </a:tc>
                <a:tc>
                  <a:txBody>
                    <a:bodyPr/>
                    <a:lstStyle/>
                    <a:p>
                      <a:pPr marL="0" indent="0">
                        <a:lnSpc>
                          <a:spcPts val="1960"/>
                        </a:lnSpc>
                        <a:buNone/>
                      </a:pPr>
                      <a:r>
                        <a:rPr lang="en-US" sz="1400">
                          <a:solidFill>
                            <a:srgbClr val="051C2C"/>
                          </a:solidFill>
                        </a:rPr>
                        <a:t>Cambia la </a:t>
                      </a:r>
                      <a:r>
                        <a:rPr lang="en-US" sz="1400" err="1">
                          <a:solidFill>
                            <a:srgbClr val="051C2C"/>
                          </a:solidFill>
                        </a:rPr>
                        <a:t>escala</a:t>
                      </a:r>
                      <a:endParaRPr lang="en-US" sz="1400" err="1"/>
                    </a:p>
                  </a:txBody>
                  <a:tcPr marL="62230" marR="62230" marT="62230" marB="62230"/>
                </a:tc>
                <a:extLst>
                  <a:ext uri="{0D108BD9-81ED-4DB2-BD59-A6C34878D82A}">
                    <a16:rowId xmlns:a16="http://schemas.microsoft.com/office/drawing/2014/main" val="10001"/>
                  </a:ext>
                </a:extLst>
              </a:tr>
              <a:tr h="386011">
                <a:tc>
                  <a:txBody>
                    <a:bodyPr/>
                    <a:lstStyle/>
                    <a:p>
                      <a:pPr marL="0" indent="0">
                        <a:lnSpc>
                          <a:spcPts val="1960"/>
                        </a:lnSpc>
                        <a:buNone/>
                      </a:pPr>
                      <a:r>
                        <a:rPr lang="en-US" sz="1400" b="1" i="0" err="1">
                          <a:solidFill>
                            <a:srgbClr val="051C2C"/>
                          </a:solidFill>
                          <a:latin typeface="Georgia"/>
                        </a:rPr>
                        <a:t>Árboles</a:t>
                      </a:r>
                      <a:endParaRPr lang="en-US" sz="1400" b="1" i="0">
                        <a:latin typeface="Georgia"/>
                      </a:endParaRPr>
                    </a:p>
                  </a:txBody>
                  <a:tcPr marL="62230" marR="62230" marT="62230" marB="62230"/>
                </a:tc>
                <a:tc>
                  <a:txBody>
                    <a:bodyPr/>
                    <a:lstStyle/>
                    <a:p>
                      <a:pPr marL="0" indent="0">
                        <a:lnSpc>
                          <a:spcPts val="1960"/>
                        </a:lnSpc>
                        <a:buNone/>
                      </a:pPr>
                      <a:r>
                        <a:rPr lang="en-US" sz="1400">
                          <a:solidFill>
                            <a:srgbClr val="051C2C"/>
                          </a:solidFill>
                        </a:rPr>
                        <a:t>Cambia el </a:t>
                      </a:r>
                      <a:r>
                        <a:rPr lang="en-US" sz="1400" err="1">
                          <a:solidFill>
                            <a:srgbClr val="051C2C"/>
                          </a:solidFill>
                        </a:rPr>
                        <a:t>método</a:t>
                      </a:r>
                      <a:endParaRPr lang="en-US" sz="1400" err="1"/>
                    </a:p>
                  </a:txBody>
                  <a:tcPr marL="62230" marR="62230" marT="62230" marB="62230"/>
                </a:tc>
                <a:tc>
                  <a:txBody>
                    <a:bodyPr/>
                    <a:lstStyle/>
                    <a:p>
                      <a:pPr marL="0" indent="0">
                        <a:lnSpc>
                          <a:spcPts val="1960"/>
                        </a:lnSpc>
                        <a:buNone/>
                      </a:pPr>
                      <a:r>
                        <a:rPr lang="en-US" sz="1400" err="1">
                          <a:solidFill>
                            <a:srgbClr val="051C2C"/>
                          </a:solidFill>
                        </a:rPr>
                        <a:t>Cambian</a:t>
                      </a:r>
                      <a:r>
                        <a:rPr lang="en-US" sz="1400">
                          <a:solidFill>
                            <a:srgbClr val="051C2C"/>
                          </a:solidFill>
                        </a:rPr>
                        <a:t> ambos</a:t>
                      </a:r>
                      <a:endParaRPr lang="en-US" sz="1400"/>
                    </a:p>
                  </a:txBody>
                  <a:tcPr marL="62230" marR="62230" marT="62230" marB="62230"/>
                </a:tc>
                <a:extLst>
                  <a:ext uri="{0D108BD9-81ED-4DB2-BD59-A6C34878D82A}">
                    <a16:rowId xmlns:a16="http://schemas.microsoft.com/office/drawing/2014/main" val="10002"/>
                  </a:ext>
                </a:extLst>
              </a:tr>
            </a:tbl>
          </a:graphicData>
        </a:graphic>
      </p:graphicFrame>
      <p:sp>
        <p:nvSpPr>
          <p:cNvPr id="16" name="Text 12"/>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3</a:t>
            </a:r>
            <a:endParaRPr lang="en-US" sz="1200"/>
          </a:p>
        </p:txBody>
      </p:sp>
    </p:spTree>
    <p:extLst>
      <p:ext uri="{BB962C8B-B14F-4D97-AF65-F5344CB8AC3E}">
        <p14:creationId xmlns:p14="http://schemas.microsoft.com/office/powerpoint/2010/main" val="21382953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78023"/>
            <a:ext cx="11197336" cy="764977"/>
          </a:xfrm>
          <a:prstGeom prst="rect">
            <a:avLst/>
          </a:prstGeom>
          <a:noFill/>
          <a:ln/>
        </p:spPr>
        <p:txBody>
          <a:bodyPr wrap="square" lIns="0" tIns="0" rIns="0" bIns="0" rtlCol="0" anchor="t">
            <a:normAutofit/>
          </a:bodyPr>
          <a:lstStyle/>
          <a:p>
            <a:pPr marL="0" indent="0" algn="l">
              <a:lnSpc>
                <a:spcPts val="2912"/>
              </a:lnSpc>
              <a:buNone/>
            </a:pPr>
            <a:r>
              <a:rPr lang="en-US" sz="2600" b="1" i="0">
                <a:solidFill>
                  <a:srgbClr val="051C2C"/>
                </a:solidFill>
                <a:latin typeface="Georgia" pitchFamily="18" charset="0"/>
                <a:ea typeface="Georgia" pitchFamily="18" charset="-122"/>
                <a:cs typeface="Georgia" pitchFamily="18" charset="-120"/>
              </a:rPr>
              <a:t>El experimento es válido y representativo, y sus supuestos son explícitos</a:t>
            </a:r>
            <a:endParaRPr lang="en-US" sz="260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Experimento A/B (n = 10,000) · Validez interna y externa · Causal</a:t>
            </a:r>
            <a:endParaRPr lang="en-US" sz="1400"/>
          </a:p>
        </p:txBody>
      </p:sp>
      <p:pic>
        <p:nvPicPr>
          <p:cNvPr id="5" name="Image 1" descr="Tabla de balance de características entre control y registro facilitado"/>
          <p:cNvPicPr>
            <a:picLocks noChangeAspect="1"/>
          </p:cNvPicPr>
          <p:nvPr/>
        </p:nvPicPr>
        <p:blipFill>
          <a:blip r:embed="rId4"/>
          <a:srcRect l="-30" r="-30"/>
          <a:stretch/>
        </p:blipFill>
        <p:spPr>
          <a:xfrm>
            <a:off x="666749" y="1924644"/>
            <a:ext cx="5731351" cy="4203861"/>
          </a:xfrm>
          <a:prstGeom prst="rect">
            <a:avLst/>
          </a:prstGeom>
        </p:spPr>
      </p:pic>
      <p:sp>
        <p:nvSpPr>
          <p:cNvPr id="6" name="Shape 2"/>
          <p:cNvSpPr/>
          <p:nvPr/>
        </p:nvSpPr>
        <p:spPr>
          <a:xfrm>
            <a:off x="663575" y="1921469"/>
            <a:ext cx="5736318" cy="4210389"/>
          </a:xfrm>
          <a:prstGeom prst="rect">
            <a:avLst/>
          </a:prstGeom>
          <a:noFill/>
          <a:ln w="6350">
            <a:solidFill>
              <a:srgbClr val="C9D1D8"/>
            </a:solidFill>
            <a:prstDash val="solid"/>
          </a:ln>
        </p:spPr>
        <p:txBody>
          <a:bodyPr/>
          <a:lstStyle/>
          <a:p>
            <a:endParaRPr lang="en-US"/>
          </a:p>
        </p:txBody>
      </p:sp>
      <p:sp>
        <p:nvSpPr>
          <p:cNvPr id="8" name="Text 4"/>
          <p:cNvSpPr/>
          <p:nvPr/>
        </p:nvSpPr>
        <p:spPr>
          <a:xfrm>
            <a:off x="6862536" y="1921903"/>
            <a:ext cx="4669917" cy="256530"/>
          </a:xfrm>
          <a:prstGeom prst="rect">
            <a:avLst/>
          </a:prstGeom>
          <a:noFill/>
          <a:ln/>
        </p:spPr>
        <p:txBody>
          <a:bodyPr wrap="square" lIns="0" tIns="0" rIns="0" bIns="0" rtlCol="0" anchor="t">
            <a:normAutofit/>
          </a:bodyPr>
          <a:lstStyle/>
          <a:p>
            <a:pPr marL="0" indent="0" algn="ctr">
              <a:lnSpc>
                <a:spcPts val="1820"/>
              </a:lnSpc>
              <a:buNone/>
            </a:pPr>
            <a:r>
              <a:rPr lang="en-US" b="1">
                <a:solidFill>
                  <a:srgbClr val="051C2C"/>
                </a:solidFill>
                <a:latin typeface="Georgia"/>
                <a:ea typeface="Arial" pitchFamily="34" charset="-122"/>
                <a:cs typeface="Arial" pitchFamily="34" charset="-120"/>
              </a:rPr>
              <a:t>Cumplimiento perfecto</a:t>
            </a:r>
            <a:endParaRPr lang="en-US">
              <a:latin typeface="Georgia"/>
            </a:endParaRPr>
          </a:p>
        </p:txBody>
      </p:sp>
      <p:grpSp>
        <p:nvGrpSpPr>
          <p:cNvPr id="18" name="Group 17">
            <a:extLst>
              <a:ext uri="{FF2B5EF4-FFF2-40B4-BE49-F238E27FC236}">
                <a16:creationId xmlns:a16="http://schemas.microsoft.com/office/drawing/2014/main" id="{311F793F-984E-9CD7-C65D-D219D6114F50}"/>
              </a:ext>
            </a:extLst>
          </p:cNvPr>
          <p:cNvGrpSpPr/>
          <p:nvPr/>
        </p:nvGrpSpPr>
        <p:grpSpPr>
          <a:xfrm>
            <a:off x="6775450" y="2281847"/>
            <a:ext cx="4669917" cy="698500"/>
            <a:chOff x="6775450" y="2744490"/>
            <a:chExt cx="4669917" cy="698500"/>
          </a:xfrm>
        </p:grpSpPr>
        <p:sp>
          <p:nvSpPr>
            <p:cNvPr id="9" name="Text 5"/>
            <p:cNvSpPr/>
            <p:nvPr/>
          </p:nvSpPr>
          <p:spPr>
            <a:xfrm>
              <a:off x="6775450" y="2744490"/>
              <a:ext cx="4669917" cy="330200"/>
            </a:xfrm>
            <a:prstGeom prst="rect">
              <a:avLst/>
            </a:prstGeom>
            <a:noFill/>
            <a:ln/>
          </p:spPr>
          <p:txBody>
            <a:bodyPr wrap="square" lIns="0" tIns="0" rIns="0" bIns="0" rtlCol="0" anchor="t">
              <a:normAutofit/>
            </a:bodyPr>
            <a:lstStyle/>
            <a:p>
              <a:pPr marL="0" indent="0" algn="ctr">
                <a:lnSpc>
                  <a:spcPts val="2400"/>
                </a:lnSpc>
                <a:buNone/>
              </a:pPr>
              <a:r>
                <a:rPr lang="en-US" sz="2000" b="1">
                  <a:solidFill>
                    <a:srgbClr val="2F97F9"/>
                  </a:solidFill>
                  <a:latin typeface="Arial"/>
                  <a:ea typeface="Arial" pitchFamily="34" charset="-122"/>
                  <a:cs typeface="Arial"/>
                </a:rPr>
                <a:t>5,043 </a:t>
              </a:r>
              <a:r>
                <a:rPr lang="en-US" sz="2000" b="1" err="1">
                  <a:solidFill>
                    <a:srgbClr val="2F97F9"/>
                  </a:solidFill>
                  <a:latin typeface="Arial"/>
                  <a:ea typeface="Arial" pitchFamily="34" charset="-122"/>
                  <a:cs typeface="Arial"/>
                </a:rPr>
                <a:t>controles</a:t>
              </a:r>
              <a:r>
                <a:rPr lang="en-US" sz="2000" b="1">
                  <a:solidFill>
                    <a:srgbClr val="2F97F9"/>
                  </a:solidFill>
                  <a:latin typeface="Arial"/>
                  <a:ea typeface="Arial" pitchFamily="34" charset="-122"/>
                  <a:cs typeface="Arial"/>
                </a:rPr>
                <a:t>: 0 </a:t>
              </a:r>
              <a:r>
                <a:rPr lang="en-US" sz="2000" b="1" err="1">
                  <a:solidFill>
                    <a:srgbClr val="2F97F9"/>
                  </a:solidFill>
                  <a:latin typeface="Arial"/>
                  <a:ea typeface="Arial" pitchFamily="34" charset="-122"/>
                  <a:cs typeface="Arial"/>
                </a:rPr>
                <a:t>registrados</a:t>
              </a:r>
              <a:endParaRPr lang="en-US" sz="2000" err="1">
                <a:solidFill>
                  <a:srgbClr val="2F97F9"/>
                </a:solidFill>
                <a:latin typeface="Arial"/>
                <a:cs typeface="Arial"/>
              </a:endParaRPr>
            </a:p>
          </p:txBody>
        </p:sp>
        <p:sp>
          <p:nvSpPr>
            <p:cNvPr id="10" name="Text 6"/>
            <p:cNvSpPr/>
            <p:nvPr/>
          </p:nvSpPr>
          <p:spPr>
            <a:xfrm>
              <a:off x="6775450" y="3112790"/>
              <a:ext cx="4669917" cy="330200"/>
            </a:xfrm>
            <a:prstGeom prst="rect">
              <a:avLst/>
            </a:prstGeom>
            <a:noFill/>
            <a:ln/>
          </p:spPr>
          <p:txBody>
            <a:bodyPr wrap="square" lIns="0" tIns="0" rIns="0" bIns="0" rtlCol="0" anchor="t">
              <a:normAutofit/>
            </a:bodyPr>
            <a:lstStyle/>
            <a:p>
              <a:pPr marL="0" indent="0" algn="r">
                <a:lnSpc>
                  <a:spcPts val="2400"/>
                </a:lnSpc>
                <a:buNone/>
              </a:pPr>
              <a:r>
                <a:rPr lang="en-US" sz="2000" b="1">
                  <a:solidFill>
                    <a:srgbClr val="2F97F9"/>
                  </a:solidFill>
                  <a:latin typeface="Arial"/>
                  <a:ea typeface="Arial" pitchFamily="34" charset="-122"/>
                  <a:cs typeface="Arial"/>
                </a:rPr>
                <a:t>4,957 </a:t>
              </a:r>
              <a:r>
                <a:rPr lang="en-US" sz="2000" b="1" err="1">
                  <a:solidFill>
                    <a:srgbClr val="2F97F9"/>
                  </a:solidFill>
                  <a:latin typeface="Arial"/>
                  <a:ea typeface="Arial" pitchFamily="34" charset="-122"/>
                  <a:cs typeface="Arial"/>
                </a:rPr>
                <a:t>tratados</a:t>
              </a:r>
              <a:r>
                <a:rPr lang="en-US" sz="2000" b="1">
                  <a:solidFill>
                    <a:srgbClr val="2F97F9"/>
                  </a:solidFill>
                  <a:latin typeface="Arial"/>
                  <a:ea typeface="Arial" pitchFamily="34" charset="-122"/>
                  <a:cs typeface="Arial"/>
                </a:rPr>
                <a:t>: </a:t>
              </a:r>
              <a:r>
                <a:rPr lang="en-US" sz="2000" b="1" err="1">
                  <a:solidFill>
                    <a:srgbClr val="2F97F9"/>
                  </a:solidFill>
                  <a:latin typeface="Arial"/>
                  <a:ea typeface="Arial" pitchFamily="34" charset="-122"/>
                  <a:cs typeface="Arial"/>
                </a:rPr>
                <a:t>todos</a:t>
              </a:r>
              <a:r>
                <a:rPr lang="en-US" sz="2000" b="1">
                  <a:solidFill>
                    <a:srgbClr val="2F97F9"/>
                  </a:solidFill>
                  <a:latin typeface="Arial"/>
                  <a:ea typeface="Arial" pitchFamily="34" charset="-122"/>
                  <a:cs typeface="Arial"/>
                </a:rPr>
                <a:t> </a:t>
              </a:r>
              <a:r>
                <a:rPr lang="en-US" sz="2000" b="1" err="1">
                  <a:solidFill>
                    <a:srgbClr val="2F97F9"/>
                  </a:solidFill>
                  <a:latin typeface="Arial"/>
                  <a:ea typeface="Arial" pitchFamily="34" charset="-122"/>
                  <a:cs typeface="Arial"/>
                </a:rPr>
                <a:t>registrados</a:t>
              </a:r>
              <a:endParaRPr lang="en-US" sz="2000" err="1">
                <a:solidFill>
                  <a:srgbClr val="2F97F9"/>
                </a:solidFill>
                <a:latin typeface="Arial"/>
                <a:cs typeface="Arial"/>
              </a:endParaRPr>
            </a:p>
          </p:txBody>
        </p:sp>
      </p:grpSp>
      <p:grpSp>
        <p:nvGrpSpPr>
          <p:cNvPr id="19" name="Group 18">
            <a:extLst>
              <a:ext uri="{FF2B5EF4-FFF2-40B4-BE49-F238E27FC236}">
                <a16:creationId xmlns:a16="http://schemas.microsoft.com/office/drawing/2014/main" id="{04824123-3159-9148-EFD6-9BF88822AD11}"/>
              </a:ext>
            </a:extLst>
          </p:cNvPr>
          <p:cNvGrpSpPr/>
          <p:nvPr/>
        </p:nvGrpSpPr>
        <p:grpSpPr>
          <a:xfrm>
            <a:off x="6613402" y="3283910"/>
            <a:ext cx="2498471" cy="603200"/>
            <a:chOff x="6553200" y="3703340"/>
            <a:chExt cx="2498471" cy="603200"/>
          </a:xfrm>
        </p:grpSpPr>
        <p:sp>
          <p:nvSpPr>
            <p:cNvPr id="11" name="Text 7"/>
            <p:cNvSpPr/>
            <p:nvPr/>
          </p:nvSpPr>
          <p:spPr>
            <a:xfrm>
              <a:off x="6553200" y="3703340"/>
              <a:ext cx="2498471" cy="363190"/>
            </a:xfrm>
            <a:prstGeom prst="rect">
              <a:avLst/>
            </a:prstGeom>
            <a:noFill/>
            <a:ln/>
          </p:spPr>
          <p:txBody>
            <a:bodyPr wrap="square" lIns="0" tIns="0" rIns="0" bIns="0" rtlCol="0" anchor="t">
              <a:normAutofit/>
            </a:bodyPr>
            <a:lstStyle/>
            <a:p>
              <a:pPr marL="0" indent="0" algn="l">
                <a:lnSpc>
                  <a:spcPts val="2660"/>
                </a:lnSpc>
                <a:buNone/>
              </a:pPr>
              <a:r>
                <a:rPr lang="en-US" sz="1900" b="1">
                  <a:solidFill>
                    <a:srgbClr val="051C2C"/>
                  </a:solidFill>
                  <a:latin typeface="Arial" pitchFamily="34" charset="0"/>
                  <a:ea typeface="Arial" pitchFamily="34" charset="-122"/>
                  <a:cs typeface="Arial" pitchFamily="34" charset="-120"/>
                </a:rPr>
                <a:t>F = 0.96, p = 0.456</a:t>
              </a:r>
              <a:endParaRPr lang="en-US" sz="1900">
                <a:solidFill>
                  <a:srgbClr val="051C2C"/>
                </a:solidFill>
              </a:endParaRPr>
            </a:p>
          </p:txBody>
        </p:sp>
        <p:sp>
          <p:nvSpPr>
            <p:cNvPr id="12" name="Text 8"/>
            <p:cNvSpPr/>
            <p:nvPr/>
          </p:nvSpPr>
          <p:spPr>
            <a:xfrm>
              <a:off x="6553200" y="4066530"/>
              <a:ext cx="2498471" cy="240010"/>
            </a:xfrm>
            <a:prstGeom prst="rect">
              <a:avLst/>
            </a:prstGeom>
            <a:noFill/>
            <a:ln/>
          </p:spPr>
          <p:txBody>
            <a:bodyPr wrap="square" lIns="0" tIns="0" rIns="0" bIns="0" rtlCol="0" anchor="t">
              <a:normAutofit/>
            </a:bodyPr>
            <a:lstStyle/>
            <a:p>
              <a:pPr marL="0" indent="0" algn="l">
                <a:lnSpc>
                  <a:spcPts val="1690"/>
                </a:lnSpc>
                <a:buNone/>
              </a:pPr>
              <a:r>
                <a:rPr lang="en-US" sz="1300">
                  <a:solidFill>
                    <a:srgbClr val="1B1B1B"/>
                  </a:solidFill>
                  <a:latin typeface="Arial"/>
                  <a:ea typeface="Arial" pitchFamily="34" charset="-122"/>
                  <a:cs typeface="Arial"/>
                </a:rPr>
                <a:t>Balance antes del </a:t>
              </a:r>
              <a:r>
                <a:rPr lang="en-US" sz="1300" err="1">
                  <a:solidFill>
                    <a:srgbClr val="1B1B1B"/>
                  </a:solidFill>
                  <a:latin typeface="Arial"/>
                  <a:ea typeface="Arial" pitchFamily="34" charset="-122"/>
                  <a:cs typeface="Arial"/>
                </a:rPr>
                <a:t>tratamiento</a:t>
              </a:r>
              <a:endParaRPr lang="en-US" sz="1300" err="1">
                <a:latin typeface="Arial"/>
                <a:cs typeface="Arial"/>
              </a:endParaRPr>
            </a:p>
          </p:txBody>
        </p:sp>
      </p:grpSp>
      <p:sp>
        <p:nvSpPr>
          <p:cNvPr id="13" name="Text 9"/>
          <p:cNvSpPr/>
          <p:nvPr/>
        </p:nvSpPr>
        <p:spPr>
          <a:xfrm>
            <a:off x="9105900" y="3703340"/>
            <a:ext cx="2498471" cy="363190"/>
          </a:xfrm>
          <a:prstGeom prst="rect">
            <a:avLst/>
          </a:prstGeom>
          <a:noFill/>
          <a:ln/>
        </p:spPr>
        <p:txBody>
          <a:bodyPr wrap="square" lIns="0" tIns="0" rIns="0" bIns="0" rtlCol="0" anchor="t">
            <a:normAutofit/>
          </a:bodyPr>
          <a:lstStyle/>
          <a:p>
            <a:pPr marL="0" indent="0" algn="l">
              <a:lnSpc>
                <a:spcPts val="2660"/>
              </a:lnSpc>
              <a:buNone/>
            </a:pPr>
            <a:r>
              <a:rPr lang="en-US" sz="1900" b="1">
                <a:solidFill>
                  <a:srgbClr val="051C2C"/>
                </a:solidFill>
                <a:latin typeface="Arial" pitchFamily="34" charset="0"/>
                <a:ea typeface="Arial" pitchFamily="34" charset="-122"/>
                <a:cs typeface="Arial" pitchFamily="34" charset="-120"/>
              </a:rPr>
              <a:t>F = 0.66, p = 0.708</a:t>
            </a:r>
            <a:endParaRPr lang="en-US" sz="1900">
              <a:solidFill>
                <a:srgbClr val="051C2C"/>
              </a:solidFill>
            </a:endParaRPr>
          </a:p>
        </p:txBody>
      </p:sp>
      <p:sp>
        <p:nvSpPr>
          <p:cNvPr id="14" name="Text 10"/>
          <p:cNvSpPr/>
          <p:nvPr/>
        </p:nvSpPr>
        <p:spPr>
          <a:xfrm>
            <a:off x="9105900" y="4066530"/>
            <a:ext cx="2874028" cy="454620"/>
          </a:xfrm>
          <a:prstGeom prst="rect">
            <a:avLst/>
          </a:prstGeom>
          <a:noFill/>
          <a:ln/>
        </p:spPr>
        <p:txBody>
          <a:bodyPr wrap="square" lIns="0" tIns="0" rIns="0" bIns="0" rtlCol="0" anchor="t">
            <a:normAutofit/>
          </a:bodyPr>
          <a:lstStyle/>
          <a:p>
            <a:pPr marL="0" indent="0" algn="l">
              <a:lnSpc>
                <a:spcPts val="1690"/>
              </a:lnSpc>
              <a:buNone/>
            </a:pPr>
            <a:r>
              <a:rPr lang="en-US" sz="1300">
                <a:solidFill>
                  <a:srgbClr val="1B1B1B"/>
                </a:solidFill>
                <a:latin typeface="Arial"/>
                <a:ea typeface="Arial" pitchFamily="34" charset="-122"/>
                <a:cs typeface="Arial"/>
              </a:rPr>
              <a:t>Experimento </a:t>
            </a:r>
            <a:r>
              <a:rPr lang="en-US" sz="1300" err="1">
                <a:solidFill>
                  <a:srgbClr val="1B1B1B"/>
                </a:solidFill>
                <a:latin typeface="Arial"/>
                <a:ea typeface="Arial" pitchFamily="34" charset="-122"/>
                <a:cs typeface="Arial"/>
              </a:rPr>
              <a:t>frente</a:t>
            </a:r>
            <a:r>
              <a:rPr lang="en-US" sz="1300">
                <a:solidFill>
                  <a:srgbClr val="1B1B1B"/>
                </a:solidFill>
                <a:latin typeface="Arial"/>
                <a:ea typeface="Arial" pitchFamily="34" charset="-122"/>
                <a:cs typeface="Arial"/>
              </a:rPr>
              <a:t> a la base </a:t>
            </a:r>
            <a:r>
              <a:rPr lang="en-US" sz="1300" err="1">
                <a:solidFill>
                  <a:srgbClr val="1B1B1B"/>
                </a:solidFill>
                <a:latin typeface="Arial"/>
                <a:ea typeface="Arial" pitchFamily="34" charset="-122"/>
                <a:cs typeface="Arial"/>
              </a:rPr>
              <a:t>histórica</a:t>
            </a:r>
            <a:endParaRPr lang="en-US" sz="1300" err="1">
              <a:latin typeface="Arial"/>
              <a:cs typeface="Arial"/>
            </a:endParaRPr>
          </a:p>
        </p:txBody>
      </p:sp>
      <p:sp>
        <p:nvSpPr>
          <p:cNvPr id="15" name="Text 11"/>
          <p:cNvSpPr/>
          <p:nvPr/>
        </p:nvSpPr>
        <p:spPr>
          <a:xfrm>
            <a:off x="6613071" y="4644521"/>
            <a:ext cx="4994729" cy="1019387"/>
          </a:xfrm>
          <a:prstGeom prst="roundRect">
            <a:avLst>
              <a:gd name="adj" fmla="val 17349"/>
            </a:avLst>
          </a:prstGeom>
          <a:noFill/>
          <a:ln>
            <a:noFill/>
          </a:ln>
        </p:spPr>
        <p:txBody>
          <a:bodyPr wrap="square" lIns="151124" tIns="100323" rIns="13963" bIns="74924" rtlCol="0" anchor="t">
            <a:noAutofit/>
          </a:bodyPr>
          <a:lstStyle/>
          <a:p>
            <a:pPr marL="0" indent="0" algn="ctr">
              <a:lnSpc>
                <a:spcPts val="1890"/>
              </a:lnSpc>
              <a:buNone/>
            </a:pPr>
            <a:r>
              <a:rPr lang="en-US" b="1">
                <a:solidFill>
                  <a:srgbClr val="002060"/>
                </a:solidFill>
                <a:latin typeface="Georgia"/>
                <a:ea typeface="Arial" pitchFamily="34" charset="-122"/>
                <a:cs typeface="Arial"/>
              </a:rPr>
              <a:t>Para </a:t>
            </a:r>
            <a:r>
              <a:rPr lang="en-US" b="1" err="1">
                <a:solidFill>
                  <a:srgbClr val="002060"/>
                </a:solidFill>
                <a:latin typeface="Georgia"/>
                <a:ea typeface="Arial" pitchFamily="34" charset="-122"/>
                <a:cs typeface="Arial"/>
              </a:rPr>
              <a:t>atribuir</a:t>
            </a:r>
            <a:r>
              <a:rPr lang="en-US" b="1">
                <a:solidFill>
                  <a:srgbClr val="002060"/>
                </a:solidFill>
                <a:latin typeface="Georgia"/>
                <a:ea typeface="Arial" pitchFamily="34" charset="-122"/>
                <a:cs typeface="Arial"/>
              </a:rPr>
              <a:t> el </a:t>
            </a:r>
            <a:r>
              <a:rPr lang="en-US" b="1" err="1">
                <a:solidFill>
                  <a:srgbClr val="002060"/>
                </a:solidFill>
                <a:latin typeface="Georgia"/>
                <a:ea typeface="Arial" pitchFamily="34" charset="-122"/>
                <a:cs typeface="Arial"/>
              </a:rPr>
              <a:t>efecto</a:t>
            </a:r>
            <a:r>
              <a:rPr lang="en-US" b="1">
                <a:solidFill>
                  <a:srgbClr val="002060"/>
                </a:solidFill>
                <a:latin typeface="Georgia"/>
                <a:ea typeface="Arial" pitchFamily="34" charset="-122"/>
                <a:cs typeface="Arial"/>
              </a:rPr>
              <a:t> al </a:t>
            </a:r>
            <a:r>
              <a:rPr lang="en-US" b="1" err="1">
                <a:solidFill>
                  <a:srgbClr val="002060"/>
                </a:solidFill>
                <a:latin typeface="Georgia"/>
                <a:ea typeface="Arial" pitchFamily="34" charset="-122"/>
                <a:cs typeface="Arial"/>
              </a:rPr>
              <a:t>formulario</a:t>
            </a:r>
            <a:r>
              <a:rPr lang="en-US" b="1">
                <a:solidFill>
                  <a:srgbClr val="002060"/>
                </a:solidFill>
                <a:latin typeface="Georgia"/>
                <a:ea typeface="Arial" pitchFamily="34" charset="-122"/>
                <a:cs typeface="Arial"/>
              </a:rPr>
              <a:t> se </a:t>
            </a:r>
            <a:r>
              <a:rPr lang="en-US" b="1" err="1">
                <a:solidFill>
                  <a:srgbClr val="002060"/>
                </a:solidFill>
                <a:latin typeface="Georgia"/>
                <a:ea typeface="Arial" pitchFamily="34" charset="-122"/>
                <a:cs typeface="Arial"/>
              </a:rPr>
              <a:t>requiere</a:t>
            </a:r>
            <a:r>
              <a:rPr lang="en-US" b="1">
                <a:solidFill>
                  <a:srgbClr val="002060"/>
                </a:solidFill>
                <a:latin typeface="Georgia"/>
                <a:ea typeface="Arial" pitchFamily="34" charset="-122"/>
                <a:cs typeface="Arial"/>
              </a:rPr>
              <a:t> </a:t>
            </a:r>
            <a:r>
              <a:rPr lang="en-US" b="1" err="1">
                <a:solidFill>
                  <a:srgbClr val="002060"/>
                </a:solidFill>
                <a:latin typeface="Georgia"/>
                <a:ea typeface="Arial" pitchFamily="34" charset="-122"/>
                <a:cs typeface="Arial"/>
              </a:rPr>
              <a:t>asignación</a:t>
            </a:r>
            <a:r>
              <a:rPr lang="en-US" b="1">
                <a:solidFill>
                  <a:srgbClr val="002060"/>
                </a:solidFill>
                <a:latin typeface="Georgia"/>
                <a:ea typeface="Arial" pitchFamily="34" charset="-122"/>
                <a:cs typeface="Arial"/>
              </a:rPr>
              <a:t> </a:t>
            </a:r>
            <a:r>
              <a:rPr lang="en-US" b="1" err="1">
                <a:solidFill>
                  <a:srgbClr val="002060"/>
                </a:solidFill>
                <a:latin typeface="Georgia"/>
                <a:ea typeface="Arial" pitchFamily="34" charset="-122"/>
                <a:cs typeface="Arial"/>
              </a:rPr>
              <a:t>aleatoria</a:t>
            </a:r>
            <a:r>
              <a:rPr lang="en-US" b="1">
                <a:solidFill>
                  <a:srgbClr val="002060"/>
                </a:solidFill>
                <a:latin typeface="Georgia"/>
                <a:ea typeface="Arial" pitchFamily="34" charset="-122"/>
                <a:cs typeface="Arial"/>
              </a:rPr>
              <a:t>, </a:t>
            </a:r>
            <a:r>
              <a:rPr lang="en-US" b="1" err="1">
                <a:solidFill>
                  <a:srgbClr val="002060"/>
                </a:solidFill>
                <a:latin typeface="Georgia"/>
                <a:ea typeface="Arial" pitchFamily="34" charset="-122"/>
                <a:cs typeface="Arial"/>
              </a:rPr>
              <a:t>cumplimiento</a:t>
            </a:r>
            <a:r>
              <a:rPr lang="en-US" b="1">
                <a:solidFill>
                  <a:srgbClr val="002060"/>
                </a:solidFill>
                <a:latin typeface="Georgia"/>
                <a:ea typeface="Arial" pitchFamily="34" charset="-122"/>
                <a:cs typeface="Arial"/>
              </a:rPr>
              <a:t> perfecto, no </a:t>
            </a:r>
            <a:r>
              <a:rPr lang="en-US" b="1" err="1">
                <a:solidFill>
                  <a:srgbClr val="002060"/>
                </a:solidFill>
                <a:latin typeface="Georgia"/>
                <a:ea typeface="Arial" pitchFamily="34" charset="-122"/>
                <a:cs typeface="Arial"/>
              </a:rPr>
              <a:t>interferencia</a:t>
            </a:r>
            <a:r>
              <a:rPr lang="en-US" b="1">
                <a:solidFill>
                  <a:srgbClr val="002060"/>
                </a:solidFill>
                <a:latin typeface="Georgia"/>
                <a:ea typeface="Arial" pitchFamily="34" charset="-122"/>
                <a:cs typeface="Arial"/>
              </a:rPr>
              <a:t> entre </a:t>
            </a:r>
            <a:r>
              <a:rPr lang="en-US" b="1" err="1">
                <a:solidFill>
                  <a:srgbClr val="002060"/>
                </a:solidFill>
                <a:latin typeface="Georgia"/>
                <a:ea typeface="Arial" pitchFamily="34" charset="-122"/>
                <a:cs typeface="Arial"/>
              </a:rPr>
              <a:t>usuarios</a:t>
            </a:r>
            <a:r>
              <a:rPr lang="en-US" b="1">
                <a:solidFill>
                  <a:srgbClr val="002060"/>
                </a:solidFill>
                <a:latin typeface="Georgia"/>
                <a:ea typeface="Arial" pitchFamily="34" charset="-122"/>
                <a:cs typeface="Arial"/>
              </a:rPr>
              <a:t> y </a:t>
            </a:r>
            <a:r>
              <a:rPr lang="en-US" b="1" err="1">
                <a:solidFill>
                  <a:srgbClr val="002060"/>
                </a:solidFill>
                <a:latin typeface="Georgia"/>
                <a:ea typeface="Arial" pitchFamily="34" charset="-122"/>
                <a:cs typeface="Arial"/>
              </a:rPr>
              <a:t>mismo</a:t>
            </a:r>
            <a:r>
              <a:rPr lang="en-US" b="1">
                <a:solidFill>
                  <a:srgbClr val="002060"/>
                </a:solidFill>
                <a:latin typeface="Georgia"/>
                <a:ea typeface="Arial" pitchFamily="34" charset="-122"/>
                <a:cs typeface="Arial"/>
              </a:rPr>
              <a:t> </a:t>
            </a:r>
            <a:r>
              <a:rPr lang="en-US" b="1" err="1">
                <a:solidFill>
                  <a:srgbClr val="002060"/>
                </a:solidFill>
                <a:latin typeface="Georgia"/>
                <a:ea typeface="Arial" pitchFamily="34" charset="-122"/>
                <a:cs typeface="Arial"/>
              </a:rPr>
              <a:t>periodo</a:t>
            </a:r>
            <a:r>
              <a:rPr lang="en-US" b="1">
                <a:solidFill>
                  <a:srgbClr val="002060"/>
                </a:solidFill>
                <a:latin typeface="Georgia"/>
                <a:ea typeface="Arial" pitchFamily="34" charset="-122"/>
                <a:cs typeface="Arial"/>
              </a:rPr>
              <a:t>.</a:t>
            </a:r>
            <a:endParaRPr lang="en-US" b="1">
              <a:solidFill>
                <a:srgbClr val="002060"/>
              </a:solidFill>
              <a:latin typeface="Georgia"/>
              <a:cs typeface="Arial"/>
            </a:endParaRPr>
          </a:p>
        </p:txBody>
      </p:sp>
      <p:sp>
        <p:nvSpPr>
          <p:cNvPr id="17" name="Text 13"/>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4</a:t>
            </a:r>
            <a:endParaRPr lang="en-US" sz="1200"/>
          </a:p>
        </p:txBody>
      </p:sp>
    </p:spTree>
    <p:extLst>
      <p:ext uri="{BB962C8B-B14F-4D97-AF65-F5344CB8AC3E}">
        <p14:creationId xmlns:p14="http://schemas.microsoft.com/office/powerpoint/2010/main" val="12465241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78023"/>
            <a:ext cx="11197336" cy="764977"/>
          </a:xfrm>
          <a:prstGeom prst="rect">
            <a:avLst/>
          </a:prstGeom>
          <a:noFill/>
          <a:ln/>
        </p:spPr>
        <p:txBody>
          <a:bodyPr wrap="square" lIns="0" tIns="0" rIns="0" bIns="0" rtlCol="0" anchor="t">
            <a:normAutofit/>
          </a:bodyPr>
          <a:lstStyle/>
          <a:p>
            <a:pPr marL="0" indent="0" algn="l">
              <a:lnSpc>
                <a:spcPts val="2912"/>
              </a:lnSpc>
              <a:buNone/>
            </a:pPr>
            <a:r>
              <a:rPr lang="en-US" sz="2600" b="1" i="0">
                <a:solidFill>
                  <a:srgbClr val="051C2C"/>
                </a:solidFill>
                <a:latin typeface="Georgia" pitchFamily="18" charset="0"/>
                <a:ea typeface="Georgia" pitchFamily="18" charset="-122"/>
                <a:cs typeface="Georgia" pitchFamily="18" charset="-120"/>
              </a:rPr>
              <a:t>El logaritmo cambia la pregunta: en dólares el registro sube el gasto, en el usuario típico no</a:t>
            </a:r>
            <a:endParaRPr lang="en-US" sz="260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Datos históricos y experimento A/B · Efecto de la transformación</a:t>
            </a:r>
            <a:endParaRPr lang="en-US" sz="1400"/>
          </a:p>
        </p:txBody>
      </p:sp>
      <p:pic>
        <p:nvPicPr>
          <p:cNvPr id="5" name="Image 1" descr="Distribución del ingreso en dólares y en logaritmo"/>
          <p:cNvPicPr>
            <a:picLocks noChangeAspect="1"/>
          </p:cNvPicPr>
          <p:nvPr/>
        </p:nvPicPr>
        <p:blipFill>
          <a:blip r:embed="rId4"/>
          <a:srcRect l="-130" r="-130"/>
          <a:stretch/>
        </p:blipFill>
        <p:spPr>
          <a:xfrm>
            <a:off x="666750" y="1867495"/>
            <a:ext cx="6337300" cy="4203700"/>
          </a:xfrm>
          <a:prstGeom prst="rect">
            <a:avLst/>
          </a:prstGeom>
        </p:spPr>
      </p:pic>
      <p:sp>
        <p:nvSpPr>
          <p:cNvPr id="6" name="Shape 2"/>
          <p:cNvSpPr/>
          <p:nvPr/>
        </p:nvSpPr>
        <p:spPr>
          <a:xfrm>
            <a:off x="663575" y="1864320"/>
            <a:ext cx="6343650" cy="4210050"/>
          </a:xfrm>
          <a:prstGeom prst="rect">
            <a:avLst/>
          </a:prstGeom>
          <a:noFill/>
          <a:ln w="6350">
            <a:solidFill>
              <a:srgbClr val="C9D1D8"/>
            </a:solidFill>
            <a:prstDash val="solid"/>
          </a:ln>
        </p:spPr>
        <p:txBody>
          <a:bodyPr/>
          <a:lstStyle/>
          <a:p>
            <a:endParaRPr lang="en-US"/>
          </a:p>
        </p:txBody>
      </p:sp>
      <p:sp>
        <p:nvSpPr>
          <p:cNvPr id="7" name="Text 3"/>
          <p:cNvSpPr/>
          <p:nvPr/>
        </p:nvSpPr>
        <p:spPr>
          <a:xfrm>
            <a:off x="7315200" y="2171452"/>
            <a:ext cx="4342892" cy="452090"/>
          </a:xfrm>
          <a:prstGeom prst="rect">
            <a:avLst/>
          </a:prstGeom>
          <a:noFill/>
          <a:ln/>
        </p:spPr>
        <p:txBody>
          <a:bodyPr wrap="square" lIns="0" tIns="0" rIns="0" bIns="0" rtlCol="0" anchor="t">
            <a:normAutofit/>
          </a:bodyPr>
          <a:lstStyle/>
          <a:p>
            <a:pPr marL="0" indent="0" algn="ctr">
              <a:lnSpc>
                <a:spcPts val="3360"/>
              </a:lnSpc>
              <a:buNone/>
            </a:pPr>
            <a:r>
              <a:rPr lang="en-US" sz="2400" b="1">
                <a:solidFill>
                  <a:srgbClr val="00B0F0"/>
                </a:solidFill>
                <a:latin typeface="Arial" pitchFamily="34" charset="0"/>
                <a:ea typeface="Arial" pitchFamily="34" charset="-122"/>
                <a:cs typeface="Arial" pitchFamily="34" charset="-120"/>
              </a:rPr>
              <a:t>2.66 a 0.68</a:t>
            </a:r>
            <a:endParaRPr lang="en-US" sz="2400">
              <a:cs typeface="Arial"/>
            </a:endParaRPr>
          </a:p>
        </p:txBody>
      </p:sp>
      <p:sp>
        <p:nvSpPr>
          <p:cNvPr id="8" name="Text 4"/>
          <p:cNvSpPr/>
          <p:nvPr/>
        </p:nvSpPr>
        <p:spPr>
          <a:xfrm>
            <a:off x="7315200" y="2623542"/>
            <a:ext cx="4342892" cy="454620"/>
          </a:xfrm>
          <a:prstGeom prst="rect">
            <a:avLst/>
          </a:prstGeom>
          <a:noFill/>
          <a:ln/>
        </p:spPr>
        <p:txBody>
          <a:bodyPr wrap="square" lIns="0" tIns="0" rIns="0" bIns="0" rtlCol="0" anchor="t">
            <a:normAutofit/>
          </a:bodyPr>
          <a:lstStyle/>
          <a:p>
            <a:pPr marL="0" indent="0" algn="l">
              <a:lnSpc>
                <a:spcPts val="1690"/>
              </a:lnSpc>
              <a:buNone/>
            </a:pPr>
            <a:r>
              <a:rPr lang="en-US" sz="1300">
                <a:solidFill>
                  <a:srgbClr val="1B1B1B"/>
                </a:solidFill>
                <a:latin typeface="Arial" pitchFamily="34" charset="0"/>
                <a:ea typeface="Arial" pitchFamily="34" charset="-122"/>
                <a:cs typeface="Arial" pitchFamily="34" charset="-120"/>
              </a:rPr>
              <a:t>asimetría del gasto en dólares y en log: el logaritmo comprime la cola</a:t>
            </a:r>
            <a:endParaRPr lang="en-US" sz="1300"/>
          </a:p>
        </p:txBody>
      </p:sp>
      <p:sp>
        <p:nvSpPr>
          <p:cNvPr id="9" name="Text 5"/>
          <p:cNvSpPr/>
          <p:nvPr/>
        </p:nvSpPr>
        <p:spPr>
          <a:xfrm>
            <a:off x="7315200" y="3205163"/>
            <a:ext cx="2092960" cy="487660"/>
          </a:xfrm>
          <a:prstGeom prst="rect">
            <a:avLst/>
          </a:prstGeom>
          <a:noFill/>
          <a:ln/>
        </p:spPr>
        <p:txBody>
          <a:bodyPr wrap="square" lIns="0" tIns="0" rIns="0" bIns="0" rtlCol="0" anchor="t">
            <a:normAutofit/>
          </a:bodyPr>
          <a:lstStyle/>
          <a:p>
            <a:pPr marL="0" indent="0" algn="l">
              <a:lnSpc>
                <a:spcPts val="3640"/>
              </a:lnSpc>
              <a:buNone/>
            </a:pPr>
            <a:r>
              <a:rPr lang="en-US" sz="2600" b="1">
                <a:solidFill>
                  <a:srgbClr val="00B0F0"/>
                </a:solidFill>
                <a:latin typeface="Arial" pitchFamily="34" charset="0"/>
                <a:ea typeface="Arial" pitchFamily="34" charset="-122"/>
                <a:cs typeface="Arial" pitchFamily="34" charset="-120"/>
              </a:rPr>
              <a:t>+0.49</a:t>
            </a:r>
            <a:endParaRPr lang="en-US" sz="2600"/>
          </a:p>
        </p:txBody>
      </p:sp>
      <p:sp>
        <p:nvSpPr>
          <p:cNvPr id="10" name="Text 6"/>
          <p:cNvSpPr/>
          <p:nvPr/>
        </p:nvSpPr>
        <p:spPr>
          <a:xfrm>
            <a:off x="7315200" y="3692823"/>
            <a:ext cx="2092960" cy="438150"/>
          </a:xfrm>
          <a:prstGeom prst="rect">
            <a:avLst/>
          </a:prstGeom>
          <a:noFill/>
          <a:ln/>
        </p:spPr>
        <p:txBody>
          <a:bodyPr wrap="square" lIns="0" tIns="0" rIns="0" bIns="0" rtlCol="0" anchor="t">
            <a:normAutofit/>
          </a:bodyPr>
          <a:lstStyle/>
          <a:p>
            <a:pPr marL="0" indent="0" algn="l">
              <a:lnSpc>
                <a:spcPts val="1625"/>
              </a:lnSpc>
              <a:buNone/>
            </a:pPr>
            <a:r>
              <a:rPr lang="en-US" sz="1250" b="1">
                <a:solidFill>
                  <a:srgbClr val="1B1B1B"/>
                </a:solidFill>
                <a:latin typeface="Arial" pitchFamily="34" charset="0"/>
                <a:ea typeface="Arial" pitchFamily="34" charset="-122"/>
                <a:cs typeface="Arial" pitchFamily="34" charset="-120"/>
              </a:rPr>
              <a:t>Complemento.</a:t>
            </a:r>
            <a:r>
              <a:rPr lang="en-US" sz="1250">
                <a:solidFill>
                  <a:srgbClr val="1B1B1B"/>
                </a:solidFill>
                <a:latin typeface="Arial" pitchFamily="34" charset="0"/>
                <a:ea typeface="Arial" pitchFamily="34" charset="-122"/>
                <a:cs typeface="Arial" pitchFamily="34" charset="-120"/>
              </a:rPr>
              <a:t> Dólares por usuario, IC de 0.35 a 0.63</a:t>
            </a:r>
            <a:endParaRPr lang="en-US" sz="1250"/>
          </a:p>
        </p:txBody>
      </p:sp>
      <p:sp>
        <p:nvSpPr>
          <p:cNvPr id="11" name="Text 7"/>
          <p:cNvSpPr/>
          <p:nvPr/>
        </p:nvSpPr>
        <p:spPr>
          <a:xfrm>
            <a:off x="9499600" y="3205163"/>
            <a:ext cx="2092960" cy="487660"/>
          </a:xfrm>
          <a:prstGeom prst="rect">
            <a:avLst/>
          </a:prstGeom>
          <a:noFill/>
          <a:ln/>
        </p:spPr>
        <p:txBody>
          <a:bodyPr wrap="square" lIns="0" tIns="0" rIns="0" bIns="0" rtlCol="0" anchor="t">
            <a:normAutofit/>
          </a:bodyPr>
          <a:lstStyle/>
          <a:p>
            <a:pPr marL="0" indent="0" algn="l">
              <a:lnSpc>
                <a:spcPts val="3640"/>
              </a:lnSpc>
              <a:buNone/>
            </a:pPr>
            <a:r>
              <a:rPr lang="en-US" sz="2600" b="1">
                <a:solidFill>
                  <a:srgbClr val="00B0F0"/>
                </a:solidFill>
                <a:latin typeface="Arial" pitchFamily="34" charset="0"/>
                <a:ea typeface="Arial" pitchFamily="34" charset="-122"/>
                <a:cs typeface="Arial" pitchFamily="34" charset="-120"/>
              </a:rPr>
              <a:t>+1.3%</a:t>
            </a:r>
            <a:endParaRPr lang="en-US" sz="2600"/>
          </a:p>
        </p:txBody>
      </p:sp>
      <p:sp>
        <p:nvSpPr>
          <p:cNvPr id="12" name="Text 8"/>
          <p:cNvSpPr/>
          <p:nvPr/>
        </p:nvSpPr>
        <p:spPr>
          <a:xfrm>
            <a:off x="9499600" y="3692823"/>
            <a:ext cx="2092960" cy="644525"/>
          </a:xfrm>
          <a:prstGeom prst="rect">
            <a:avLst/>
          </a:prstGeom>
          <a:noFill/>
          <a:ln/>
        </p:spPr>
        <p:txBody>
          <a:bodyPr wrap="square" lIns="0" tIns="0" rIns="0" bIns="0" rtlCol="0" anchor="t">
            <a:normAutofit/>
          </a:bodyPr>
          <a:lstStyle/>
          <a:p>
            <a:pPr marL="0" indent="0" algn="l">
              <a:lnSpc>
                <a:spcPts val="1625"/>
              </a:lnSpc>
              <a:buNone/>
            </a:pPr>
            <a:r>
              <a:rPr lang="en-US" sz="1250" b="1">
                <a:solidFill>
                  <a:srgbClr val="1B1B1B"/>
                </a:solidFill>
                <a:latin typeface="Arial" pitchFamily="34" charset="0"/>
                <a:ea typeface="Arial" pitchFamily="34" charset="-122"/>
                <a:cs typeface="Arial" pitchFamily="34" charset="-120"/>
              </a:rPr>
              <a:t>Estimando.</a:t>
            </a:r>
            <a:r>
              <a:rPr lang="en-US" sz="1250">
                <a:solidFill>
                  <a:srgbClr val="1B1B1B"/>
                </a:solidFill>
                <a:latin typeface="Arial" pitchFamily="34" charset="0"/>
                <a:ea typeface="Arial" pitchFamily="34" charset="-122"/>
                <a:cs typeface="Arial" pitchFamily="34" charset="-120"/>
              </a:rPr>
              <a:t> Gasto del usuario típico, IC de −1.0% a +3.8%</a:t>
            </a:r>
            <a:endParaRPr lang="en-US" sz="1250"/>
          </a:p>
        </p:txBody>
      </p:sp>
      <p:sp>
        <p:nvSpPr>
          <p:cNvPr id="13" name="Text 9"/>
          <p:cNvSpPr/>
          <p:nvPr/>
        </p:nvSpPr>
        <p:spPr>
          <a:xfrm>
            <a:off x="7324725" y="4473873"/>
            <a:ext cx="4197350" cy="1283891"/>
          </a:xfrm>
          <a:prstGeom prst="roundRect">
            <a:avLst>
              <a:gd name="adj" fmla="val 11128"/>
            </a:avLst>
          </a:prstGeom>
          <a:noFill/>
          <a:ln w="19050">
            <a:noFill/>
            <a:prstDash val="solid"/>
          </a:ln>
        </p:spPr>
        <p:txBody>
          <a:bodyPr wrap="square" lIns="158178" tIns="120078" rIns="44259" bIns="94678" rtlCol="0" anchor="t">
            <a:normAutofit/>
          </a:bodyPr>
          <a:lstStyle/>
          <a:p>
            <a:pPr marL="0" indent="0" algn="ctr">
              <a:lnSpc>
                <a:spcPts val="1890"/>
              </a:lnSpc>
              <a:buNone/>
            </a:pPr>
            <a:r>
              <a:rPr lang="en-US" b="1">
                <a:solidFill>
                  <a:srgbClr val="022B52"/>
                </a:solidFill>
                <a:latin typeface="Georgia"/>
                <a:ea typeface="Arial" pitchFamily="34" charset="-122"/>
                <a:cs typeface="Arial"/>
              </a:rPr>
              <a:t>El enigma: </a:t>
            </a:r>
            <a:r>
              <a:rPr lang="en-US" b="1" err="1">
                <a:solidFill>
                  <a:srgbClr val="022B52"/>
                </a:solidFill>
                <a:latin typeface="Georgia"/>
                <a:ea typeface="Arial" pitchFamily="34" charset="-122"/>
                <a:cs typeface="Arial"/>
              </a:rPr>
              <a:t>en</a:t>
            </a:r>
            <a:r>
              <a:rPr lang="en-US" b="1">
                <a:solidFill>
                  <a:srgbClr val="022B52"/>
                </a:solidFill>
                <a:latin typeface="Georgia"/>
                <a:ea typeface="Arial" pitchFamily="34" charset="-122"/>
                <a:cs typeface="Arial"/>
              </a:rPr>
              <a:t> </a:t>
            </a:r>
            <a:r>
              <a:rPr lang="en-US" b="1" err="1">
                <a:solidFill>
                  <a:srgbClr val="022B52"/>
                </a:solidFill>
                <a:latin typeface="Georgia"/>
                <a:ea typeface="Arial" pitchFamily="34" charset="-122"/>
                <a:cs typeface="Arial" pitchFamily="34" charset="-120"/>
              </a:rPr>
              <a:t>dólares</a:t>
            </a:r>
            <a:r>
              <a:rPr lang="en-US" b="1">
                <a:solidFill>
                  <a:srgbClr val="022B52"/>
                </a:solidFill>
                <a:latin typeface="Georgia"/>
                <a:ea typeface="Arial" pitchFamily="34" charset="-122"/>
                <a:cs typeface="Arial"/>
              </a:rPr>
              <a:t> el </a:t>
            </a:r>
            <a:r>
              <a:rPr lang="en-US" b="1" err="1">
                <a:solidFill>
                  <a:srgbClr val="022B52"/>
                </a:solidFill>
                <a:latin typeface="Georgia"/>
                <a:ea typeface="Arial" pitchFamily="34" charset="-122"/>
                <a:cs typeface="Arial"/>
              </a:rPr>
              <a:t>registro</a:t>
            </a:r>
            <a:r>
              <a:rPr lang="en-US" b="1">
                <a:solidFill>
                  <a:srgbClr val="022B52"/>
                </a:solidFill>
                <a:latin typeface="Georgia"/>
                <a:ea typeface="Arial" pitchFamily="34" charset="-122"/>
                <a:cs typeface="Arial"/>
              </a:rPr>
              <a:t> </a:t>
            </a:r>
            <a:r>
              <a:rPr lang="en-US" b="1" err="1">
                <a:solidFill>
                  <a:srgbClr val="022B52"/>
                </a:solidFill>
                <a:latin typeface="Georgia"/>
                <a:ea typeface="Arial" pitchFamily="34" charset="-122"/>
                <a:cs typeface="Arial"/>
              </a:rPr>
              <a:t>sube</a:t>
            </a:r>
            <a:r>
              <a:rPr lang="en-US" b="1">
                <a:solidFill>
                  <a:srgbClr val="022B52"/>
                </a:solidFill>
                <a:latin typeface="Georgia"/>
                <a:ea typeface="Arial" pitchFamily="34" charset="-122"/>
                <a:cs typeface="Arial"/>
              </a:rPr>
              <a:t> el </a:t>
            </a:r>
            <a:r>
              <a:rPr lang="en-US" b="1" err="1">
                <a:solidFill>
                  <a:srgbClr val="022B52"/>
                </a:solidFill>
                <a:latin typeface="Georgia"/>
                <a:ea typeface="Arial" pitchFamily="34" charset="-122"/>
                <a:cs typeface="Arial"/>
              </a:rPr>
              <a:t>gasto</a:t>
            </a:r>
            <a:r>
              <a:rPr lang="en-US" b="1">
                <a:solidFill>
                  <a:srgbClr val="022B52"/>
                </a:solidFill>
                <a:latin typeface="Georgia"/>
                <a:ea typeface="Arial" pitchFamily="34" charset="-122"/>
                <a:cs typeface="Arial"/>
              </a:rPr>
              <a:t>, </a:t>
            </a:r>
            <a:r>
              <a:rPr lang="en-US" b="1" err="1">
                <a:solidFill>
                  <a:srgbClr val="022B52"/>
                </a:solidFill>
                <a:latin typeface="Georgia"/>
                <a:ea typeface="Arial" pitchFamily="34" charset="-122"/>
                <a:cs typeface="Arial"/>
              </a:rPr>
              <a:t>pero</a:t>
            </a:r>
            <a:r>
              <a:rPr lang="en-US" b="1">
                <a:solidFill>
                  <a:srgbClr val="022B52"/>
                </a:solidFill>
                <a:latin typeface="Georgia"/>
                <a:ea typeface="Arial" pitchFamily="34" charset="-122"/>
                <a:cs typeface="Arial"/>
              </a:rPr>
              <a:t> </a:t>
            </a:r>
            <a:r>
              <a:rPr lang="en-US" b="1" err="1">
                <a:solidFill>
                  <a:srgbClr val="022B52"/>
                </a:solidFill>
                <a:latin typeface="Georgia"/>
                <a:ea typeface="Arial" pitchFamily="34" charset="-122"/>
                <a:cs typeface="Arial"/>
              </a:rPr>
              <a:t>en</a:t>
            </a:r>
            <a:r>
              <a:rPr lang="en-US" b="1">
                <a:solidFill>
                  <a:srgbClr val="022B52"/>
                </a:solidFill>
                <a:latin typeface="Georgia"/>
                <a:ea typeface="Arial" pitchFamily="34" charset="-122"/>
                <a:cs typeface="Arial"/>
              </a:rPr>
              <a:t> el </a:t>
            </a:r>
            <a:r>
              <a:rPr lang="en-US" b="1" err="1">
                <a:solidFill>
                  <a:srgbClr val="022B52"/>
                </a:solidFill>
                <a:latin typeface="Georgia"/>
                <a:ea typeface="Arial" pitchFamily="34" charset="-122"/>
                <a:cs typeface="Arial"/>
              </a:rPr>
              <a:t>usuario</a:t>
            </a:r>
            <a:r>
              <a:rPr lang="en-US" b="1">
                <a:solidFill>
                  <a:srgbClr val="022B52"/>
                </a:solidFill>
                <a:latin typeface="Georgia"/>
                <a:ea typeface="Arial" pitchFamily="34" charset="-122"/>
                <a:cs typeface="Arial"/>
              </a:rPr>
              <a:t> </a:t>
            </a:r>
            <a:r>
              <a:rPr lang="en-US" b="1" err="1">
                <a:solidFill>
                  <a:srgbClr val="022B52"/>
                </a:solidFill>
                <a:latin typeface="Georgia"/>
                <a:ea typeface="Arial" pitchFamily="34" charset="-122"/>
                <a:cs typeface="Arial"/>
              </a:rPr>
              <a:t>típico</a:t>
            </a:r>
            <a:r>
              <a:rPr lang="en-US" b="1">
                <a:solidFill>
                  <a:srgbClr val="022B52"/>
                </a:solidFill>
                <a:latin typeface="Georgia"/>
                <a:ea typeface="Arial" pitchFamily="34" charset="-122"/>
                <a:cs typeface="Arial"/>
              </a:rPr>
              <a:t> no se distingue de cero. Lo </a:t>
            </a:r>
            <a:r>
              <a:rPr lang="en-US" b="1" err="1">
                <a:solidFill>
                  <a:srgbClr val="022B52"/>
                </a:solidFill>
                <a:latin typeface="Georgia"/>
                <a:ea typeface="Arial" pitchFamily="34" charset="-122"/>
                <a:cs typeface="Arial"/>
              </a:rPr>
              <a:t>resolvemos</a:t>
            </a:r>
            <a:r>
              <a:rPr lang="en-US" b="1">
                <a:solidFill>
                  <a:srgbClr val="022B52"/>
                </a:solidFill>
                <a:latin typeface="Georgia"/>
                <a:ea typeface="Arial" pitchFamily="34" charset="-122"/>
                <a:cs typeface="Arial"/>
              </a:rPr>
              <a:t> </a:t>
            </a:r>
            <a:r>
              <a:rPr lang="en-US" b="1" err="1">
                <a:solidFill>
                  <a:srgbClr val="022B52"/>
                </a:solidFill>
                <a:latin typeface="Georgia"/>
                <a:ea typeface="Arial" pitchFamily="34" charset="-122"/>
                <a:cs typeface="Arial"/>
              </a:rPr>
              <a:t>en</a:t>
            </a:r>
            <a:r>
              <a:rPr lang="en-US" b="1">
                <a:solidFill>
                  <a:srgbClr val="022B52"/>
                </a:solidFill>
                <a:latin typeface="Georgia"/>
                <a:ea typeface="Arial" pitchFamily="34" charset="-122"/>
                <a:cs typeface="Arial"/>
              </a:rPr>
              <a:t> la </a:t>
            </a:r>
            <a:r>
              <a:rPr lang="en-US" b="1" err="1">
                <a:solidFill>
                  <a:srgbClr val="022B52"/>
                </a:solidFill>
                <a:latin typeface="Georgia"/>
                <a:ea typeface="Arial" pitchFamily="34" charset="-122"/>
                <a:cs typeface="Arial"/>
              </a:rPr>
              <a:t>parte</a:t>
            </a:r>
            <a:r>
              <a:rPr lang="en-US" b="1">
                <a:solidFill>
                  <a:srgbClr val="022B52"/>
                </a:solidFill>
                <a:latin typeface="Georgia"/>
                <a:ea typeface="Arial" pitchFamily="34" charset="-122"/>
                <a:cs typeface="Arial"/>
              </a:rPr>
              <a:t> causal.</a:t>
            </a:r>
            <a:endParaRPr lang="en-US" b="1">
              <a:latin typeface="Georgia"/>
              <a:cs typeface="Arial"/>
            </a:endParaRPr>
          </a:p>
        </p:txBody>
      </p:sp>
      <p:sp>
        <p:nvSpPr>
          <p:cNvPr id="15" name="Text 11"/>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5</a:t>
            </a:r>
            <a:endParaRPr lang="en-US" sz="1200"/>
          </a:p>
        </p:txBody>
      </p:sp>
    </p:spTree>
    <p:extLst>
      <p:ext uri="{BB962C8B-B14F-4D97-AF65-F5344CB8AC3E}">
        <p14:creationId xmlns:p14="http://schemas.microsoft.com/office/powerpoint/2010/main" val="34992425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78023"/>
            <a:ext cx="11197336" cy="764977"/>
          </a:xfrm>
          <a:prstGeom prst="rect">
            <a:avLst/>
          </a:prstGeom>
          <a:noFill/>
          <a:ln/>
        </p:spPr>
        <p:txBody>
          <a:bodyPr wrap="square" lIns="0" tIns="0" rIns="0" bIns="0" rtlCol="0" anchor="t">
            <a:normAutofit/>
          </a:bodyPr>
          <a:lstStyle/>
          <a:p>
            <a:pPr marL="0" indent="0" algn="l">
              <a:lnSpc>
                <a:spcPts val="2912"/>
              </a:lnSpc>
              <a:buNone/>
            </a:pPr>
            <a:r>
              <a:rPr lang="en-US" sz="2600" b="1" i="0">
                <a:solidFill>
                  <a:srgbClr val="051C2C"/>
                </a:solidFill>
                <a:latin typeface="Georgia" pitchFamily="18" charset="0"/>
                <a:ea typeface="Georgia" pitchFamily="18" charset="-122"/>
                <a:cs typeface="Georgia" pitchFamily="18" charset="-120"/>
              </a:rPr>
              <a:t>El gasto salta pasados 5 minutos y ese salto crece con las sesiones anteriores</a:t>
            </a:r>
            <a:endParaRPr lang="en-US" sz="260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Parte A · Datos históricos (n = 100,000) · Descriptivo, no causal</a:t>
            </a:r>
            <a:endParaRPr lang="en-US" sz="1400"/>
          </a:p>
        </p:txBody>
      </p:sp>
      <p:pic>
        <p:nvPicPr>
          <p:cNvPr id="5" name="Image 1" descr="Ingreso promedio en logaritmo según tiempo en el sitio y sesiones anteriores, con un salto en 5 minutos"/>
          <p:cNvPicPr>
            <a:picLocks noChangeAspect="1"/>
          </p:cNvPicPr>
          <p:nvPr/>
        </p:nvPicPr>
        <p:blipFill>
          <a:blip r:embed="rId4"/>
          <a:srcRect l="-16" r="-16"/>
          <a:stretch/>
        </p:blipFill>
        <p:spPr>
          <a:xfrm>
            <a:off x="666750" y="1651645"/>
            <a:ext cx="6972300" cy="4635500"/>
          </a:xfrm>
          <a:prstGeom prst="rect">
            <a:avLst/>
          </a:prstGeom>
        </p:spPr>
      </p:pic>
      <p:sp>
        <p:nvSpPr>
          <p:cNvPr id="6" name="Shape 2"/>
          <p:cNvSpPr/>
          <p:nvPr/>
        </p:nvSpPr>
        <p:spPr>
          <a:xfrm>
            <a:off x="663575" y="1648470"/>
            <a:ext cx="6978650" cy="4641850"/>
          </a:xfrm>
          <a:prstGeom prst="rect">
            <a:avLst/>
          </a:prstGeom>
          <a:noFill/>
          <a:ln w="6350">
            <a:solidFill>
              <a:srgbClr val="C9D1D8"/>
            </a:solidFill>
            <a:prstDash val="solid"/>
          </a:ln>
        </p:spPr>
        <p:txBody>
          <a:bodyPr/>
          <a:lstStyle/>
          <a:p>
            <a:endParaRPr lang="en-US"/>
          </a:p>
        </p:txBody>
      </p:sp>
      <p:sp>
        <p:nvSpPr>
          <p:cNvPr id="7" name="Text 3"/>
          <p:cNvSpPr/>
          <p:nvPr/>
        </p:nvSpPr>
        <p:spPr>
          <a:xfrm>
            <a:off x="7950200" y="2578795"/>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00B0F0"/>
          </a:solidFill>
          <a:ln/>
        </p:spPr>
        <p:txBody>
          <a:bodyPr wrap="square" lIns="0" tIns="0" rIns="0" bIns="0" rtlCol="0" anchor="ctr">
            <a:normAutofit/>
          </a:bodyPr>
          <a:lstStyle/>
          <a:p>
            <a:pPr marL="0" indent="0" algn="ctr">
              <a:lnSpc>
                <a:spcPts val="2100"/>
              </a:lnSpc>
              <a:buNone/>
            </a:pPr>
            <a:r>
              <a:rPr lang="en-US" sz="1500" b="1">
                <a:solidFill>
                  <a:srgbClr val="FFFFFF"/>
                </a:solidFill>
                <a:latin typeface="Arial" pitchFamily="34" charset="0"/>
                <a:ea typeface="Arial" pitchFamily="34" charset="-122"/>
                <a:cs typeface="Arial" pitchFamily="34" charset="-120"/>
              </a:rPr>
              <a:t>1</a:t>
            </a:r>
            <a:endParaRPr lang="en-US" sz="1500"/>
          </a:p>
        </p:txBody>
      </p:sp>
      <p:sp>
        <p:nvSpPr>
          <p:cNvPr id="8" name="Text 4"/>
          <p:cNvSpPr/>
          <p:nvPr/>
        </p:nvSpPr>
        <p:spPr>
          <a:xfrm>
            <a:off x="8432800" y="2578795"/>
            <a:ext cx="3191764" cy="985441"/>
          </a:xfrm>
          <a:prstGeom prst="rect">
            <a:avLst/>
          </a:prstGeom>
          <a:noFill/>
          <a:ln/>
        </p:spPr>
        <p:txBody>
          <a:bodyPr wrap="square" lIns="0" tIns="0" rIns="0" bIns="0" rtlCol="0" anchor="t">
            <a:normAutofit/>
          </a:bodyPr>
          <a:lstStyle/>
          <a:p>
            <a:pPr marL="0" indent="0" algn="l">
              <a:lnSpc>
                <a:spcPts val="1890"/>
              </a:lnSpc>
              <a:buNone/>
            </a:pPr>
            <a:r>
              <a:rPr lang="en-US" sz="1400">
                <a:solidFill>
                  <a:srgbClr val="1B1B1B"/>
                </a:solidFill>
                <a:latin typeface="Arial" pitchFamily="34" charset="0"/>
                <a:ea typeface="Arial" pitchFamily="34" charset="-122"/>
                <a:cs typeface="Arial" pitchFamily="34" charset="-120"/>
              </a:rPr>
              <a:t>El gasto salta al pasar 5 minutos en el sitio: cerca de 3 en el encargo 1 y 3.07 (en dólares) ahora; la figura está en log.</a:t>
            </a:r>
            <a:endParaRPr lang="en-US" sz="1400"/>
          </a:p>
        </p:txBody>
      </p:sp>
      <p:sp>
        <p:nvSpPr>
          <p:cNvPr id="9" name="Text 5"/>
          <p:cNvSpPr/>
          <p:nvPr/>
        </p:nvSpPr>
        <p:spPr>
          <a:xfrm>
            <a:off x="7950200" y="3729335"/>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00B0F0"/>
          </a:solidFill>
          <a:ln/>
        </p:spPr>
        <p:txBody>
          <a:bodyPr wrap="square" lIns="0" tIns="0" rIns="0" bIns="0" rtlCol="0" anchor="ctr">
            <a:normAutofit/>
          </a:bodyPr>
          <a:lstStyle/>
          <a:p>
            <a:pPr marL="0" indent="0" algn="ctr">
              <a:lnSpc>
                <a:spcPts val="2100"/>
              </a:lnSpc>
              <a:buNone/>
            </a:pPr>
            <a:r>
              <a:rPr lang="en-US" sz="1500" b="1">
                <a:solidFill>
                  <a:srgbClr val="FFFFFF"/>
                </a:solidFill>
                <a:latin typeface="Arial" pitchFamily="34" charset="0"/>
                <a:ea typeface="Arial" pitchFamily="34" charset="-122"/>
                <a:cs typeface="Arial" pitchFamily="34" charset="-120"/>
              </a:rPr>
              <a:t>2</a:t>
            </a:r>
            <a:endParaRPr lang="en-US" sz="1500"/>
          </a:p>
        </p:txBody>
      </p:sp>
      <p:sp>
        <p:nvSpPr>
          <p:cNvPr id="10" name="Text 6"/>
          <p:cNvSpPr/>
          <p:nvPr/>
        </p:nvSpPr>
        <p:spPr>
          <a:xfrm>
            <a:off x="8432800" y="3729335"/>
            <a:ext cx="3191764" cy="745430"/>
          </a:xfrm>
          <a:prstGeom prst="rect">
            <a:avLst/>
          </a:prstGeom>
          <a:noFill/>
          <a:ln/>
        </p:spPr>
        <p:txBody>
          <a:bodyPr wrap="square" lIns="0" tIns="0" rIns="0" bIns="0" rtlCol="0" anchor="t">
            <a:normAutofit/>
          </a:bodyPr>
          <a:lstStyle/>
          <a:p>
            <a:pPr marL="0" indent="0" algn="l">
              <a:lnSpc>
                <a:spcPts val="1890"/>
              </a:lnSpc>
              <a:buNone/>
            </a:pPr>
            <a:r>
              <a:rPr lang="en-US" sz="1400">
                <a:solidFill>
                  <a:srgbClr val="1B1B1B"/>
                </a:solidFill>
                <a:latin typeface="Arial" pitchFamily="34" charset="0"/>
                <a:ea typeface="Arial" pitchFamily="34" charset="-122"/>
                <a:cs typeface="Arial" pitchFamily="34" charset="-120"/>
              </a:rPr>
              <a:t>Las sesiones anteriores solo se asocian con más gasto pasados los 5 minutos.</a:t>
            </a:r>
            <a:endParaRPr lang="en-US" sz="1400"/>
          </a:p>
        </p:txBody>
      </p:sp>
      <p:sp>
        <p:nvSpPr>
          <p:cNvPr id="11" name="Text 7"/>
          <p:cNvSpPr/>
          <p:nvPr/>
        </p:nvSpPr>
        <p:spPr>
          <a:xfrm>
            <a:off x="7950200" y="4639866"/>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00B0F0"/>
          </a:solidFill>
          <a:ln/>
        </p:spPr>
        <p:txBody>
          <a:bodyPr wrap="square" lIns="0" tIns="0" rIns="0" bIns="0" rtlCol="0" anchor="ctr">
            <a:normAutofit/>
          </a:bodyPr>
          <a:lstStyle/>
          <a:p>
            <a:pPr marL="0" indent="0" algn="ctr">
              <a:lnSpc>
                <a:spcPts val="2100"/>
              </a:lnSpc>
              <a:buNone/>
            </a:pPr>
            <a:r>
              <a:rPr lang="en-US" sz="1500" b="1">
                <a:solidFill>
                  <a:srgbClr val="FFFFFF"/>
                </a:solidFill>
                <a:latin typeface="Arial" pitchFamily="34" charset="0"/>
                <a:ea typeface="Arial" pitchFamily="34" charset="-122"/>
                <a:cs typeface="Arial" pitchFamily="34" charset="-120"/>
              </a:rPr>
              <a:t>3</a:t>
            </a:r>
            <a:endParaRPr lang="en-US" sz="1500"/>
          </a:p>
        </p:txBody>
      </p:sp>
      <p:sp>
        <p:nvSpPr>
          <p:cNvPr id="12" name="Text 8"/>
          <p:cNvSpPr/>
          <p:nvPr/>
        </p:nvSpPr>
        <p:spPr>
          <a:xfrm>
            <a:off x="8432800" y="4639866"/>
            <a:ext cx="3191764" cy="745430"/>
          </a:xfrm>
          <a:prstGeom prst="rect">
            <a:avLst/>
          </a:prstGeom>
          <a:noFill/>
          <a:ln/>
        </p:spPr>
        <p:txBody>
          <a:bodyPr wrap="square" lIns="0" tIns="0" rIns="0" bIns="0" rtlCol="0" anchor="t">
            <a:normAutofit/>
          </a:bodyPr>
          <a:lstStyle/>
          <a:p>
            <a:pPr marL="0" indent="0" algn="l">
              <a:lnSpc>
                <a:spcPts val="1890"/>
              </a:lnSpc>
              <a:buNone/>
            </a:pPr>
            <a:r>
              <a:rPr lang="en-US" sz="1400">
                <a:solidFill>
                  <a:srgbClr val="1B1B1B"/>
                </a:solidFill>
                <a:latin typeface="Arial" pitchFamily="34" charset="0"/>
                <a:ea typeface="Arial" pitchFamily="34" charset="-122"/>
                <a:cs typeface="Arial" pitchFamily="34" charset="-120"/>
              </a:rPr>
              <a:t>Dispositivo y sistema operativo quedan como candidatos a moderar el efecto del registro en la Parte B.</a:t>
            </a:r>
            <a:endParaRPr lang="en-US" sz="1400"/>
          </a:p>
        </p:txBody>
      </p:sp>
      <p:sp>
        <p:nvSpPr>
          <p:cNvPr id="14" name="Text 10"/>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6</a:t>
            </a:r>
            <a:endParaRPr lang="en-US" sz="1200"/>
          </a:p>
        </p:txBody>
      </p:sp>
    </p:spTree>
    <p:extLst>
      <p:ext uri="{BB962C8B-B14F-4D97-AF65-F5344CB8AC3E}">
        <p14:creationId xmlns:p14="http://schemas.microsoft.com/office/powerpoint/2010/main" val="819704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81000"/>
            <a:ext cx="11201400" cy="762000"/>
          </a:xfrm>
          <a:prstGeom prst="rect">
            <a:avLst/>
          </a:prstGeom>
          <a:noFill/>
          <a:ln/>
        </p:spPr>
        <p:txBody>
          <a:bodyPr wrap="square" lIns="0" tIns="0" rIns="0" bIns="0" rtlCol="0" anchor="t">
            <a:normAutofit/>
          </a:bodyPr>
          <a:lstStyle/>
          <a:p>
            <a:pPr marL="0" indent="0" algn="l">
              <a:lnSpc>
                <a:spcPts val="2912"/>
              </a:lnSpc>
              <a:buNone/>
            </a:pPr>
            <a:r>
              <a:rPr lang="en-US" sz="2600" b="1" i="0">
                <a:solidFill>
                  <a:srgbClr val="051C2C"/>
                </a:solidFill>
                <a:latin typeface="Georgia" pitchFamily="18" charset="0"/>
                <a:ea typeface="Georgia" pitchFamily="18" charset="-122"/>
                <a:cs typeface="Georgia" pitchFamily="18" charset="-120"/>
              </a:rPr>
              <a:t>Un lineal bien especificado compite con los árboles bajo la misma validación del encargo 1</a:t>
            </a:r>
            <a:endParaRPr lang="en-US" sz="260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Parte A · Especificación y validación · Predictivo</a:t>
            </a:r>
            <a:endParaRPr lang="en-US" sz="1400"/>
          </a:p>
        </p:txBody>
      </p:sp>
      <p:sp>
        <p:nvSpPr>
          <p:cNvPr id="20" name="Tarjeta 20"/>
          <p:cNvSpPr/>
          <p:nvPr/>
        </p:nvSpPr>
        <p:spPr>
          <a:xfrm>
            <a:off x="660400" y="1676400"/>
            <a:ext cx="4318000" cy="1524000"/>
          </a:xfrm>
          <a:prstGeom prst="roundRect">
            <a:avLst>
              <a:gd name="adj" fmla="val 7522"/>
            </a:avLst>
          </a:prstGeom>
          <a:noFill/>
          <a:ln w="12700">
            <a:solidFill>
              <a:schemeClr val="tx1">
                <a:lumMod val="25000"/>
                <a:lumOff val="75000"/>
              </a:schemeClr>
            </a:solidFill>
          </a:ln>
        </p:spPr>
        <p:txBody>
          <a:bodyPr wrap="square" lIns="177800" tIns="152400" rIns="177800" bIns="127000" rtlCol="0" anchor="t">
            <a:noAutofit/>
          </a:bodyPr>
          <a:lstStyle/>
          <a:p>
            <a:pPr marL="0" indent="0" algn="l">
              <a:lnSpc>
                <a:spcPct val="100000"/>
              </a:lnSpc>
              <a:spcBef>
                <a:spcPts val="0"/>
              </a:spcBef>
              <a:buNone/>
            </a:pPr>
            <a:r>
              <a:rPr lang="es-ES" sz="1700" b="1" dirty="0">
                <a:solidFill>
                  <a:srgbClr val="051C2C"/>
                </a:solidFill>
                <a:latin typeface="Arial"/>
                <a:ea typeface="Arial"/>
                <a:cs typeface="Arial"/>
              </a:rPr>
              <a:t>Lineal del encargo 1</a:t>
            </a:r>
          </a:p>
          <a:p>
            <a:pPr marL="0" indent="0" algn="l">
              <a:lnSpc>
                <a:spcPct val="100000"/>
              </a:lnSpc>
              <a:spcBef>
                <a:spcPts val="600"/>
              </a:spcBef>
              <a:buNone/>
            </a:pPr>
            <a:r>
              <a:rPr lang="es-ES" sz="1400" dirty="0">
                <a:solidFill>
                  <a:srgbClr val="1B1B1B"/>
                </a:solidFill>
                <a:latin typeface="Arial"/>
                <a:ea typeface="Arial"/>
                <a:cs typeface="Arial"/>
              </a:rPr>
              <a:t>Referencia. Tiempo en el sitio continuo, sesiones anteriores, dispositivo, sistema operativo, usuario recurrente y registro, todos en forma lineal.</a:t>
            </a:r>
          </a:p>
        </p:txBody>
      </p:sp>
      <p:sp>
        <p:nvSpPr>
          <p:cNvPr id="21" name="Tarjeta 21"/>
          <p:cNvSpPr/>
          <p:nvPr/>
        </p:nvSpPr>
        <p:spPr>
          <a:xfrm>
            <a:off x="660400" y="3327400"/>
            <a:ext cx="4318000" cy="1549400"/>
          </a:xfrm>
          <a:prstGeom prst="roundRect">
            <a:avLst>
              <a:gd name="adj" fmla="val 7522"/>
            </a:avLst>
          </a:prstGeom>
          <a:noFill/>
          <a:ln w="12700">
            <a:solidFill>
              <a:schemeClr val="tx1">
                <a:lumMod val="50000"/>
                <a:lumOff val="50000"/>
              </a:schemeClr>
            </a:solidFill>
          </a:ln>
        </p:spPr>
        <p:txBody>
          <a:bodyPr wrap="square" lIns="177800" tIns="152400" rIns="177800" bIns="127000" rtlCol="0" anchor="t">
            <a:noAutofit/>
          </a:bodyPr>
          <a:lstStyle/>
          <a:p>
            <a:pPr marL="0" indent="0" algn="l">
              <a:lnSpc>
                <a:spcPct val="100000"/>
              </a:lnSpc>
              <a:spcBef>
                <a:spcPts val="0"/>
              </a:spcBef>
              <a:buNone/>
            </a:pPr>
            <a:r>
              <a:rPr lang="es-ES" sz="1700" b="1" dirty="0">
                <a:solidFill>
                  <a:srgbClr val="051C2C"/>
                </a:solidFill>
                <a:latin typeface="Arial"/>
                <a:ea typeface="Arial"/>
                <a:cs typeface="Arial"/>
              </a:rPr>
              <a:t>Lineal flexible (nuevo)</a:t>
            </a:r>
          </a:p>
          <a:p>
            <a:pPr marL="0" indent="0" algn="l">
              <a:lnSpc>
                <a:spcPct val="100000"/>
              </a:lnSpc>
              <a:spcBef>
                <a:spcPts val="600"/>
              </a:spcBef>
              <a:buNone/>
            </a:pPr>
            <a:r>
              <a:rPr lang="es-ES" sz="1400" dirty="0">
                <a:solidFill>
                  <a:srgbClr val="1B1B1B"/>
                </a:solidFill>
                <a:latin typeface="Arial"/>
                <a:ea typeface="Arial"/>
                <a:cs typeface="Arial"/>
              </a:rPr>
              <a:t>Indicador de más de 5 minutos, sesiones anteriores y su cruce con el corte. LASSO elige entre 74 términos. Con el corte, el tiempo exacto ya no mejora el error.</a:t>
            </a:r>
          </a:p>
        </p:txBody>
      </p:sp>
      <p:sp>
        <p:nvSpPr>
          <p:cNvPr id="22" name="Tarjeta 22"/>
          <p:cNvSpPr/>
          <p:nvPr/>
        </p:nvSpPr>
        <p:spPr>
          <a:xfrm>
            <a:off x="5130800" y="1676400"/>
            <a:ext cx="6400800" cy="3200400"/>
          </a:xfrm>
          <a:prstGeom prst="roundRect">
            <a:avLst>
              <a:gd name="adj" fmla="val 7522"/>
            </a:avLst>
          </a:prstGeom>
          <a:noFill/>
          <a:ln w="12700">
            <a:solidFill>
              <a:schemeClr val="tx1">
                <a:lumMod val="75000"/>
                <a:lumOff val="25000"/>
              </a:schemeClr>
            </a:solidFill>
          </a:ln>
        </p:spPr>
        <p:txBody>
          <a:bodyPr wrap="square" lIns="177800" tIns="152400" rIns="177800" bIns="127000" rtlCol="0" anchor="t">
            <a:noAutofit/>
          </a:bodyPr>
          <a:lstStyle/>
          <a:p>
            <a:pPr marL="0" indent="0" algn="l">
              <a:lnSpc>
                <a:spcPct val="100000"/>
              </a:lnSpc>
              <a:spcBef>
                <a:spcPts val="0"/>
              </a:spcBef>
              <a:buNone/>
            </a:pPr>
            <a:r>
              <a:rPr lang="es-ES" sz="1700" b="1" dirty="0">
                <a:solidFill>
                  <a:srgbClr val="051C2C"/>
                </a:solidFill>
                <a:latin typeface="Arial"/>
                <a:ea typeface="Arial"/>
                <a:cs typeface="Arial"/>
              </a:rPr>
              <a:t>Árboles (nuevo)</a:t>
            </a:r>
          </a:p>
          <a:p>
            <a:pPr marL="0" indent="0" algn="l">
              <a:lnSpc>
                <a:spcPct val="100000"/>
              </a:lnSpc>
              <a:spcBef>
                <a:spcPts val="600"/>
              </a:spcBef>
              <a:buNone/>
            </a:pPr>
            <a:r>
              <a:rPr lang="es-ES" sz="1400" dirty="0">
                <a:solidFill>
                  <a:srgbClr val="1B1B1B"/>
                </a:solidFill>
                <a:latin typeface="Arial"/>
                <a:ea typeface="Arial"/>
                <a:cs typeface="Arial"/>
              </a:rPr>
              <a:t>Reciben las 6 variables sin corte ni cruce, para ver si los encuentran solos.</a:t>
            </a:r>
          </a:p>
          <a:p>
            <a:pPr marL="0" indent="0" algn="l">
              <a:lnSpc>
                <a:spcPct val="100000"/>
              </a:lnSpc>
              <a:spcBef>
                <a:spcPts val="800"/>
              </a:spcBef>
              <a:buNone/>
            </a:pPr>
            <a:r>
              <a:rPr lang="es-ES" sz="1400" b="1" dirty="0">
                <a:solidFill>
                  <a:srgbClr val="1B1B1B"/>
                </a:solidFill>
                <a:latin typeface="Arial"/>
                <a:ea typeface="Arial"/>
                <a:cs typeface="Arial"/>
              </a:rPr>
              <a:t>Árbol podado: </a:t>
            </a:r>
            <a:r>
              <a:rPr lang="es-ES" sz="1400" dirty="0">
                <a:solidFill>
                  <a:srgbClr val="1B1B1B"/>
                </a:solidFill>
                <a:latin typeface="Arial"/>
                <a:ea typeface="Arial"/>
                <a:cs typeface="Arial"/>
              </a:rPr>
              <a:t>poda elegida con validación cruzada de 5 pliegues y la regla de 1 error estándar (el árbol más simple cuyo error no se distingue del mínimo): 10 hojas en log.</a:t>
            </a:r>
          </a:p>
          <a:p>
            <a:pPr marL="0" indent="0" algn="l">
              <a:lnSpc>
                <a:spcPct val="100000"/>
              </a:lnSpc>
              <a:spcBef>
                <a:spcPts val="800"/>
              </a:spcBef>
              <a:buNone/>
            </a:pPr>
            <a:r>
              <a:rPr lang="es-ES" sz="1400" b="1" dirty="0">
                <a:solidFill>
                  <a:srgbClr val="1B1B1B"/>
                </a:solidFill>
                <a:latin typeface="Arial"/>
                <a:ea typeface="Arial"/>
                <a:cs typeface="Arial"/>
              </a:rPr>
              <a:t>Bosque: </a:t>
            </a:r>
            <a:r>
              <a:rPr lang="es-ES" sz="1400" dirty="0">
                <a:solidFill>
                  <a:srgbClr val="1B1B1B"/>
                </a:solidFill>
                <a:latin typeface="Arial"/>
                <a:ea typeface="Arial"/>
                <a:cs typeface="Arial"/>
              </a:rPr>
              <a:t>se probaron entre 1 y 6 variables por corte y tamaños mínimos de hoja de 5, 25 y 100, con el error fuera de bolsa. Quedó con 3 variables por corte y hojas de 100 usuarios, reestimado con 1,000 árboles. Le gana al bagging (las 6 variables en cada corte): 0.350 frente a 0.354 en log.</a:t>
            </a:r>
          </a:p>
        </p:txBody>
      </p:sp>
      <p:sp>
        <p:nvSpPr>
          <p:cNvPr id="23" name="Franja 23"/>
          <p:cNvSpPr/>
          <p:nvPr/>
        </p:nvSpPr>
        <p:spPr>
          <a:xfrm>
            <a:off x="660400" y="5029200"/>
            <a:ext cx="5308600" cy="1320800"/>
          </a:xfrm>
          <a:prstGeom prst="roundRect">
            <a:avLst>
              <a:gd name="adj" fmla="val 7522"/>
            </a:avLst>
          </a:prstGeom>
          <a:solidFill>
            <a:srgbClr val="051C2C"/>
          </a:solidFill>
          <a:ln>
            <a:noFill/>
          </a:ln>
        </p:spPr>
        <p:txBody>
          <a:bodyPr wrap="square" lIns="228600" tIns="152400" rIns="228600" bIns="127000" rtlCol="0" anchor="t">
            <a:noAutofit/>
          </a:bodyPr>
          <a:lstStyle/>
          <a:p>
            <a:pPr marL="0" indent="0" algn="l">
              <a:lnSpc>
                <a:spcPct val="100000"/>
              </a:lnSpc>
              <a:spcBef>
                <a:spcPts val="0"/>
              </a:spcBef>
              <a:buNone/>
            </a:pPr>
            <a:r>
              <a:rPr lang="es-ES" sz="1700" b="1" dirty="0">
                <a:solidFill>
                  <a:schemeClr val="accent3">
                    <a:lumMod val="40000"/>
                    <a:lumOff val="60000"/>
                  </a:schemeClr>
                </a:solidFill>
                <a:ea typeface="Georgia"/>
                <a:cs typeface="Georgia"/>
              </a:rPr>
              <a:t>Validación</a:t>
            </a:r>
          </a:p>
          <a:p>
            <a:pPr marL="0" indent="0" algn="l">
              <a:lnSpc>
                <a:spcPct val="100000"/>
              </a:lnSpc>
              <a:spcBef>
                <a:spcPts val="500"/>
              </a:spcBef>
              <a:buNone/>
            </a:pPr>
            <a:r>
              <a:rPr lang="es-ES" sz="1400" dirty="0">
                <a:solidFill>
                  <a:srgbClr val="FFFFFF"/>
                </a:solidFill>
                <a:latin typeface="Arial"/>
                <a:ea typeface="Arial"/>
                <a:cs typeface="Arial"/>
              </a:rPr>
              <a:t>Partición 80/20 con semilla 2026. Hiperparámetros solo con validación cruzada en entrenamiento (n = 80,000). Una sola evaluación en prueba (n = 20,000).</a:t>
            </a:r>
          </a:p>
        </p:txBody>
      </p:sp>
      <p:sp>
        <p:nvSpPr>
          <p:cNvPr id="24" name="Franja 24"/>
          <p:cNvSpPr/>
          <p:nvPr/>
        </p:nvSpPr>
        <p:spPr>
          <a:xfrm>
            <a:off x="6121400" y="5029200"/>
            <a:ext cx="5410200" cy="1320800"/>
          </a:xfrm>
          <a:prstGeom prst="roundRect">
            <a:avLst>
              <a:gd name="adj" fmla="val 7522"/>
            </a:avLst>
          </a:prstGeom>
          <a:solidFill>
            <a:srgbClr val="051C2C"/>
          </a:solidFill>
          <a:ln>
            <a:noFill/>
          </a:ln>
        </p:spPr>
        <p:txBody>
          <a:bodyPr wrap="square" lIns="228600" tIns="152400" rIns="228600" bIns="127000" rtlCol="0" anchor="t">
            <a:noAutofit/>
          </a:bodyPr>
          <a:lstStyle/>
          <a:p>
            <a:r>
              <a:rPr lang="es-ES" sz="1700" b="1" dirty="0">
                <a:solidFill>
                  <a:schemeClr val="accent3">
                    <a:lumMod val="40000"/>
                    <a:lumOff val="60000"/>
                  </a:schemeClr>
                </a:solidFill>
              </a:rPr>
              <a:t>Modelo final: bosque aleatorio</a:t>
            </a:r>
          </a:p>
          <a:p>
            <a:pPr marL="0" indent="0" algn="l">
              <a:lnSpc>
                <a:spcPct val="100000"/>
              </a:lnSpc>
              <a:spcBef>
                <a:spcPts val="500"/>
              </a:spcBef>
              <a:buNone/>
            </a:pPr>
            <a:r>
              <a:rPr lang="es-ES" sz="1400" dirty="0">
                <a:solidFill>
                  <a:srgbClr val="FFFFFF"/>
                </a:solidFill>
                <a:latin typeface="Arial"/>
                <a:ea typeface="Arial"/>
                <a:cs typeface="Arial"/>
              </a:rPr>
              <a:t>Presenta un error en prueba menor que el modelo lineal (1.626 frente a 2.31).</a:t>
            </a:r>
          </a:p>
        </p:txBody>
      </p:sp>
      <p:sp>
        <p:nvSpPr>
          <p:cNvPr id="16" name="Text 13"/>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7</a:t>
            </a:r>
            <a:endParaRPr lang="en-US" sz="1200"/>
          </a:p>
        </p:txBody>
      </p:sp>
    </p:spTree>
    <p:extLst>
      <p:ext uri="{BB962C8B-B14F-4D97-AF65-F5344CB8AC3E}">
        <p14:creationId xmlns:p14="http://schemas.microsoft.com/office/powerpoint/2010/main" val="30455931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B506E2C-E34E-14A2-7845-808980D6801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9F2824-73D9-C26F-906B-33C46D229B69}"/>
              </a:ext>
            </a:extLst>
          </p:cNvPr>
          <p:cNvSpPr>
            <a:spLocks noGrp="1"/>
          </p:cNvSpPr>
          <p:nvPr>
            <p:ph type="title"/>
          </p:nvPr>
        </p:nvSpPr>
        <p:spPr>
          <a:xfrm>
            <a:off x="660400" y="378023"/>
            <a:ext cx="11197336" cy="764977"/>
          </a:xfrm>
          <a:prstGeom prst="rect">
            <a:avLst/>
          </a:prstGeom>
          <a:noFill/>
          <a:ln/>
        </p:spPr>
        <p:txBody>
          <a:bodyPr wrap="square" lIns="0" tIns="0" rIns="0" bIns="0" rtlCol="0" anchor="t">
            <a:normAutofit/>
          </a:bodyPr>
          <a:lstStyle/>
          <a:p>
            <a:pPr marL="0" indent="0" algn="l">
              <a:lnSpc>
                <a:spcPts val="2912"/>
              </a:lnSpc>
              <a:buNone/>
            </a:pPr>
            <a:r>
              <a:rPr lang="en-US" sz="2600" b="1" i="0">
                <a:solidFill>
                  <a:srgbClr val="051C2C"/>
                </a:solidFill>
                <a:latin typeface="Georgia" pitchFamily="18" charset="0"/>
                <a:ea typeface="Georgia" pitchFamily="18" charset="-122"/>
                <a:cs typeface="Georgia" pitchFamily="18" charset="-120"/>
              </a:rPr>
              <a:t>Tiempo en el sitio y sesiones anteriores explican casi todo lo que se puede predecir</a:t>
            </a:r>
            <a:endParaRPr lang="en-US" sz="2600"/>
          </a:p>
        </p:txBody>
      </p:sp>
      <p:pic>
        <p:nvPicPr>
          <p:cNvPr id="3" name="Image 0" descr="line">
            <a:extLst>
              <a:ext uri="{FF2B5EF4-FFF2-40B4-BE49-F238E27FC236}">
                <a16:creationId xmlns:a16="http://schemas.microsoft.com/office/drawing/2014/main" id="{EC5613D3-883D-0165-AF37-5831A491BC69}"/>
              </a:ext>
            </a:extLst>
          </p:cNvPr>
          <p:cNvPicPr>
            <a:picLocks noChangeAspect="1"/>
          </p:cNvPicPr>
          <p:nvPr/>
        </p:nvPicPr>
        <p:blipFill>
          <a:blip r:embed="rId3"/>
          <a:srcRect/>
          <a:stretch/>
        </p:blipFill>
        <p:spPr>
          <a:xfrm>
            <a:off x="660400" y="1219200"/>
            <a:ext cx="10871200" cy="19050"/>
          </a:xfrm>
          <a:prstGeom prst="rect">
            <a:avLst/>
          </a:prstGeom>
        </p:spPr>
      </p:pic>
      <p:sp>
        <p:nvSpPr>
          <p:cNvPr id="4" name="Text 1">
            <a:extLst>
              <a:ext uri="{FF2B5EF4-FFF2-40B4-BE49-F238E27FC236}">
                <a16:creationId xmlns:a16="http://schemas.microsoft.com/office/drawing/2014/main" id="{91E377E8-9693-4418-E71B-A6BA24C448C5}"/>
              </a:ext>
            </a:extLst>
          </p:cNvPr>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Parte A · Datos históricos · Predictivo, no causal</a:t>
            </a:r>
            <a:endParaRPr lang="en-US" sz="1400"/>
          </a:p>
        </p:txBody>
      </p:sp>
      <p:sp>
        <p:nvSpPr>
          <p:cNvPr id="28" name="Text 25">
            <a:extLst>
              <a:ext uri="{FF2B5EF4-FFF2-40B4-BE49-F238E27FC236}">
                <a16:creationId xmlns:a16="http://schemas.microsoft.com/office/drawing/2014/main" id="{BEEFD571-436B-041C-3C32-0F0898976F32}"/>
              </a:ext>
            </a:extLst>
          </p:cNvPr>
          <p:cNvSpPr/>
          <p:nvPr/>
        </p:nvSpPr>
        <p:spPr>
          <a:xfrm>
            <a:off x="8346621" y="2510677"/>
            <a:ext cx="3454400" cy="1315641"/>
          </a:xfrm>
          <a:prstGeom prst="roundRect">
            <a:avLst>
              <a:gd name="adj" fmla="val 13514"/>
            </a:avLst>
          </a:prstGeom>
          <a:noFill/>
          <a:ln>
            <a:noFill/>
          </a:ln>
        </p:spPr>
        <p:txBody>
          <a:bodyPr wrap="square" lIns="151124" tIns="125724" rIns="59684" bIns="100324" rtlCol="0" anchor="t">
            <a:normAutofit fontScale="92500"/>
          </a:bodyPr>
          <a:lstStyle/>
          <a:p>
            <a:pPr marL="0" indent="0" algn="ctr">
              <a:lnSpc>
                <a:spcPts val="1890"/>
              </a:lnSpc>
              <a:buNone/>
            </a:pPr>
            <a:r>
              <a:rPr lang="en-US" sz="1600" dirty="0">
                <a:solidFill>
                  <a:srgbClr val="0461B9"/>
                </a:solidFill>
                <a:latin typeface="Arial"/>
                <a:ea typeface="Arial" pitchFamily="34" charset="-122"/>
                <a:cs typeface="Arial"/>
              </a:rPr>
              <a:t>En log, el corte de 5 </a:t>
            </a:r>
            <a:r>
              <a:rPr lang="en-US" sz="1600" dirty="0" err="1">
                <a:solidFill>
                  <a:srgbClr val="0461B9"/>
                </a:solidFill>
                <a:latin typeface="Arial"/>
                <a:ea typeface="Arial" pitchFamily="34" charset="-122"/>
                <a:cs typeface="Arial"/>
              </a:rPr>
              <a:t>minutos</a:t>
            </a:r>
            <a:r>
              <a:rPr lang="en-US" sz="1600" dirty="0">
                <a:solidFill>
                  <a:srgbClr val="0461B9"/>
                </a:solidFill>
                <a:latin typeface="Arial"/>
                <a:ea typeface="Arial" pitchFamily="34" charset="-122"/>
                <a:cs typeface="Arial"/>
              </a:rPr>
              <a:t> da el </a:t>
            </a:r>
            <a:r>
              <a:rPr lang="en-US" sz="1600" b="1" dirty="0">
                <a:solidFill>
                  <a:srgbClr val="0461B9"/>
                </a:solidFill>
                <a:latin typeface="Arial"/>
                <a:ea typeface="Arial" pitchFamily="34" charset="-122"/>
                <a:cs typeface="Arial"/>
              </a:rPr>
              <a:t>60% de la </a:t>
            </a:r>
            <a:r>
              <a:rPr lang="en-US" sz="1600" b="1" dirty="0" err="1">
                <a:solidFill>
                  <a:srgbClr val="0461B9"/>
                </a:solidFill>
                <a:latin typeface="Arial"/>
                <a:ea typeface="Arial" pitchFamily="34" charset="-122"/>
                <a:cs typeface="Arial"/>
              </a:rPr>
              <a:t>caída</a:t>
            </a:r>
            <a:r>
              <a:rPr lang="en-US" sz="1600" b="1" dirty="0">
                <a:solidFill>
                  <a:srgbClr val="0461B9"/>
                </a:solidFill>
                <a:latin typeface="Arial"/>
                <a:ea typeface="Arial" pitchFamily="34" charset="-122"/>
                <a:cs typeface="Arial"/>
              </a:rPr>
              <a:t> del error</a:t>
            </a:r>
            <a:r>
              <a:rPr lang="en-US" sz="1600" dirty="0">
                <a:solidFill>
                  <a:srgbClr val="0461B9"/>
                </a:solidFill>
                <a:latin typeface="Arial"/>
                <a:ea typeface="Arial" pitchFamily="34" charset="-122"/>
                <a:cs typeface="Arial"/>
              </a:rPr>
              <a:t>, </a:t>
            </a:r>
            <a:r>
              <a:rPr lang="en-US" sz="1600" dirty="0" err="1">
                <a:solidFill>
                  <a:srgbClr val="0461B9"/>
                </a:solidFill>
                <a:latin typeface="Arial"/>
                <a:ea typeface="Arial" pitchFamily="34" charset="-122"/>
                <a:cs typeface="Arial"/>
              </a:rPr>
              <a:t>sesiones</a:t>
            </a:r>
            <a:r>
              <a:rPr lang="en-US" sz="1600" dirty="0">
                <a:solidFill>
                  <a:srgbClr val="0461B9"/>
                </a:solidFill>
                <a:latin typeface="Arial"/>
                <a:ea typeface="Arial" pitchFamily="34" charset="-122"/>
                <a:cs typeface="Arial"/>
              </a:rPr>
              <a:t> y </a:t>
            </a:r>
            <a:r>
              <a:rPr lang="en-US" sz="1600" dirty="0" err="1">
                <a:solidFill>
                  <a:srgbClr val="0461B9"/>
                </a:solidFill>
                <a:latin typeface="Arial"/>
                <a:ea typeface="Arial" pitchFamily="34" charset="-122"/>
                <a:cs typeface="Arial"/>
              </a:rPr>
              <a:t>su</a:t>
            </a:r>
            <a:r>
              <a:rPr lang="en-US" sz="1600" dirty="0">
                <a:solidFill>
                  <a:srgbClr val="0461B9"/>
                </a:solidFill>
                <a:latin typeface="Arial"/>
                <a:ea typeface="Arial" pitchFamily="34" charset="-122"/>
                <a:cs typeface="Arial"/>
              </a:rPr>
              <a:t> </a:t>
            </a:r>
            <a:r>
              <a:rPr lang="en-US" sz="1600" dirty="0" err="1">
                <a:solidFill>
                  <a:srgbClr val="0461B9"/>
                </a:solidFill>
                <a:latin typeface="Arial"/>
                <a:ea typeface="Arial" pitchFamily="34" charset="-122"/>
                <a:cs typeface="Arial"/>
              </a:rPr>
              <a:t>cruce</a:t>
            </a:r>
            <a:r>
              <a:rPr lang="en-US" sz="1600" dirty="0">
                <a:solidFill>
                  <a:srgbClr val="0461B9"/>
                </a:solidFill>
                <a:latin typeface="Arial"/>
                <a:ea typeface="Arial" pitchFamily="34" charset="-122"/>
                <a:cs typeface="Arial"/>
              </a:rPr>
              <a:t> el 33% y </a:t>
            </a:r>
            <a:r>
              <a:rPr lang="en-US" sz="1600" dirty="0" err="1">
                <a:solidFill>
                  <a:srgbClr val="0461B9"/>
                </a:solidFill>
                <a:latin typeface="Arial"/>
                <a:ea typeface="Arial" pitchFamily="34" charset="-122"/>
                <a:cs typeface="Arial"/>
              </a:rPr>
              <a:t>dispositivo</a:t>
            </a:r>
            <a:r>
              <a:rPr lang="en-US" sz="1600" dirty="0">
                <a:solidFill>
                  <a:srgbClr val="0461B9"/>
                </a:solidFill>
                <a:latin typeface="Arial"/>
                <a:ea typeface="Arial" pitchFamily="34" charset="-122"/>
                <a:cs typeface="Arial"/>
              </a:rPr>
              <a:t> el 6%. </a:t>
            </a:r>
            <a:r>
              <a:rPr lang="en-US" sz="1600" b="1" dirty="0">
                <a:solidFill>
                  <a:srgbClr val="0461B9"/>
                </a:solidFill>
                <a:latin typeface="Arial"/>
                <a:ea typeface="Arial" pitchFamily="34" charset="-122"/>
                <a:cs typeface="Arial"/>
              </a:rPr>
              <a:t>El </a:t>
            </a:r>
            <a:r>
              <a:rPr lang="en-US" sz="1600" b="1" dirty="0" err="1">
                <a:solidFill>
                  <a:srgbClr val="0461B9"/>
                </a:solidFill>
                <a:latin typeface="Arial"/>
                <a:ea typeface="Arial" pitchFamily="34" charset="-122"/>
                <a:cs typeface="Arial"/>
              </a:rPr>
              <a:t>registro</a:t>
            </a:r>
            <a:r>
              <a:rPr lang="en-US" sz="1600" b="1" dirty="0">
                <a:solidFill>
                  <a:srgbClr val="0461B9"/>
                </a:solidFill>
                <a:latin typeface="Arial"/>
                <a:ea typeface="Arial" pitchFamily="34" charset="-122"/>
                <a:cs typeface="Arial"/>
              </a:rPr>
              <a:t> no </a:t>
            </a:r>
            <a:r>
              <a:rPr lang="en-US" sz="1600" b="1" dirty="0" err="1">
                <a:solidFill>
                  <a:srgbClr val="0461B9"/>
                </a:solidFill>
                <a:latin typeface="Arial"/>
                <a:ea typeface="Arial" pitchFamily="34" charset="-122"/>
                <a:cs typeface="Arial"/>
              </a:rPr>
              <a:t>aporta</a:t>
            </a:r>
            <a:r>
              <a:rPr lang="en-US" sz="1600" b="1" dirty="0">
                <a:solidFill>
                  <a:srgbClr val="0461B9"/>
                </a:solidFill>
                <a:latin typeface="Arial"/>
                <a:ea typeface="Arial" pitchFamily="34" charset="-122"/>
                <a:cs typeface="Arial"/>
              </a:rPr>
              <a:t>.</a:t>
            </a:r>
            <a:endParaRPr lang="en-US" sz="1600" b="1" dirty="0">
              <a:solidFill>
                <a:srgbClr val="0461B9"/>
              </a:solidFill>
              <a:latin typeface="Arial"/>
              <a:cs typeface="Arial"/>
            </a:endParaRPr>
          </a:p>
        </p:txBody>
      </p:sp>
      <p:sp>
        <p:nvSpPr>
          <p:cNvPr id="29" name="Text 26">
            <a:extLst>
              <a:ext uri="{FF2B5EF4-FFF2-40B4-BE49-F238E27FC236}">
                <a16:creationId xmlns:a16="http://schemas.microsoft.com/office/drawing/2014/main" id="{F5AC7B50-F298-28F8-93D7-C80865A1B947}"/>
              </a:ext>
            </a:extLst>
          </p:cNvPr>
          <p:cNvSpPr/>
          <p:nvPr/>
        </p:nvSpPr>
        <p:spPr>
          <a:xfrm>
            <a:off x="7564212" y="3969798"/>
            <a:ext cx="5019218" cy="2083989"/>
          </a:xfrm>
          <a:prstGeom prst="roundRect">
            <a:avLst>
              <a:gd name="adj" fmla="val 11128"/>
            </a:avLst>
          </a:prstGeom>
          <a:noFill/>
          <a:ln w="19050">
            <a:noFill/>
            <a:prstDash val="solid"/>
          </a:ln>
        </p:spPr>
        <p:txBody>
          <a:bodyPr wrap="square" lIns="170878" tIns="120078" rIns="80581" bIns="94678" rtlCol="0" anchor="t">
            <a:normAutofit/>
          </a:bodyPr>
          <a:lstStyle/>
          <a:p>
            <a:pPr algn="ctr">
              <a:lnSpc>
                <a:spcPts val="1890"/>
              </a:lnSpc>
            </a:pPr>
            <a:r>
              <a:rPr lang="en-US" b="1">
                <a:solidFill>
                  <a:srgbClr val="022B52"/>
                </a:solidFill>
                <a:latin typeface="Georgia"/>
                <a:ea typeface="Arial" pitchFamily="34" charset="-122"/>
                <a:cs typeface="Arial"/>
              </a:rPr>
              <a:t>El bosque </a:t>
            </a:r>
            <a:r>
              <a:rPr lang="en-US" b="1" err="1">
                <a:solidFill>
                  <a:srgbClr val="022B52"/>
                </a:solidFill>
                <a:latin typeface="Georgia"/>
                <a:ea typeface="Arial" pitchFamily="34" charset="-122"/>
                <a:cs typeface="Arial"/>
              </a:rPr>
              <a:t>confirma</a:t>
            </a:r>
            <a:r>
              <a:rPr lang="en-US" b="1">
                <a:solidFill>
                  <a:srgbClr val="022B52"/>
                </a:solidFill>
                <a:latin typeface="Georgia"/>
                <a:ea typeface="Arial" pitchFamily="34" charset="-122"/>
                <a:cs typeface="Arial"/>
              </a:rPr>
              <a:t> el </a:t>
            </a:r>
            <a:r>
              <a:rPr lang="en-US" b="1" err="1">
                <a:solidFill>
                  <a:srgbClr val="022B52"/>
                </a:solidFill>
                <a:latin typeface="Georgia"/>
                <a:ea typeface="Arial" pitchFamily="34" charset="-122"/>
                <a:cs typeface="Arial"/>
              </a:rPr>
              <a:t>orden</a:t>
            </a:r>
            <a:r>
              <a:rPr lang="en-US" b="1">
                <a:solidFill>
                  <a:srgbClr val="022B52"/>
                </a:solidFill>
                <a:latin typeface="Georgia"/>
                <a:ea typeface="Arial" pitchFamily="34" charset="-122"/>
                <a:cs typeface="Arial"/>
              </a:rPr>
              <a:t>:</a:t>
            </a:r>
            <a:r>
              <a:rPr lang="en-US">
                <a:solidFill>
                  <a:srgbClr val="022B52"/>
                </a:solidFill>
                <a:latin typeface="Georgia"/>
                <a:ea typeface="Arial" pitchFamily="34" charset="-122"/>
                <a:cs typeface="Arial"/>
              </a:rPr>
              <a:t> </a:t>
            </a:r>
            <a:endParaRPr lang="en-US">
              <a:solidFill>
                <a:srgbClr val="051C2C"/>
              </a:solidFill>
              <a:latin typeface="Georgia"/>
              <a:ea typeface="Arial" pitchFamily="34" charset="-122"/>
              <a:cs typeface="Arial"/>
            </a:endParaRPr>
          </a:p>
          <a:p>
            <a:pPr algn="ctr">
              <a:lnSpc>
                <a:spcPts val="1889"/>
              </a:lnSpc>
            </a:pPr>
            <a:endParaRPr lang="en-US">
              <a:solidFill>
                <a:srgbClr val="022B52"/>
              </a:solidFill>
              <a:latin typeface="Georgia"/>
              <a:ea typeface="Arial" pitchFamily="34" charset="-122"/>
              <a:cs typeface="Arial"/>
            </a:endParaRPr>
          </a:p>
          <a:p>
            <a:pPr algn="ctr">
              <a:lnSpc>
                <a:spcPts val="1889"/>
              </a:lnSpc>
            </a:pPr>
            <a:r>
              <a:rPr lang="en-US">
                <a:solidFill>
                  <a:srgbClr val="022B52"/>
                </a:solidFill>
                <a:latin typeface="Georgia"/>
                <a:ea typeface="Arial" pitchFamily="34" charset="-122"/>
                <a:cs typeface="Arial"/>
              </a:rPr>
              <a:t>Tiempo 66% | Sesiones 29%, </a:t>
            </a:r>
            <a:endParaRPr lang="en-US">
              <a:solidFill>
                <a:srgbClr val="051C2C"/>
              </a:solidFill>
              <a:latin typeface="Georgia"/>
              <a:ea typeface="Arial" pitchFamily="34" charset="-122"/>
              <a:cs typeface="Arial"/>
            </a:endParaRPr>
          </a:p>
          <a:p>
            <a:pPr algn="ctr">
              <a:lnSpc>
                <a:spcPts val="1889"/>
              </a:lnSpc>
            </a:pPr>
            <a:r>
              <a:rPr lang="en-US" err="1">
                <a:solidFill>
                  <a:srgbClr val="022B52"/>
                </a:solidFill>
                <a:latin typeface="Georgia"/>
                <a:ea typeface="Arial" pitchFamily="34" charset="-122"/>
                <a:cs typeface="Arial"/>
              </a:rPr>
              <a:t>Dispositivo</a:t>
            </a:r>
            <a:r>
              <a:rPr lang="en-US">
                <a:solidFill>
                  <a:srgbClr val="022B52"/>
                </a:solidFill>
                <a:latin typeface="Georgia"/>
                <a:ea typeface="Arial" pitchFamily="34" charset="-122"/>
                <a:cs typeface="Arial"/>
              </a:rPr>
              <a:t> 4% | Sistema </a:t>
            </a:r>
            <a:r>
              <a:rPr lang="en-US" err="1">
                <a:solidFill>
                  <a:srgbClr val="022B52"/>
                </a:solidFill>
                <a:latin typeface="Georgia"/>
                <a:ea typeface="Arial" pitchFamily="34" charset="-122"/>
                <a:cs typeface="Arial"/>
              </a:rPr>
              <a:t>operativo</a:t>
            </a:r>
            <a:r>
              <a:rPr lang="en-US">
                <a:solidFill>
                  <a:srgbClr val="022B52"/>
                </a:solidFill>
                <a:latin typeface="Georgia"/>
                <a:ea typeface="Arial" pitchFamily="34" charset="-122"/>
                <a:cs typeface="Arial"/>
              </a:rPr>
              <a:t> 2%</a:t>
            </a:r>
            <a:endParaRPr lang="en-US">
              <a:latin typeface="Georgia"/>
              <a:cs typeface="Arial"/>
            </a:endParaRPr>
          </a:p>
        </p:txBody>
      </p:sp>
      <p:sp>
        <p:nvSpPr>
          <p:cNvPr id="31" name="Text 28">
            <a:extLst>
              <a:ext uri="{FF2B5EF4-FFF2-40B4-BE49-F238E27FC236}">
                <a16:creationId xmlns:a16="http://schemas.microsoft.com/office/drawing/2014/main" id="{ECA9D522-4DBB-9EA2-522F-4781ED8C7E0C}"/>
              </a:ext>
            </a:extLst>
          </p:cNvPr>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8</a:t>
            </a:r>
            <a:endParaRPr lang="en-US" sz="1200"/>
          </a:p>
        </p:txBody>
      </p:sp>
      <p:pic>
        <p:nvPicPr>
          <p:cNvPr id="36" name="Picture 35">
            <a:extLst>
              <a:ext uri="{FF2B5EF4-FFF2-40B4-BE49-F238E27FC236}">
                <a16:creationId xmlns:a16="http://schemas.microsoft.com/office/drawing/2014/main" id="{C134DB17-16D0-4CC9-941F-7B080DFD08D4}"/>
              </a:ext>
            </a:extLst>
          </p:cNvPr>
          <p:cNvPicPr>
            <a:picLocks noChangeAspect="1"/>
          </p:cNvPicPr>
          <p:nvPr/>
        </p:nvPicPr>
        <p:blipFill>
          <a:blip r:embed="rId4"/>
          <a:stretch>
            <a:fillRect/>
          </a:stretch>
        </p:blipFill>
        <p:spPr>
          <a:xfrm>
            <a:off x="390979" y="1621654"/>
            <a:ext cx="7007348" cy="4926486"/>
          </a:xfrm>
          <a:prstGeom prst="rect">
            <a:avLst/>
          </a:prstGeom>
        </p:spPr>
      </p:pic>
    </p:spTree>
    <p:extLst>
      <p:ext uri="{BB962C8B-B14F-4D97-AF65-F5344CB8AC3E}">
        <p14:creationId xmlns:p14="http://schemas.microsoft.com/office/powerpoint/2010/main" val="8392710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78023"/>
            <a:ext cx="11197336" cy="764977"/>
          </a:xfrm>
          <a:prstGeom prst="rect">
            <a:avLst/>
          </a:prstGeom>
          <a:noFill/>
          <a:ln/>
        </p:spPr>
        <p:txBody>
          <a:bodyPr wrap="square" lIns="0" tIns="0" rIns="0" bIns="0" rtlCol="0" anchor="t">
            <a:normAutofit/>
          </a:bodyPr>
          <a:lstStyle/>
          <a:p>
            <a:pPr marL="0" indent="0" algn="l">
              <a:lnSpc>
                <a:spcPts val="2912"/>
              </a:lnSpc>
              <a:buNone/>
            </a:pPr>
            <a:r>
              <a:rPr lang="en-US" sz="2600" b="1" i="0">
                <a:solidFill>
                  <a:srgbClr val="051C2C"/>
                </a:solidFill>
                <a:latin typeface="Georgia" pitchFamily="18" charset="0"/>
                <a:ea typeface="Georgia" pitchFamily="18" charset="-122"/>
                <a:cs typeface="Georgia" pitchFamily="18" charset="-120"/>
              </a:rPr>
              <a:t>Los árboles bajan el error de 2.31 a 1.63 dólares; 68% de la mejora la logra un lineal bien especificado</a:t>
            </a:r>
            <a:endParaRPr lang="en-US" sz="260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Parte A · Muestra de prueba (n = 20,000) · Predictivo, no causal</a:t>
            </a:r>
            <a:endParaRPr lang="en-US" sz="1400"/>
          </a:p>
        </p:txBody>
      </p:sp>
      <p:graphicFrame>
        <p:nvGraphicFramePr>
          <p:cNvPr id="5" name="Table 0"/>
          <p:cNvGraphicFramePr>
            <a:graphicFrameLocks noGrp="1"/>
          </p:cNvGraphicFramePr>
          <p:nvPr/>
        </p:nvGraphicFramePr>
        <p:xfrm>
          <a:off x="673100" y="1316484"/>
          <a:ext cx="5702301" cy="5031480"/>
        </p:xfrm>
        <a:graphic>
          <a:graphicData uri="http://schemas.openxmlformats.org/drawingml/2006/table">
            <a:tbl>
              <a:tblPr/>
              <a:tblGrid>
                <a:gridCol w="1900767">
                  <a:extLst>
                    <a:ext uri="{9D8B030D-6E8A-4147-A177-3AD203B41FA5}">
                      <a16:colId xmlns:a16="http://schemas.microsoft.com/office/drawing/2014/main" val="20000"/>
                    </a:ext>
                  </a:extLst>
                </a:gridCol>
                <a:gridCol w="1900767">
                  <a:extLst>
                    <a:ext uri="{9D8B030D-6E8A-4147-A177-3AD203B41FA5}">
                      <a16:colId xmlns:a16="http://schemas.microsoft.com/office/drawing/2014/main" val="20001"/>
                    </a:ext>
                  </a:extLst>
                </a:gridCol>
                <a:gridCol w="1900767">
                  <a:extLst>
                    <a:ext uri="{9D8B030D-6E8A-4147-A177-3AD203B41FA5}">
                      <a16:colId xmlns:a16="http://schemas.microsoft.com/office/drawing/2014/main" val="20002"/>
                    </a:ext>
                  </a:extLst>
                </a:gridCol>
              </a:tblGrid>
              <a:tr h="759420">
                <a:tc>
                  <a:txBody>
                    <a:bodyPr/>
                    <a:lstStyle/>
                    <a:p>
                      <a:pPr marL="0" indent="0">
                        <a:lnSpc>
                          <a:spcPts val="2240"/>
                        </a:lnSpc>
                        <a:buNone/>
                      </a:pPr>
                      <a:r>
                        <a:rPr lang="en-US" sz="1600" b="1">
                          <a:solidFill>
                            <a:srgbClr val="FFFFFF"/>
                          </a:solidFill>
                          <a:latin typeface="Arial" pitchFamily="34" charset="0"/>
                          <a:ea typeface="Arial" pitchFamily="34" charset="-122"/>
                          <a:cs typeface="Arial" pitchFamily="34" charset="-120"/>
                        </a:rPr>
                        <a:t>Modelo</a:t>
                      </a:r>
                      <a:endParaRPr lang="en-US" sz="160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264E8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64E83"/>
                      </a:solidFill>
                      <a:prstDash val="solid"/>
                      <a:round/>
                      <a:headEnd type="none" w="med" len="med"/>
                      <a:tailEnd type="none" w="med" len="med"/>
                    </a:lnB>
                    <a:solidFill>
                      <a:srgbClr val="2B5EA3"/>
                    </a:solidFill>
                  </a:tcPr>
                </a:tc>
                <a:tc>
                  <a:txBody>
                    <a:bodyPr/>
                    <a:lstStyle/>
                    <a:p>
                      <a:pPr marL="0" indent="0" algn="r">
                        <a:lnSpc>
                          <a:spcPts val="2240"/>
                        </a:lnSpc>
                        <a:buNone/>
                      </a:pPr>
                      <a:r>
                        <a:rPr lang="en-US" sz="1600" b="1">
                          <a:solidFill>
                            <a:srgbClr val="FFFFFF"/>
                          </a:solidFill>
                          <a:latin typeface="Arial" pitchFamily="34" charset="0"/>
                          <a:ea typeface="Arial" pitchFamily="34" charset="-122"/>
                          <a:cs typeface="Arial" pitchFamily="34" charset="-120"/>
                        </a:rPr>
                        <a:t>RMSE en dólares</a:t>
                      </a:r>
                      <a:endParaRPr lang="en-US" sz="1600">
                        <a:latin typeface="Arial" charset="0"/>
                        <a:ea typeface="Arial" charset="0"/>
                        <a:cs typeface="Arial" charset="0"/>
                      </a:endParaRPr>
                    </a:p>
                  </a:txBody>
                  <a:tcPr marL="114300" marR="114300" marT="88900" marB="88900">
                    <a:lnL w="12700" cap="flat" cmpd="sng" algn="ctr">
                      <a:solidFill>
                        <a:srgbClr val="264E83"/>
                      </a:solidFill>
                      <a:prstDash val="solid"/>
                      <a:round/>
                      <a:headEnd type="none" w="med" len="med"/>
                      <a:tailEnd type="none" w="med" len="med"/>
                    </a:lnL>
                    <a:lnR w="12700" cap="flat" cmpd="sng" algn="ctr">
                      <a:solidFill>
                        <a:srgbClr val="264E8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64E83"/>
                      </a:solidFill>
                      <a:prstDash val="solid"/>
                      <a:round/>
                      <a:headEnd type="none" w="med" len="med"/>
                      <a:tailEnd type="none" w="med" len="med"/>
                    </a:lnB>
                    <a:solidFill>
                      <a:srgbClr val="2B5EA3"/>
                    </a:solidFill>
                  </a:tcPr>
                </a:tc>
                <a:tc>
                  <a:txBody>
                    <a:bodyPr/>
                    <a:lstStyle/>
                    <a:p>
                      <a:pPr marL="0" indent="0" algn="r">
                        <a:lnSpc>
                          <a:spcPts val="2240"/>
                        </a:lnSpc>
                        <a:buNone/>
                      </a:pPr>
                      <a:r>
                        <a:rPr lang="en-US" sz="1600" b="1">
                          <a:solidFill>
                            <a:srgbClr val="FFFFFF"/>
                          </a:solidFill>
                          <a:latin typeface="Arial" pitchFamily="34" charset="0"/>
                          <a:ea typeface="Arial" pitchFamily="34" charset="-122"/>
                          <a:cs typeface="Arial" pitchFamily="34" charset="-120"/>
                        </a:rPr>
                        <a:t>RMSE en log</a:t>
                      </a:r>
                      <a:endParaRPr lang="en-US" sz="1600">
                        <a:latin typeface="Arial" charset="0"/>
                        <a:ea typeface="Arial" charset="0"/>
                        <a:cs typeface="Arial" charset="0"/>
                      </a:endParaRPr>
                    </a:p>
                  </a:txBody>
                  <a:tcPr marL="114300" marR="114300" marT="88900" marB="88900">
                    <a:lnL w="12700" cap="flat" cmpd="sng" algn="ctr">
                      <a:solidFill>
                        <a:srgbClr val="264E83"/>
                      </a:solidFill>
                      <a:prstDash val="solid"/>
                      <a:round/>
                      <a:headEnd type="none" w="med" len="med"/>
                      <a:tailEnd type="none" w="med" len="med"/>
                    </a:lnL>
                    <a:lnR w="12700" cap="flat" cmpd="sng" algn="ctr">
                      <a:solidFill>
                        <a:srgbClr val="264E8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64E83"/>
                      </a:solidFill>
                      <a:prstDash val="solid"/>
                      <a:round/>
                      <a:headEnd type="none" w="med" len="med"/>
                      <a:tailEnd type="none" w="med" len="med"/>
                    </a:lnB>
                    <a:solidFill>
                      <a:srgbClr val="2B5EA3"/>
                    </a:solidFill>
                  </a:tcPr>
                </a:tc>
                <a:extLst>
                  <a:ext uri="{0D108BD9-81ED-4DB2-BD59-A6C34878D82A}">
                    <a16:rowId xmlns:a16="http://schemas.microsoft.com/office/drawing/2014/main" val="10000"/>
                  </a:ext>
                </a:extLst>
              </a:tr>
              <a:tr h="1043880">
                <a:tc>
                  <a:txBody>
                    <a:bodyPr/>
                    <a:lstStyle/>
                    <a:p>
                      <a:pPr marL="0" indent="0">
                        <a:lnSpc>
                          <a:spcPts val="2240"/>
                        </a:lnSpc>
                        <a:buNone/>
                      </a:pPr>
                      <a:r>
                        <a:rPr lang="en-US" sz="1600">
                          <a:solidFill>
                            <a:srgbClr val="1B1B1B"/>
                          </a:solidFill>
                          <a:latin typeface="Arial" pitchFamily="34" charset="0"/>
                          <a:ea typeface="Arial" pitchFamily="34" charset="-122"/>
                          <a:cs typeface="Arial" pitchFamily="34" charset="-120"/>
                        </a:rPr>
                        <a:t>Referencia ingenua (promedio)</a:t>
                      </a:r>
                      <a:endParaRPr lang="en-US" sz="160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4E8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a:solidFill>
                            <a:srgbClr val="1B1B1B"/>
                          </a:solidFill>
                          <a:latin typeface="Arial" pitchFamily="34" charset="0"/>
                          <a:ea typeface="Arial" pitchFamily="34" charset="-122"/>
                          <a:cs typeface="Arial" pitchFamily="34" charset="-120"/>
                        </a:rPr>
                        <a:t>2.716</a:t>
                      </a:r>
                      <a:endParaRPr lang="en-US" sz="160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4E8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a:solidFill>
                            <a:srgbClr val="1B1B1B"/>
                          </a:solidFill>
                          <a:latin typeface="Arial" pitchFamily="34" charset="0"/>
                          <a:ea typeface="Arial" pitchFamily="34" charset="-122"/>
                          <a:cs typeface="Arial" pitchFamily="34" charset="-120"/>
                        </a:rPr>
                        <a:t>0.534</a:t>
                      </a:r>
                      <a:endParaRPr lang="en-US" sz="160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4E8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759420">
                <a:tc>
                  <a:txBody>
                    <a:bodyPr/>
                    <a:lstStyle/>
                    <a:p>
                      <a:pPr marL="0" indent="0">
                        <a:lnSpc>
                          <a:spcPts val="2240"/>
                        </a:lnSpc>
                        <a:buNone/>
                      </a:pPr>
                      <a:r>
                        <a:rPr lang="en-US" sz="1600">
                          <a:solidFill>
                            <a:srgbClr val="1B1B1B"/>
                          </a:solidFill>
                          <a:latin typeface="Arial" pitchFamily="34" charset="0"/>
                          <a:ea typeface="Arial" pitchFamily="34" charset="-122"/>
                          <a:cs typeface="Arial" pitchFamily="34" charset="-120"/>
                        </a:rPr>
                        <a:t>Lineal del encargo 1</a:t>
                      </a:r>
                      <a:endParaRPr lang="en-US" sz="160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a:solidFill>
                            <a:srgbClr val="1B1B1B"/>
                          </a:solidFill>
                          <a:latin typeface="Arial" pitchFamily="34" charset="0"/>
                          <a:ea typeface="Arial" pitchFamily="34" charset="-122"/>
                          <a:cs typeface="Arial" pitchFamily="34" charset="-120"/>
                        </a:rPr>
                        <a:t>2.314</a:t>
                      </a:r>
                      <a:endParaRPr lang="en-US" sz="160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a:solidFill>
                            <a:srgbClr val="1B1B1B"/>
                          </a:solidFill>
                          <a:latin typeface="Arial" pitchFamily="34" charset="0"/>
                          <a:ea typeface="Arial" pitchFamily="34" charset="-122"/>
                          <a:cs typeface="Arial" pitchFamily="34" charset="-120"/>
                        </a:rPr>
                        <a:t>0.452</a:t>
                      </a:r>
                      <a:endParaRPr lang="en-US" sz="160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759420">
                <a:tc>
                  <a:txBody>
                    <a:bodyPr/>
                    <a:lstStyle/>
                    <a:p>
                      <a:pPr marL="0" indent="0">
                        <a:lnSpc>
                          <a:spcPts val="2240"/>
                        </a:lnSpc>
                        <a:buNone/>
                      </a:pPr>
                      <a:r>
                        <a:rPr lang="en-US" sz="1600">
                          <a:solidFill>
                            <a:srgbClr val="1B1B1B"/>
                          </a:solidFill>
                          <a:latin typeface="Arial" pitchFamily="34" charset="0"/>
                          <a:ea typeface="Arial" pitchFamily="34" charset="-122"/>
                          <a:cs typeface="Arial" pitchFamily="34" charset="-120"/>
                        </a:rPr>
                        <a:t>Lineal con corte y cruce</a:t>
                      </a:r>
                      <a:endParaRPr lang="en-US" sz="160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a:solidFill>
                            <a:srgbClr val="1B1B1B"/>
                          </a:solidFill>
                          <a:latin typeface="Arial" pitchFamily="34" charset="0"/>
                          <a:ea typeface="Arial" pitchFamily="34" charset="-122"/>
                          <a:cs typeface="Arial" pitchFamily="34" charset="-120"/>
                        </a:rPr>
                        <a:t>1.845</a:t>
                      </a:r>
                      <a:endParaRPr lang="en-US" sz="160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a:solidFill>
                            <a:srgbClr val="1B1B1B"/>
                          </a:solidFill>
                          <a:latin typeface="Arial" pitchFamily="34" charset="0"/>
                          <a:ea typeface="Arial" pitchFamily="34" charset="-122"/>
                          <a:cs typeface="Arial" pitchFamily="34" charset="-120"/>
                        </a:rPr>
                        <a:t>0.369</a:t>
                      </a:r>
                      <a:endParaRPr lang="en-US" sz="160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759420">
                <a:tc>
                  <a:txBody>
                    <a:bodyPr/>
                    <a:lstStyle/>
                    <a:p>
                      <a:pPr marL="0" indent="0">
                        <a:lnSpc>
                          <a:spcPts val="2240"/>
                        </a:lnSpc>
                        <a:buNone/>
                      </a:pPr>
                      <a:r>
                        <a:rPr lang="en-US" sz="1600" dirty="0">
                          <a:solidFill>
                            <a:srgbClr val="1B1B1B"/>
                          </a:solidFill>
                          <a:latin typeface="Arial" pitchFamily="34" charset="0"/>
                          <a:ea typeface="Arial" pitchFamily="34" charset="-122"/>
                          <a:cs typeface="Arial" pitchFamily="34" charset="-120"/>
                        </a:rPr>
                        <a:t>LASSO (74 </a:t>
                      </a:r>
                      <a:r>
                        <a:rPr lang="en-US" sz="1600" dirty="0" err="1">
                          <a:solidFill>
                            <a:srgbClr val="1B1B1B"/>
                          </a:solidFill>
                          <a:latin typeface="Arial" pitchFamily="34" charset="0"/>
                          <a:ea typeface="Arial" pitchFamily="34" charset="-122"/>
                          <a:cs typeface="Arial" pitchFamily="34" charset="-120"/>
                        </a:rPr>
                        <a:t>términos</a:t>
                      </a:r>
                      <a:r>
                        <a:rPr lang="en-US" sz="1600" dirty="0">
                          <a:solidFill>
                            <a:srgbClr val="1B1B1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a:solidFill>
                            <a:srgbClr val="1B1B1B"/>
                          </a:solidFill>
                          <a:latin typeface="Arial" pitchFamily="34" charset="0"/>
                          <a:ea typeface="Arial" pitchFamily="34" charset="-122"/>
                          <a:cs typeface="Arial" pitchFamily="34" charset="-120"/>
                        </a:rPr>
                        <a:t>1.765</a:t>
                      </a:r>
                      <a:endParaRPr lang="en-US" sz="160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a:solidFill>
                            <a:srgbClr val="1B1B1B"/>
                          </a:solidFill>
                          <a:latin typeface="Arial" pitchFamily="34" charset="0"/>
                          <a:ea typeface="Arial" pitchFamily="34" charset="-122"/>
                          <a:cs typeface="Arial" pitchFamily="34" charset="-120"/>
                        </a:rPr>
                        <a:t>0.361</a:t>
                      </a:r>
                      <a:endParaRPr lang="en-US" sz="160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474960">
                <a:tc>
                  <a:txBody>
                    <a:bodyPr/>
                    <a:lstStyle/>
                    <a:p>
                      <a:pPr marL="0" indent="0">
                        <a:lnSpc>
                          <a:spcPts val="2240"/>
                        </a:lnSpc>
                        <a:buNone/>
                      </a:pPr>
                      <a:r>
                        <a:rPr lang="en-US" sz="1600" dirty="0">
                          <a:solidFill>
                            <a:srgbClr val="1B1B1B"/>
                          </a:solidFill>
                          <a:latin typeface="Arial" pitchFamily="34" charset="0"/>
                          <a:ea typeface="Arial" pitchFamily="34" charset="-122"/>
                          <a:cs typeface="Arial" pitchFamily="34" charset="-120"/>
                        </a:rPr>
                        <a:t>Árbol </a:t>
                      </a:r>
                      <a:r>
                        <a:rPr lang="en-US" sz="1600" dirty="0" err="1">
                          <a:solidFill>
                            <a:srgbClr val="1B1B1B"/>
                          </a:solidFill>
                          <a:latin typeface="Arial" pitchFamily="34" charset="0"/>
                          <a:ea typeface="Arial" pitchFamily="34" charset="-122"/>
                          <a:cs typeface="Arial" pitchFamily="34" charset="-120"/>
                        </a:rPr>
                        <a:t>podado</a:t>
                      </a:r>
                      <a:endParaRPr lang="en-US" sz="1600" dirty="0">
                        <a:latin typeface="Arial" charset="0"/>
                        <a:ea typeface="Arial" charset="0"/>
                        <a:cs typeface="Arial" charset="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B2C1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2C1C7"/>
                      </a:solidFill>
                      <a:prstDash val="solid"/>
                      <a:round/>
                      <a:headEnd type="none" w="med" len="med"/>
                      <a:tailEnd type="none" w="med" len="med"/>
                    </a:lnB>
                    <a:noFill/>
                  </a:tcPr>
                </a:tc>
                <a:tc>
                  <a:txBody>
                    <a:bodyPr/>
                    <a:lstStyle/>
                    <a:p>
                      <a:pPr marL="0" indent="0" algn="r">
                        <a:lnSpc>
                          <a:spcPts val="2240"/>
                        </a:lnSpc>
                        <a:buNone/>
                      </a:pPr>
                      <a:r>
                        <a:rPr lang="en-US" sz="1600">
                          <a:solidFill>
                            <a:srgbClr val="1B1B1B"/>
                          </a:solidFill>
                          <a:latin typeface="Arial" pitchFamily="34" charset="0"/>
                          <a:ea typeface="Arial" pitchFamily="34" charset="-122"/>
                          <a:cs typeface="Arial" pitchFamily="34" charset="-120"/>
                        </a:rPr>
                        <a:t>1.627</a:t>
                      </a:r>
                      <a:endParaRPr lang="en-US" sz="1600">
                        <a:latin typeface="Arial" charset="0"/>
                        <a:ea typeface="Arial" charset="0"/>
                        <a:cs typeface="Arial" charset="0"/>
                      </a:endParaRPr>
                    </a:p>
                  </a:txBody>
                  <a:tcPr marL="114300" marR="114300" marT="88900" marB="88900">
                    <a:lnL w="12700" cap="flat" cmpd="sng" algn="ctr">
                      <a:solidFill>
                        <a:srgbClr val="B2C1C7"/>
                      </a:solidFill>
                      <a:prstDash val="solid"/>
                      <a:round/>
                      <a:headEnd type="none" w="med" len="med"/>
                      <a:tailEnd type="none" w="med" len="med"/>
                    </a:lnL>
                    <a:lnR w="12700" cap="flat" cmpd="sng" algn="ctr">
                      <a:solidFill>
                        <a:srgbClr val="B2C1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2C1C7"/>
                      </a:solidFill>
                      <a:prstDash val="solid"/>
                      <a:round/>
                      <a:headEnd type="none" w="med" len="med"/>
                      <a:tailEnd type="none" w="med" len="med"/>
                    </a:lnB>
                    <a:noFill/>
                  </a:tcPr>
                </a:tc>
                <a:tc>
                  <a:txBody>
                    <a:bodyPr/>
                    <a:lstStyle/>
                    <a:p>
                      <a:pPr marL="0" indent="0" algn="r">
                        <a:lnSpc>
                          <a:spcPts val="2240"/>
                        </a:lnSpc>
                        <a:buNone/>
                      </a:pPr>
                      <a:r>
                        <a:rPr lang="en-US" sz="1600" dirty="0">
                          <a:solidFill>
                            <a:srgbClr val="1B1B1B"/>
                          </a:solidFill>
                          <a:latin typeface="Arial" pitchFamily="34" charset="0"/>
                          <a:ea typeface="Arial" pitchFamily="34" charset="-122"/>
                          <a:cs typeface="Arial" pitchFamily="34" charset="-120"/>
                        </a:rPr>
                        <a:t>0.349</a:t>
                      </a:r>
                      <a:endParaRPr lang="en-US" sz="1600" dirty="0">
                        <a:latin typeface="Arial" charset="0"/>
                        <a:ea typeface="Arial" charset="0"/>
                        <a:cs typeface="Arial" charset="0"/>
                      </a:endParaRPr>
                    </a:p>
                  </a:txBody>
                  <a:tcPr marL="114300" marR="114300" marT="88900" marB="88900">
                    <a:lnL w="12700" cap="flat" cmpd="sng" algn="ctr">
                      <a:solidFill>
                        <a:srgbClr val="B2C1C7"/>
                      </a:solidFill>
                      <a:prstDash val="solid"/>
                      <a:round/>
                      <a:headEnd type="none" w="med" len="med"/>
                      <a:tailEnd type="none" w="med" len="med"/>
                    </a:lnL>
                    <a:lnR w="12700" cap="flat" cmpd="sng" algn="ctr">
                      <a:solidFill>
                        <a:srgbClr val="B2C1C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2C1C7"/>
                      </a:solidFill>
                      <a:prstDash val="solid"/>
                      <a:round/>
                      <a:headEnd type="none" w="med" len="med"/>
                      <a:tailEnd type="none" w="med" len="med"/>
                    </a:lnB>
                    <a:noFill/>
                  </a:tcPr>
                </a:tc>
                <a:extLst>
                  <a:ext uri="{0D108BD9-81ED-4DB2-BD59-A6C34878D82A}">
                    <a16:rowId xmlns:a16="http://schemas.microsoft.com/office/drawing/2014/main" val="10005"/>
                  </a:ext>
                </a:extLst>
              </a:tr>
              <a:tr h="474960">
                <a:tc>
                  <a:txBody>
                    <a:bodyPr/>
                    <a:lstStyle/>
                    <a:p>
                      <a:pPr marL="0" indent="0">
                        <a:lnSpc>
                          <a:spcPts val="2240"/>
                        </a:lnSpc>
                        <a:buNone/>
                      </a:pPr>
                      <a:r>
                        <a:rPr lang="en-US" sz="1600">
                          <a:solidFill>
                            <a:srgbClr val="1B1B1B"/>
                          </a:solidFill>
                          <a:latin typeface="Arial" pitchFamily="34" charset="0"/>
                          <a:ea typeface="Arial" pitchFamily="34" charset="-122"/>
                          <a:cs typeface="Arial" pitchFamily="34" charset="-120"/>
                        </a:rPr>
                        <a:t>Bosque aleatorio</a:t>
                      </a:r>
                      <a:endParaRPr lang="en-US" sz="1600">
                        <a:solidFill>
                          <a:srgbClr val="1B1B1B"/>
                        </a:solidFill>
                        <a:latin typeface="Arial" pitchFamily="34" charset="0"/>
                        <a:ea typeface="Arial" charset="0"/>
                        <a:cs typeface="Arial" pitchFamily="34" charset="-12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2C1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chemeClr val="accent3">
                        <a:lumMod val="20000"/>
                        <a:lumOff val="80000"/>
                      </a:schemeClr>
                    </a:solidFill>
                  </a:tcPr>
                </a:tc>
                <a:tc>
                  <a:txBody>
                    <a:bodyPr/>
                    <a:lstStyle/>
                    <a:p>
                      <a:pPr marL="0" indent="0" algn="r">
                        <a:lnSpc>
                          <a:spcPts val="2240"/>
                        </a:lnSpc>
                        <a:buNone/>
                      </a:pPr>
                      <a:r>
                        <a:rPr lang="en-US" sz="1600">
                          <a:solidFill>
                            <a:srgbClr val="1B1B1B"/>
                          </a:solidFill>
                          <a:latin typeface="Arial" pitchFamily="34" charset="0"/>
                          <a:ea typeface="Arial" pitchFamily="34" charset="-122"/>
                          <a:cs typeface="Arial" pitchFamily="34" charset="-120"/>
                        </a:rPr>
                        <a:t>1.626</a:t>
                      </a:r>
                      <a:endParaRPr lang="en-US" sz="1600">
                        <a:solidFill>
                          <a:srgbClr val="1B1B1B"/>
                        </a:solidFill>
                        <a:latin typeface="Arial" pitchFamily="34" charset="0"/>
                        <a:ea typeface="Arial" charset="0"/>
                        <a:cs typeface="Arial" pitchFamily="34" charset="-12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2C1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chemeClr val="accent3">
                        <a:lumMod val="20000"/>
                        <a:lumOff val="80000"/>
                      </a:schemeClr>
                    </a:solidFill>
                  </a:tcPr>
                </a:tc>
                <a:tc>
                  <a:txBody>
                    <a:bodyPr/>
                    <a:lstStyle/>
                    <a:p>
                      <a:pPr marL="0" indent="0" algn="r">
                        <a:lnSpc>
                          <a:spcPts val="2240"/>
                        </a:lnSpc>
                        <a:buNone/>
                      </a:pPr>
                      <a:r>
                        <a:rPr lang="en-US" sz="1600" dirty="0">
                          <a:solidFill>
                            <a:srgbClr val="1B1B1B"/>
                          </a:solidFill>
                          <a:latin typeface="Arial" pitchFamily="34" charset="0"/>
                          <a:ea typeface="Arial" pitchFamily="34" charset="-122"/>
                          <a:cs typeface="Arial" pitchFamily="34" charset="-120"/>
                        </a:rPr>
                        <a:t>0.350</a:t>
                      </a:r>
                      <a:endParaRPr lang="en-US" sz="1600" dirty="0">
                        <a:solidFill>
                          <a:srgbClr val="1B1B1B"/>
                        </a:solidFill>
                        <a:latin typeface="Arial" pitchFamily="34" charset="0"/>
                        <a:ea typeface="Arial" charset="0"/>
                        <a:cs typeface="Arial" pitchFamily="34" charset="-120"/>
                      </a:endParaRPr>
                    </a:p>
                  </a:txBody>
                  <a:tcPr marL="114300" marR="1143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2C1C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6"/>
                  </a:ext>
                </a:extLst>
              </a:tr>
            </a:tbl>
          </a:graphicData>
        </a:graphic>
      </p:graphicFrame>
      <p:sp>
        <p:nvSpPr>
          <p:cNvPr id="6" name="Text 2"/>
          <p:cNvSpPr/>
          <p:nvPr/>
        </p:nvSpPr>
        <p:spPr>
          <a:xfrm>
            <a:off x="660400" y="6436866"/>
            <a:ext cx="5886450" cy="223490"/>
          </a:xfrm>
          <a:prstGeom prst="rect">
            <a:avLst/>
          </a:prstGeom>
          <a:noFill/>
          <a:ln/>
        </p:spPr>
        <p:txBody>
          <a:bodyPr wrap="square" lIns="0" tIns="0" rIns="0" bIns="0" rtlCol="0" anchor="t">
            <a:normAutofit/>
          </a:bodyPr>
          <a:lstStyle/>
          <a:p>
            <a:pPr marL="0" indent="0" algn="l">
              <a:lnSpc>
                <a:spcPts val="1560"/>
              </a:lnSpc>
              <a:buNone/>
            </a:pPr>
            <a:r>
              <a:rPr lang="en-US" sz="1200" b="1">
                <a:solidFill>
                  <a:srgbClr val="6B7782"/>
                </a:solidFill>
                <a:latin typeface="Arial" pitchFamily="34" charset="0"/>
                <a:ea typeface="Arial" pitchFamily="34" charset="-122"/>
                <a:cs typeface="Arial" pitchFamily="34" charset="-120"/>
              </a:rPr>
              <a:t>Cada columna tiene sus propias unidades: no se comparan entre sí.</a:t>
            </a:r>
            <a:endParaRPr lang="en-US" sz="1200" b="1"/>
          </a:p>
        </p:txBody>
      </p:sp>
      <p:sp>
        <p:nvSpPr>
          <p:cNvPr id="7" name="Text 3"/>
          <p:cNvSpPr/>
          <p:nvPr/>
        </p:nvSpPr>
        <p:spPr>
          <a:xfrm>
            <a:off x="6680200" y="1973014"/>
            <a:ext cx="4996942" cy="487660"/>
          </a:xfrm>
          <a:prstGeom prst="rect">
            <a:avLst/>
          </a:prstGeom>
          <a:noFill/>
          <a:ln/>
        </p:spPr>
        <p:txBody>
          <a:bodyPr wrap="square" lIns="0" tIns="0" rIns="0" bIns="0" rtlCol="0" anchor="t">
            <a:normAutofit/>
          </a:bodyPr>
          <a:lstStyle/>
          <a:p>
            <a:pPr marL="0" indent="0" algn="l">
              <a:lnSpc>
                <a:spcPts val="3640"/>
              </a:lnSpc>
              <a:buNone/>
            </a:pPr>
            <a:r>
              <a:rPr lang="en-US" sz="2600" b="1">
                <a:solidFill>
                  <a:srgbClr val="00B0F0"/>
                </a:solidFill>
                <a:latin typeface="Arial" pitchFamily="34" charset="0"/>
                <a:ea typeface="Arial" pitchFamily="34" charset="-122"/>
                <a:cs typeface="Arial" pitchFamily="34" charset="-120"/>
              </a:rPr>
              <a:t>1.63 vs 3.98</a:t>
            </a:r>
            <a:endParaRPr lang="en-US" sz="2600"/>
          </a:p>
        </p:txBody>
      </p:sp>
      <p:sp>
        <p:nvSpPr>
          <p:cNvPr id="8" name="Text 4"/>
          <p:cNvSpPr/>
          <p:nvPr/>
        </p:nvSpPr>
        <p:spPr>
          <a:xfrm>
            <a:off x="6680200" y="2460675"/>
            <a:ext cx="4996942" cy="454620"/>
          </a:xfrm>
          <a:prstGeom prst="rect">
            <a:avLst/>
          </a:prstGeom>
          <a:noFill/>
          <a:ln/>
        </p:spPr>
        <p:txBody>
          <a:bodyPr wrap="square" lIns="0" tIns="0" rIns="0" bIns="0" rtlCol="0" anchor="t">
            <a:normAutofit/>
          </a:bodyPr>
          <a:lstStyle/>
          <a:p>
            <a:pPr marL="0" indent="0" algn="l">
              <a:lnSpc>
                <a:spcPts val="1690"/>
              </a:lnSpc>
              <a:buNone/>
            </a:pPr>
            <a:r>
              <a:rPr lang="en-US" sz="1300">
                <a:solidFill>
                  <a:srgbClr val="1B1B1B"/>
                </a:solidFill>
                <a:latin typeface="Arial" pitchFamily="34" charset="0"/>
                <a:ea typeface="Arial" pitchFamily="34" charset="-122"/>
                <a:cs typeface="Arial" pitchFamily="34" charset="-120"/>
              </a:rPr>
              <a:t>dólares: error típico del árbol frente al gasto medio (encargo 1: 2.31)</a:t>
            </a:r>
            <a:endParaRPr lang="en-US" sz="1300"/>
          </a:p>
        </p:txBody>
      </p:sp>
      <p:sp>
        <p:nvSpPr>
          <p:cNvPr id="9" name="Text 5"/>
          <p:cNvSpPr/>
          <p:nvPr/>
        </p:nvSpPr>
        <p:spPr>
          <a:xfrm>
            <a:off x="6680200" y="3029595"/>
            <a:ext cx="4996942" cy="487660"/>
          </a:xfrm>
          <a:prstGeom prst="rect">
            <a:avLst/>
          </a:prstGeom>
          <a:noFill/>
          <a:ln/>
        </p:spPr>
        <p:txBody>
          <a:bodyPr wrap="square" lIns="0" tIns="0" rIns="0" bIns="0" rtlCol="0" anchor="t">
            <a:normAutofit/>
          </a:bodyPr>
          <a:lstStyle/>
          <a:p>
            <a:pPr marL="0" indent="0" algn="l">
              <a:lnSpc>
                <a:spcPts val="3640"/>
              </a:lnSpc>
              <a:buNone/>
            </a:pPr>
            <a:r>
              <a:rPr lang="en-US" sz="2600" b="1">
                <a:solidFill>
                  <a:srgbClr val="00B0F0"/>
                </a:solidFill>
                <a:latin typeface="Arial" pitchFamily="34" charset="0"/>
                <a:ea typeface="Arial" pitchFamily="34" charset="-122"/>
                <a:cs typeface="Arial" pitchFamily="34" charset="-120"/>
              </a:rPr>
              <a:t>× 1.4</a:t>
            </a:r>
            <a:endParaRPr lang="en-US" sz="2600"/>
          </a:p>
        </p:txBody>
      </p:sp>
      <p:sp>
        <p:nvSpPr>
          <p:cNvPr id="10" name="Text 6"/>
          <p:cNvSpPr/>
          <p:nvPr/>
        </p:nvSpPr>
        <p:spPr>
          <a:xfrm>
            <a:off x="6680200" y="3517255"/>
            <a:ext cx="4996942" cy="454620"/>
          </a:xfrm>
          <a:prstGeom prst="rect">
            <a:avLst/>
          </a:prstGeom>
          <a:noFill/>
          <a:ln/>
        </p:spPr>
        <p:txBody>
          <a:bodyPr wrap="square" lIns="0" tIns="0" rIns="0" bIns="0" rtlCol="0" anchor="t">
            <a:normAutofit/>
          </a:bodyPr>
          <a:lstStyle/>
          <a:p>
            <a:pPr marL="0" indent="0" algn="l">
              <a:lnSpc>
                <a:spcPts val="1690"/>
              </a:lnSpc>
              <a:buNone/>
            </a:pPr>
            <a:r>
              <a:rPr lang="en-US" sz="1300">
                <a:solidFill>
                  <a:srgbClr val="1B1B1B"/>
                </a:solidFill>
                <a:latin typeface="Arial" pitchFamily="34" charset="0"/>
                <a:ea typeface="Arial" pitchFamily="34" charset="-122"/>
                <a:cs typeface="Arial" pitchFamily="34" charset="-120"/>
              </a:rPr>
              <a:t>en log, un error de 0.35 equivale a errar el gasto típico por un factor cercano a 1.4</a:t>
            </a:r>
            <a:endParaRPr lang="en-US" sz="1300"/>
          </a:p>
        </p:txBody>
      </p:sp>
      <p:sp>
        <p:nvSpPr>
          <p:cNvPr id="11" name="Text 7"/>
          <p:cNvSpPr/>
          <p:nvPr/>
        </p:nvSpPr>
        <p:spPr>
          <a:xfrm>
            <a:off x="6680200" y="4086175"/>
            <a:ext cx="4996942" cy="487660"/>
          </a:xfrm>
          <a:prstGeom prst="rect">
            <a:avLst/>
          </a:prstGeom>
          <a:noFill/>
          <a:ln/>
        </p:spPr>
        <p:txBody>
          <a:bodyPr wrap="square" lIns="0" tIns="0" rIns="0" bIns="0" rtlCol="0" anchor="t">
            <a:normAutofit/>
          </a:bodyPr>
          <a:lstStyle/>
          <a:p>
            <a:pPr marL="0" indent="0" algn="l">
              <a:lnSpc>
                <a:spcPts val="3640"/>
              </a:lnSpc>
              <a:buNone/>
            </a:pPr>
            <a:r>
              <a:rPr lang="en-US" sz="2600" b="1">
                <a:solidFill>
                  <a:srgbClr val="00B0F0"/>
                </a:solidFill>
                <a:latin typeface="Arial" pitchFamily="34" charset="0"/>
                <a:ea typeface="Arial" pitchFamily="34" charset="-122"/>
                <a:cs typeface="Arial" pitchFamily="34" charset="-120"/>
              </a:rPr>
              <a:t>1.627 = 1.627</a:t>
            </a:r>
            <a:endParaRPr lang="en-US" sz="2600"/>
          </a:p>
        </p:txBody>
      </p:sp>
      <p:sp>
        <p:nvSpPr>
          <p:cNvPr id="12" name="Text 8"/>
          <p:cNvSpPr/>
          <p:nvPr/>
        </p:nvSpPr>
        <p:spPr>
          <a:xfrm>
            <a:off x="6680200" y="4573836"/>
            <a:ext cx="5511800" cy="240010"/>
          </a:xfrm>
          <a:prstGeom prst="rect">
            <a:avLst/>
          </a:prstGeom>
          <a:noFill/>
          <a:ln/>
        </p:spPr>
        <p:txBody>
          <a:bodyPr wrap="square" lIns="0" tIns="0" rIns="0" bIns="0" rtlCol="0" anchor="t">
            <a:normAutofit/>
          </a:bodyPr>
          <a:lstStyle/>
          <a:p>
            <a:pPr marL="0" indent="0" algn="l">
              <a:lnSpc>
                <a:spcPts val="1690"/>
              </a:lnSpc>
              <a:buNone/>
            </a:pPr>
            <a:r>
              <a:rPr lang="en-US" sz="1300">
                <a:solidFill>
                  <a:srgbClr val="1B1B1B"/>
                </a:solidFill>
                <a:latin typeface="Arial" pitchFamily="34" charset="0"/>
                <a:ea typeface="Arial" pitchFamily="34" charset="-122"/>
                <a:cs typeface="Arial" pitchFamily="34" charset="-120"/>
              </a:rPr>
              <a:t>RMSE del árbol ajustado en dólares o en log y llevado a dólares</a:t>
            </a:r>
            <a:endParaRPr lang="en-US" sz="1300"/>
          </a:p>
        </p:txBody>
      </p:sp>
      <p:sp>
        <p:nvSpPr>
          <p:cNvPr id="13" name="Text 9"/>
          <p:cNvSpPr/>
          <p:nvPr/>
        </p:nvSpPr>
        <p:spPr>
          <a:xfrm>
            <a:off x="6689725" y="4937671"/>
            <a:ext cx="4832350" cy="1018480"/>
          </a:xfrm>
          <a:prstGeom prst="roundRect">
            <a:avLst>
              <a:gd name="adj" fmla="val 14028"/>
            </a:avLst>
          </a:prstGeom>
          <a:noFill/>
          <a:ln w="19050">
            <a:noFill/>
            <a:prstDash val="solid"/>
          </a:ln>
        </p:spPr>
        <p:txBody>
          <a:bodyPr wrap="square" lIns="158178" tIns="107378" rIns="25209" bIns="81978" rtlCol="0" anchor="t">
            <a:normAutofit/>
          </a:bodyPr>
          <a:lstStyle/>
          <a:p>
            <a:pPr marL="0" indent="0" algn="ctr">
              <a:lnSpc>
                <a:spcPts val="1890"/>
              </a:lnSpc>
              <a:buNone/>
            </a:pPr>
            <a:r>
              <a:rPr lang="en-US" b="1">
                <a:solidFill>
                  <a:srgbClr val="022B52"/>
                </a:solidFill>
                <a:latin typeface="Georgia"/>
                <a:ea typeface="Arial" pitchFamily="34" charset="-122"/>
                <a:cs typeface="Arial" pitchFamily="34" charset="-120"/>
              </a:rPr>
              <a:t>De la mejora de 0.69 dólares frente al encargo 1, el lineal con corte y cruce da 68%, LASSO 12% y el árbol 20%.</a:t>
            </a:r>
            <a:endParaRPr lang="en-US">
              <a:latin typeface="Georgia"/>
            </a:endParaRPr>
          </a:p>
        </p:txBody>
      </p:sp>
      <p:sp>
        <p:nvSpPr>
          <p:cNvPr id="15" name="Text 11"/>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10</a:t>
            </a:r>
            <a:endParaRPr lang="en-US" sz="1200"/>
          </a:p>
        </p:txBody>
      </p:sp>
    </p:spTree>
    <p:extLst>
      <p:ext uri="{BB962C8B-B14F-4D97-AF65-F5344CB8AC3E}">
        <p14:creationId xmlns:p14="http://schemas.microsoft.com/office/powerpoint/2010/main" val="6925988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78023"/>
            <a:ext cx="11197336" cy="764977"/>
          </a:xfrm>
          <a:prstGeom prst="rect">
            <a:avLst/>
          </a:prstGeom>
          <a:noFill/>
          <a:ln/>
        </p:spPr>
        <p:txBody>
          <a:bodyPr wrap="square" lIns="0" tIns="0" rIns="0" bIns="0" rtlCol="0" anchor="t">
            <a:normAutofit/>
          </a:bodyPr>
          <a:lstStyle/>
          <a:p>
            <a:pPr marL="0" indent="0" algn="l">
              <a:lnSpc>
                <a:spcPts val="2912"/>
              </a:lnSpc>
              <a:buNone/>
            </a:pPr>
            <a:r>
              <a:rPr lang="en-US" sz="2600" b="1" i="0">
                <a:solidFill>
                  <a:srgbClr val="051C2C"/>
                </a:solidFill>
                <a:latin typeface="Georgia" pitchFamily="18" charset="0"/>
                <a:ea typeface="Georgia" pitchFamily="18" charset="-122"/>
                <a:cs typeface="Georgia" pitchFamily="18" charset="-120"/>
              </a:rPr>
              <a:t>El bosque confirma el patrón en las dos escalas: tiempo y sesiones suman más del 90% de la importancia</a:t>
            </a:r>
            <a:endParaRPr lang="en-US" sz="260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Parte A · Datos históricos (n = 80,000) · Bosque de 1,000 árboles · Predictivo, no causal</a:t>
            </a:r>
            <a:endParaRPr lang="en-US" sz="1400"/>
          </a:p>
        </p:txBody>
      </p:sp>
      <p:sp>
        <p:nvSpPr>
          <p:cNvPr id="40" name="Marco figura"/>
          <p:cNvSpPr/>
          <p:nvPr/>
        </p:nvSpPr>
        <p:spPr>
          <a:xfrm>
            <a:off x="660400" y="1689100"/>
            <a:ext cx="6858000" cy="4584700"/>
          </a:xfrm>
          <a:prstGeom prst="roundRect">
            <a:avLst>
              <a:gd name="adj" fmla="val 5000"/>
            </a:avLst>
          </a:prstGeom>
          <a:noFill/>
          <a:ln w="6350">
            <a:solidFill>
              <a:srgbClr val="C9D1D8"/>
            </a:solidFill>
          </a:ln>
        </p:spPr>
        <p:txBody>
          <a:bodyPr wrap="square" lIns="0" tIns="0" rIns="0" bIns="0" rtlCol="0" anchor="t">
            <a:noAutofit/>
          </a:bodyPr>
          <a:lstStyle/>
          <a:p>
            <a:endParaRPr lang="es-ES"/>
          </a:p>
        </p:txBody>
      </p:sp>
      <p:sp>
        <p:nvSpPr>
          <p:cNvPr id="41" name="Cifra 41"/>
          <p:cNvSpPr/>
          <p:nvPr/>
        </p:nvSpPr>
        <p:spPr>
          <a:xfrm>
            <a:off x="7823200" y="1689100"/>
            <a:ext cx="3708400" cy="431800"/>
          </a:xfrm>
          <a:prstGeom prst="rect">
            <a:avLst/>
          </a:prstGeom>
          <a:noFill/>
          <a:ln>
            <a:noFill/>
          </a:ln>
        </p:spPr>
        <p:txBody>
          <a:bodyPr wrap="square" lIns="0" tIns="0" rIns="0" bIns="0" rtlCol="0" anchor="t">
            <a:noAutofit/>
          </a:bodyPr>
          <a:lstStyle/>
          <a:p>
            <a:pPr marL="0" indent="0" algn="l">
              <a:lnSpc>
                <a:spcPct val="100000"/>
              </a:lnSpc>
              <a:spcBef>
                <a:spcPts val="0"/>
              </a:spcBef>
              <a:buNone/>
            </a:pPr>
            <a:r>
              <a:rPr lang="es-ES" sz="2600" b="1" dirty="0">
                <a:solidFill>
                  <a:srgbClr val="00B0F0"/>
                </a:solidFill>
                <a:latin typeface="Arial"/>
                <a:ea typeface="Arial"/>
                <a:cs typeface="Arial"/>
              </a:rPr>
              <a:t>57.3% y 65.9%</a:t>
            </a:r>
          </a:p>
        </p:txBody>
      </p:sp>
      <p:sp>
        <p:nvSpPr>
          <p:cNvPr id="42" name="Texto 41"/>
          <p:cNvSpPr/>
          <p:nvPr/>
        </p:nvSpPr>
        <p:spPr>
          <a:xfrm>
            <a:off x="7823200" y="2146300"/>
            <a:ext cx="3708400" cy="508000"/>
          </a:xfrm>
          <a:prstGeom prst="rect">
            <a:avLst/>
          </a:prstGeom>
          <a:noFill/>
          <a:ln>
            <a:noFill/>
          </a:ln>
        </p:spPr>
        <p:txBody>
          <a:bodyPr wrap="square" lIns="0" tIns="0" rIns="0" bIns="0" rtlCol="0" anchor="t">
            <a:noAutofit/>
          </a:bodyPr>
          <a:lstStyle/>
          <a:p>
            <a:pPr marL="0" indent="0" algn="l">
              <a:lnSpc>
                <a:spcPct val="100000"/>
              </a:lnSpc>
              <a:spcBef>
                <a:spcPts val="0"/>
              </a:spcBef>
              <a:buNone/>
            </a:pPr>
            <a:r>
              <a:rPr lang="es-ES" sz="1400" dirty="0">
                <a:solidFill>
                  <a:srgbClr val="1B1B1B"/>
                </a:solidFill>
                <a:latin typeface="Arial"/>
                <a:ea typeface="Arial"/>
                <a:cs typeface="Arial"/>
              </a:rPr>
              <a:t>importancia del tiempo en el sitio, en dólares y en logaritmo</a:t>
            </a:r>
          </a:p>
        </p:txBody>
      </p:sp>
      <p:sp>
        <p:nvSpPr>
          <p:cNvPr id="43" name="Cifra 43"/>
          <p:cNvSpPr/>
          <p:nvPr/>
        </p:nvSpPr>
        <p:spPr>
          <a:xfrm>
            <a:off x="7823200" y="2819400"/>
            <a:ext cx="3708400" cy="431800"/>
          </a:xfrm>
          <a:prstGeom prst="rect">
            <a:avLst/>
          </a:prstGeom>
          <a:noFill/>
          <a:ln>
            <a:noFill/>
          </a:ln>
        </p:spPr>
        <p:txBody>
          <a:bodyPr wrap="square" lIns="0" tIns="0" rIns="0" bIns="0" rtlCol="0" anchor="t">
            <a:noAutofit/>
          </a:bodyPr>
          <a:lstStyle/>
          <a:p>
            <a:pPr marL="0" indent="0" algn="l">
              <a:lnSpc>
                <a:spcPct val="100000"/>
              </a:lnSpc>
              <a:spcBef>
                <a:spcPts val="0"/>
              </a:spcBef>
              <a:buNone/>
            </a:pPr>
            <a:r>
              <a:rPr lang="es-ES" sz="2600" b="1" dirty="0">
                <a:solidFill>
                  <a:srgbClr val="00B0F0"/>
                </a:solidFill>
                <a:latin typeface="Arial"/>
                <a:ea typeface="Arial"/>
                <a:cs typeface="Arial"/>
              </a:rPr>
              <a:t>35.6% y 28.6%</a:t>
            </a:r>
          </a:p>
        </p:txBody>
      </p:sp>
      <p:sp>
        <p:nvSpPr>
          <p:cNvPr id="44" name="Texto 43"/>
          <p:cNvSpPr/>
          <p:nvPr/>
        </p:nvSpPr>
        <p:spPr>
          <a:xfrm>
            <a:off x="7823200" y="3276600"/>
            <a:ext cx="3708400" cy="508000"/>
          </a:xfrm>
          <a:prstGeom prst="rect">
            <a:avLst/>
          </a:prstGeom>
          <a:noFill/>
          <a:ln>
            <a:noFill/>
          </a:ln>
        </p:spPr>
        <p:txBody>
          <a:bodyPr wrap="square" lIns="0" tIns="0" rIns="0" bIns="0" rtlCol="0" anchor="t">
            <a:noAutofit/>
          </a:bodyPr>
          <a:lstStyle/>
          <a:p>
            <a:pPr marL="0" indent="0" algn="l">
              <a:lnSpc>
                <a:spcPct val="100000"/>
              </a:lnSpc>
              <a:spcBef>
                <a:spcPts val="0"/>
              </a:spcBef>
              <a:buNone/>
            </a:pPr>
            <a:r>
              <a:rPr lang="es-ES" sz="1400" dirty="0">
                <a:solidFill>
                  <a:srgbClr val="1B1B1B"/>
                </a:solidFill>
                <a:latin typeface="Arial"/>
                <a:ea typeface="Arial"/>
                <a:cs typeface="Arial"/>
              </a:rPr>
              <a:t>importancia de las sesiones anteriores, en dólares y en logaritmo</a:t>
            </a:r>
          </a:p>
        </p:txBody>
      </p:sp>
      <p:sp>
        <p:nvSpPr>
          <p:cNvPr id="45" name="Cifra 45"/>
          <p:cNvSpPr/>
          <p:nvPr/>
        </p:nvSpPr>
        <p:spPr>
          <a:xfrm>
            <a:off x="7823200" y="3949700"/>
            <a:ext cx="3708400" cy="431800"/>
          </a:xfrm>
          <a:prstGeom prst="rect">
            <a:avLst/>
          </a:prstGeom>
          <a:noFill/>
          <a:ln>
            <a:noFill/>
          </a:ln>
        </p:spPr>
        <p:txBody>
          <a:bodyPr wrap="square" lIns="0" tIns="0" rIns="0" bIns="0" rtlCol="0" anchor="t">
            <a:noAutofit/>
          </a:bodyPr>
          <a:lstStyle/>
          <a:p>
            <a:pPr marL="0" indent="0" algn="l">
              <a:lnSpc>
                <a:spcPct val="100000"/>
              </a:lnSpc>
              <a:spcBef>
                <a:spcPts val="0"/>
              </a:spcBef>
              <a:buNone/>
            </a:pPr>
            <a:r>
              <a:rPr lang="es-ES" sz="2600" b="1" dirty="0">
                <a:solidFill>
                  <a:srgbClr val="00B0F0"/>
                </a:solidFill>
                <a:latin typeface="Arial"/>
                <a:ea typeface="Arial"/>
                <a:cs typeface="Arial"/>
              </a:rPr>
              <a:t>Menos de 5%</a:t>
            </a:r>
          </a:p>
        </p:txBody>
      </p:sp>
      <p:sp>
        <p:nvSpPr>
          <p:cNvPr id="46" name="Texto 45"/>
          <p:cNvSpPr/>
          <p:nvPr/>
        </p:nvSpPr>
        <p:spPr>
          <a:xfrm>
            <a:off x="7823200" y="4406900"/>
            <a:ext cx="3708400" cy="508000"/>
          </a:xfrm>
          <a:prstGeom prst="rect">
            <a:avLst/>
          </a:prstGeom>
          <a:noFill/>
          <a:ln>
            <a:noFill/>
          </a:ln>
        </p:spPr>
        <p:txBody>
          <a:bodyPr wrap="square" lIns="0" tIns="0" rIns="0" bIns="0" rtlCol="0" anchor="t">
            <a:noAutofit/>
          </a:bodyPr>
          <a:lstStyle/>
          <a:p>
            <a:pPr marL="0" indent="0" algn="l">
              <a:lnSpc>
                <a:spcPct val="100000"/>
              </a:lnSpc>
              <a:spcBef>
                <a:spcPts val="0"/>
              </a:spcBef>
              <a:buNone/>
            </a:pPr>
            <a:r>
              <a:rPr lang="es-ES" sz="1400" dirty="0">
                <a:solidFill>
                  <a:srgbClr val="1B1B1B"/>
                </a:solidFill>
                <a:latin typeface="Arial"/>
                <a:ea typeface="Arial"/>
                <a:cs typeface="Arial"/>
              </a:rPr>
              <a:t>dispositivo y sistema operativo, en cada escala</a:t>
            </a:r>
          </a:p>
        </p:txBody>
      </p:sp>
      <p:sp>
        <p:nvSpPr>
          <p:cNvPr id="47" name="Recuadro lectura"/>
          <p:cNvSpPr/>
          <p:nvPr/>
        </p:nvSpPr>
        <p:spPr>
          <a:xfrm>
            <a:off x="7823200" y="5105400"/>
            <a:ext cx="3708400" cy="1168400"/>
          </a:xfrm>
          <a:prstGeom prst="roundRect">
            <a:avLst>
              <a:gd name="adj" fmla="val 9000"/>
            </a:avLst>
          </a:prstGeom>
          <a:solidFill>
            <a:srgbClr val="DFF2FA"/>
          </a:solidFill>
          <a:ln w="19050">
            <a:solidFill>
              <a:srgbClr val="00B0F0"/>
            </a:solidFill>
          </a:ln>
        </p:spPr>
        <p:txBody>
          <a:bodyPr wrap="square" lIns="177800" tIns="127000" rIns="152400" bIns="101600" rtlCol="0" anchor="t">
            <a:noAutofit/>
          </a:bodyPr>
          <a:lstStyle/>
          <a:p>
            <a:pPr marL="0" indent="0" algn="l">
              <a:lnSpc>
                <a:spcPct val="100000"/>
              </a:lnSpc>
              <a:spcBef>
                <a:spcPts val="0"/>
              </a:spcBef>
              <a:buNone/>
            </a:pPr>
            <a:r>
              <a:rPr lang="es-ES" sz="1400" b="1" dirty="0">
                <a:solidFill>
                  <a:srgbClr val="022B52"/>
                </a:solidFill>
                <a:latin typeface="Arial"/>
                <a:ea typeface="Arial"/>
                <a:cs typeface="Arial"/>
              </a:rPr>
              <a:t>Mide uso predictivo, no efecto. </a:t>
            </a:r>
            <a:r>
              <a:rPr lang="es-ES" sz="1400" dirty="0">
                <a:solidFill>
                  <a:srgbClr val="022B52"/>
                </a:solidFill>
                <a:latin typeface="Arial"/>
                <a:ea typeface="Arial"/>
                <a:cs typeface="Arial"/>
              </a:rPr>
              <a:t>Que el bosque use una variable no significa que cambiarla cambie el gasto.</a:t>
            </a:r>
          </a:p>
        </p:txBody>
      </p:sp>
      <p:sp>
        <p:nvSpPr>
          <p:cNvPr id="12" name="Text 9"/>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9</a:t>
            </a:r>
            <a:endParaRPr lang="en-US" sz="1200"/>
          </a:p>
        </p:txBody>
      </p:sp>
      <p:pic>
        <p:nvPicPr>
          <p:cNvPr id="11" name="Picture 10">
            <a:extLst>
              <a:ext uri="{FF2B5EF4-FFF2-40B4-BE49-F238E27FC236}">
                <a16:creationId xmlns:a16="http://schemas.microsoft.com/office/drawing/2014/main" id="{EDF9BD27-2BEB-93DD-919E-9583F0EC0178}"/>
              </a:ext>
            </a:extLst>
          </p:cNvPr>
          <p:cNvPicPr>
            <a:picLocks noChangeAspect="1"/>
          </p:cNvPicPr>
          <p:nvPr/>
        </p:nvPicPr>
        <p:blipFill>
          <a:blip r:embed="rId4"/>
          <a:stretch>
            <a:fillRect/>
          </a:stretch>
        </p:blipFill>
        <p:spPr>
          <a:xfrm>
            <a:off x="673100" y="1701800"/>
            <a:ext cx="6832600" cy="4555067"/>
          </a:xfrm>
          <a:prstGeom prst="rect">
            <a:avLst/>
          </a:prstGeom>
        </p:spPr>
      </p:pic>
    </p:spTree>
    <p:extLst>
      <p:ext uri="{BB962C8B-B14F-4D97-AF65-F5344CB8AC3E}">
        <p14:creationId xmlns:p14="http://schemas.microsoft.com/office/powerpoint/2010/main" val="14240022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81000"/>
            <a:ext cx="11201400" cy="762000"/>
          </a:xfrm>
          <a:prstGeom prst="rect">
            <a:avLst/>
          </a:prstGeom>
          <a:noFill/>
          <a:ln/>
        </p:spPr>
        <p:txBody>
          <a:bodyPr wrap="square" lIns="0" tIns="0" rIns="0" bIns="0" rtlCol="0" anchor="t">
            <a:normAutofit/>
          </a:bodyPr>
          <a:lstStyle/>
          <a:p>
            <a:pPr marL="0" indent="0" algn="l">
              <a:lnSpc>
                <a:spcPts val="2912"/>
              </a:lnSpc>
              <a:buNone/>
            </a:pPr>
            <a:r>
              <a:rPr lang="en-US" sz="2600" b="1" i="0">
                <a:solidFill>
                  <a:srgbClr val="051C2C"/>
                </a:solidFill>
                <a:latin typeface="Georgia" pitchFamily="18" charset="0"/>
                <a:ea typeface="Georgia" pitchFamily="18" charset="-122"/>
                <a:cs typeface="Georgia" pitchFamily="18" charset="-120"/>
              </a:rPr>
              <a:t>Para predecir el gasto conviene el bosque, sabiendo dónde falla</a:t>
            </a:r>
            <a:endParaRPr lang="en-US" sz="260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Parte A · Datos históricos · Predictivo, no causal</a:t>
            </a:r>
            <a:endParaRPr lang="en-US" sz="1400"/>
          </a:p>
        </p:txBody>
      </p:sp>
      <p:sp>
        <p:nvSpPr>
          <p:cNvPr id="20" name="Panel por qué el bosque"/>
          <p:cNvSpPr/>
          <p:nvPr/>
        </p:nvSpPr>
        <p:spPr>
          <a:xfrm>
            <a:off x="660400" y="1879600"/>
            <a:ext cx="4724400" cy="4343400"/>
          </a:xfrm>
          <a:prstGeom prst="roundRect">
            <a:avLst>
              <a:gd name="adj" fmla="val 7522"/>
            </a:avLst>
          </a:prstGeom>
          <a:solidFill>
            <a:srgbClr val="051C2C"/>
          </a:solidFill>
          <a:ln>
            <a:noFill/>
          </a:ln>
        </p:spPr>
        <p:txBody>
          <a:bodyPr wrap="square" lIns="254000" tIns="228600" rIns="254000" bIns="177800" rtlCol="0" anchor="t">
            <a:noAutofit/>
          </a:bodyPr>
          <a:lstStyle/>
          <a:p>
            <a:pPr marL="0" indent="0" algn="l">
              <a:lnSpc>
                <a:spcPct val="100000"/>
              </a:lnSpc>
              <a:spcBef>
                <a:spcPts val="0"/>
              </a:spcBef>
              <a:buNone/>
            </a:pPr>
            <a:r>
              <a:rPr lang="es-ES" sz="1800" b="1" dirty="0">
                <a:solidFill>
                  <a:srgbClr val="00B0F0"/>
                </a:solidFill>
                <a:latin typeface="Georgia"/>
                <a:ea typeface="Georgia"/>
                <a:cs typeface="Georgia"/>
              </a:rPr>
              <a:t>Por qué el bosque</a:t>
            </a:r>
          </a:p>
          <a:p>
            <a:pPr marL="228600" indent="-228600" algn="l">
              <a:lnSpc>
                <a:spcPct val="100000"/>
              </a:lnSpc>
              <a:spcBef>
                <a:spcPts val="1200"/>
              </a:spcBef>
              <a:buClr>
                <a:srgbClr val="00B0F0"/>
              </a:buClr>
              <a:buFont typeface="Arial"/>
              <a:buChar char="•"/>
            </a:pPr>
            <a:r>
              <a:rPr lang="es-ES" sz="1400" b="1" dirty="0">
                <a:solidFill>
                  <a:srgbClr val="FFFFFF"/>
                </a:solidFill>
                <a:latin typeface="Arial"/>
                <a:ea typeface="Arial"/>
                <a:cs typeface="Arial"/>
              </a:rPr>
              <a:t>Menor error en usuarios que no vio: 1.63 dólares</a:t>
            </a:r>
            <a:r>
              <a:rPr lang="es-ES" sz="1400" dirty="0">
                <a:solidFill>
                  <a:srgbClr val="FFFFFF"/>
                </a:solidFill>
                <a:latin typeface="Arial"/>
                <a:ea typeface="Arial"/>
                <a:cs typeface="Arial"/>
              </a:rPr>
              <a:t>, frente a 2.31 del lineal del encargo 1 y 1.85 del lineal con corte y cruce.</a:t>
            </a:r>
          </a:p>
          <a:p>
            <a:pPr marL="228600" indent="-228600" algn="l">
              <a:lnSpc>
                <a:spcPct val="100000"/>
              </a:lnSpc>
              <a:spcBef>
                <a:spcPts val="1000"/>
              </a:spcBef>
              <a:buClr>
                <a:srgbClr val="00B0F0"/>
              </a:buClr>
              <a:buFont typeface="Arial"/>
              <a:buChar char="•"/>
            </a:pPr>
            <a:r>
              <a:rPr lang="es-ES" sz="1400" dirty="0">
                <a:solidFill>
                  <a:srgbClr val="FFFFFF"/>
                </a:solidFill>
                <a:latin typeface="Arial"/>
                <a:ea typeface="Arial"/>
                <a:cs typeface="Arial"/>
              </a:rPr>
              <a:t>Promedia </a:t>
            </a:r>
            <a:r>
              <a:rPr lang="es-ES" sz="1400" b="1" dirty="0">
                <a:solidFill>
                  <a:srgbClr val="FFFFFF"/>
                </a:solidFill>
                <a:latin typeface="Arial"/>
                <a:ea typeface="Arial"/>
                <a:cs typeface="Arial"/>
              </a:rPr>
              <a:t>1,000 árboles</a:t>
            </a:r>
            <a:r>
              <a:rPr lang="es-ES" sz="1400" dirty="0">
                <a:solidFill>
                  <a:srgbClr val="FFFFFF"/>
                </a:solidFill>
                <a:latin typeface="Arial"/>
                <a:ea typeface="Arial"/>
                <a:cs typeface="Arial"/>
              </a:rPr>
              <a:t>: no depende de un solo corte. Le gana al bagging: 0.350 frente a 0.354 en log.</a:t>
            </a:r>
          </a:p>
          <a:p>
            <a:pPr marL="228600" indent="-228600" algn="l">
              <a:lnSpc>
                <a:spcPct val="100000"/>
              </a:lnSpc>
              <a:spcBef>
                <a:spcPts val="1000"/>
              </a:spcBef>
              <a:buClr>
                <a:srgbClr val="00B0F0"/>
              </a:buClr>
              <a:buFont typeface="Arial"/>
              <a:buChar char="•"/>
            </a:pPr>
            <a:r>
              <a:rPr lang="es-ES" sz="1400" dirty="0">
                <a:solidFill>
                  <a:srgbClr val="FFFFFF"/>
                </a:solidFill>
                <a:latin typeface="Arial"/>
                <a:ea typeface="Arial"/>
                <a:cs typeface="Arial"/>
              </a:rPr>
              <a:t>Confirma el orden de las variables: tiempo 66%, sesiones 29%, dispositivo 4% y sistema operativo 2%.</a:t>
            </a:r>
          </a:p>
          <a:p>
            <a:pPr marL="228600" indent="-228600" algn="l">
              <a:lnSpc>
                <a:spcPct val="100000"/>
              </a:lnSpc>
              <a:spcBef>
                <a:spcPts val="1000"/>
              </a:spcBef>
              <a:buClr>
                <a:srgbClr val="00B0F0"/>
              </a:buClr>
              <a:buFont typeface="Arial"/>
              <a:buChar char="•"/>
            </a:pPr>
            <a:r>
              <a:rPr lang="es-ES" sz="1400" dirty="0">
                <a:solidFill>
                  <a:srgbClr val="FFFFFF"/>
                </a:solidFill>
                <a:latin typeface="Arial"/>
                <a:ea typeface="Arial"/>
                <a:cs typeface="Arial"/>
              </a:rPr>
              <a:t>El árbol podado empata (1.627 dólares) y queda para explicar al cliente con </a:t>
            </a:r>
            <a:r>
              <a:rPr lang="es-ES" sz="1400" b="1" dirty="0">
                <a:solidFill>
                  <a:srgbClr val="FFFFFF"/>
                </a:solidFill>
                <a:latin typeface="Arial"/>
                <a:ea typeface="Arial"/>
                <a:cs typeface="Arial"/>
              </a:rPr>
              <a:t>10 grupos</a:t>
            </a:r>
            <a:r>
              <a:rPr lang="es-ES" sz="1400" dirty="0">
                <a:solidFill>
                  <a:srgbClr val="FFFFFF"/>
                </a:solidFill>
                <a:latin typeface="Arial"/>
                <a:ea typeface="Arial"/>
                <a:cs typeface="Arial"/>
              </a:rPr>
              <a:t>. El lineal con corte y cruce logra el </a:t>
            </a:r>
            <a:r>
              <a:rPr lang="es-ES" sz="1400" b="1" dirty="0">
                <a:solidFill>
                  <a:srgbClr val="FFFFFF"/>
                </a:solidFill>
                <a:latin typeface="Arial"/>
                <a:ea typeface="Arial"/>
                <a:cs typeface="Arial"/>
              </a:rPr>
              <a:t>68% de la mejora</a:t>
            </a:r>
            <a:r>
              <a:rPr lang="es-ES" sz="1400" dirty="0">
                <a:solidFill>
                  <a:srgbClr val="FFFFFF"/>
                </a:solidFill>
                <a:latin typeface="Arial"/>
                <a:ea typeface="Arial"/>
                <a:cs typeface="Arial"/>
              </a:rPr>
              <a:t>.</a:t>
            </a:r>
          </a:p>
        </p:txBody>
      </p:sp>
      <p:sp>
        <p:nvSpPr>
          <p:cNvPr id="21" name="Encabezado limitaciones"/>
          <p:cNvSpPr/>
          <p:nvPr/>
        </p:nvSpPr>
        <p:spPr>
          <a:xfrm>
            <a:off x="5689600" y="1879600"/>
            <a:ext cx="5842000" cy="355600"/>
          </a:xfrm>
          <a:prstGeom prst="rect">
            <a:avLst/>
          </a:prstGeom>
          <a:noFill/>
          <a:ln>
            <a:noFill/>
          </a:ln>
        </p:spPr>
        <p:txBody>
          <a:bodyPr wrap="square" lIns="0" tIns="0" rIns="0" bIns="0" rtlCol="0" anchor="t">
            <a:noAutofit/>
          </a:bodyPr>
          <a:lstStyle/>
          <a:p>
            <a:pPr marL="0" indent="0" algn="l">
              <a:lnSpc>
                <a:spcPct val="100000"/>
              </a:lnSpc>
              <a:spcBef>
                <a:spcPts val="0"/>
              </a:spcBef>
              <a:buNone/>
            </a:pPr>
            <a:r>
              <a:rPr lang="es-ES" sz="1800" b="1" dirty="0">
                <a:solidFill>
                  <a:srgbClr val="022B52"/>
                </a:solidFill>
                <a:latin typeface="Georgia"/>
                <a:ea typeface="Georgia"/>
                <a:cs typeface="Georgia"/>
              </a:rPr>
              <a:t>Limitaciones</a:t>
            </a:r>
          </a:p>
        </p:txBody>
      </p:sp>
      <p:sp>
        <p:nvSpPr>
          <p:cNvPr id="32" name="Marcador 1"/>
          <p:cNvSpPr/>
          <p:nvPr/>
        </p:nvSpPr>
        <p:spPr>
          <a:xfrm>
            <a:off x="5689600" y="2425700"/>
            <a:ext cx="330200" cy="330200"/>
          </a:xfrm>
          <a:prstGeom prst="ellipse">
            <a:avLst/>
          </a:prstGeom>
          <a:solidFill>
            <a:srgbClr val="00B0F0"/>
          </a:solidFill>
          <a:ln>
            <a:noFill/>
          </a:ln>
        </p:spPr>
        <p:txBody>
          <a:bodyPr wrap="square" lIns="0" tIns="0" rIns="0" bIns="0" rtlCol="0" anchor="ctr">
            <a:noAutofit/>
          </a:bodyPr>
          <a:lstStyle/>
          <a:p>
            <a:pPr marL="0" indent="0" algn="ctr">
              <a:lnSpc>
                <a:spcPct val="100000"/>
              </a:lnSpc>
              <a:spcBef>
                <a:spcPts val="0"/>
              </a:spcBef>
              <a:buNone/>
            </a:pPr>
            <a:r>
              <a:rPr lang="es-ES" sz="1400" b="1" dirty="0">
                <a:solidFill>
                  <a:srgbClr val="051C2C"/>
                </a:solidFill>
                <a:latin typeface="Arial"/>
                <a:ea typeface="Arial"/>
                <a:cs typeface="Arial"/>
              </a:rPr>
              <a:t>1</a:t>
            </a:r>
          </a:p>
        </p:txBody>
      </p:sp>
      <p:sp>
        <p:nvSpPr>
          <p:cNvPr id="33" name="Limitación 1"/>
          <p:cNvSpPr/>
          <p:nvPr/>
        </p:nvSpPr>
        <p:spPr>
          <a:xfrm>
            <a:off x="6172200" y="2438400"/>
            <a:ext cx="5359400" cy="508000"/>
          </a:xfrm>
          <a:prstGeom prst="rect">
            <a:avLst/>
          </a:prstGeom>
          <a:noFill/>
          <a:ln>
            <a:noFill/>
          </a:ln>
        </p:spPr>
        <p:txBody>
          <a:bodyPr wrap="square" lIns="0" tIns="0" rIns="0" bIns="0" rtlCol="0" anchor="t">
            <a:noAutofit/>
          </a:bodyPr>
          <a:lstStyle/>
          <a:p>
            <a:pPr marL="0" indent="0" algn="l">
              <a:lnSpc>
                <a:spcPct val="100000"/>
              </a:lnSpc>
              <a:spcBef>
                <a:spcPts val="0"/>
              </a:spcBef>
              <a:buNone/>
            </a:pPr>
            <a:r>
              <a:rPr lang="es-ES" sz="1400" b="1" dirty="0">
                <a:solidFill>
                  <a:srgbClr val="051C2C"/>
                </a:solidFill>
                <a:latin typeface="Arial"/>
                <a:ea typeface="Arial"/>
                <a:cs typeface="Arial"/>
              </a:rPr>
              <a:t>Caja negra: </a:t>
            </a:r>
            <a:r>
              <a:rPr lang="es-ES" sz="1400" dirty="0">
                <a:solidFill>
                  <a:srgbClr val="1B1B1B"/>
                </a:solidFill>
                <a:latin typeface="Arial"/>
                <a:ea typeface="Arial"/>
                <a:cs typeface="Arial"/>
              </a:rPr>
              <a:t>no se puede leer. La importancia de variables y el árbol podado ayudan a explicarlo.</a:t>
            </a:r>
          </a:p>
        </p:txBody>
      </p:sp>
      <p:sp>
        <p:nvSpPr>
          <p:cNvPr id="34" name="Marcador 2"/>
          <p:cNvSpPr/>
          <p:nvPr/>
        </p:nvSpPr>
        <p:spPr>
          <a:xfrm>
            <a:off x="5689600" y="3492500"/>
            <a:ext cx="330200" cy="330200"/>
          </a:xfrm>
          <a:prstGeom prst="ellipse">
            <a:avLst/>
          </a:prstGeom>
          <a:solidFill>
            <a:srgbClr val="00B0F0"/>
          </a:solidFill>
          <a:ln>
            <a:noFill/>
          </a:ln>
        </p:spPr>
        <p:txBody>
          <a:bodyPr wrap="square" lIns="0" tIns="0" rIns="0" bIns="0" rtlCol="0" anchor="ctr">
            <a:noAutofit/>
          </a:bodyPr>
          <a:lstStyle/>
          <a:p>
            <a:pPr marL="0" indent="0" algn="ctr">
              <a:lnSpc>
                <a:spcPct val="100000"/>
              </a:lnSpc>
              <a:spcBef>
                <a:spcPts val="0"/>
              </a:spcBef>
              <a:buNone/>
            </a:pPr>
            <a:r>
              <a:rPr lang="es-ES" sz="1400" b="1" dirty="0">
                <a:solidFill>
                  <a:srgbClr val="051C2C"/>
                </a:solidFill>
                <a:latin typeface="Arial"/>
                <a:ea typeface="Arial"/>
                <a:cs typeface="Arial"/>
              </a:rPr>
              <a:t>2</a:t>
            </a:r>
          </a:p>
        </p:txBody>
      </p:sp>
      <p:sp>
        <p:nvSpPr>
          <p:cNvPr id="35" name="Limitación 2"/>
          <p:cNvSpPr/>
          <p:nvPr/>
        </p:nvSpPr>
        <p:spPr>
          <a:xfrm>
            <a:off x="6172200" y="3505200"/>
            <a:ext cx="5359400" cy="508000"/>
          </a:xfrm>
          <a:prstGeom prst="rect">
            <a:avLst/>
          </a:prstGeom>
          <a:noFill/>
          <a:ln>
            <a:noFill/>
          </a:ln>
        </p:spPr>
        <p:txBody>
          <a:bodyPr wrap="square" lIns="0" tIns="0" rIns="0" bIns="0" rtlCol="0" anchor="t">
            <a:noAutofit/>
          </a:bodyPr>
          <a:lstStyle/>
          <a:p>
            <a:pPr marL="0" indent="0" algn="l">
              <a:lnSpc>
                <a:spcPct val="100000"/>
              </a:lnSpc>
              <a:spcBef>
                <a:spcPts val="0"/>
              </a:spcBef>
              <a:buNone/>
            </a:pPr>
            <a:r>
              <a:rPr lang="es-ES" sz="1400" b="1" dirty="0">
                <a:solidFill>
                  <a:srgbClr val="051C2C"/>
                </a:solidFill>
                <a:latin typeface="Arial"/>
                <a:ea typeface="Arial"/>
                <a:cs typeface="Arial"/>
              </a:rPr>
              <a:t>No extrapola: </a:t>
            </a:r>
            <a:r>
              <a:rPr lang="es-ES" sz="1400" dirty="0">
                <a:solidFill>
                  <a:srgbClr val="1B1B1B"/>
                </a:solidFill>
                <a:latin typeface="Arial"/>
                <a:ea typeface="Arial"/>
                <a:cs typeface="Arial"/>
              </a:rPr>
              <a:t>fuera del rango observado (por ejemplo, más sesiones que las vistas) no sigue la tendencia.</a:t>
            </a:r>
          </a:p>
        </p:txBody>
      </p:sp>
      <p:sp>
        <p:nvSpPr>
          <p:cNvPr id="36" name="Marcador 3"/>
          <p:cNvSpPr/>
          <p:nvPr/>
        </p:nvSpPr>
        <p:spPr>
          <a:xfrm>
            <a:off x="5689600" y="4559300"/>
            <a:ext cx="330200" cy="330200"/>
          </a:xfrm>
          <a:prstGeom prst="ellipse">
            <a:avLst/>
          </a:prstGeom>
          <a:solidFill>
            <a:srgbClr val="00B0F0"/>
          </a:solidFill>
          <a:ln>
            <a:noFill/>
          </a:ln>
        </p:spPr>
        <p:txBody>
          <a:bodyPr wrap="square" lIns="0" tIns="0" rIns="0" bIns="0" rtlCol="0" anchor="ctr">
            <a:noAutofit/>
          </a:bodyPr>
          <a:lstStyle/>
          <a:p>
            <a:pPr marL="0" indent="0" algn="ctr">
              <a:lnSpc>
                <a:spcPct val="100000"/>
              </a:lnSpc>
              <a:spcBef>
                <a:spcPts val="0"/>
              </a:spcBef>
              <a:buNone/>
            </a:pPr>
            <a:r>
              <a:rPr lang="es-ES" sz="1400" b="1" dirty="0">
                <a:solidFill>
                  <a:srgbClr val="051C2C"/>
                </a:solidFill>
                <a:latin typeface="Arial"/>
                <a:ea typeface="Arial"/>
                <a:cs typeface="Arial"/>
              </a:rPr>
              <a:t>3</a:t>
            </a:r>
          </a:p>
        </p:txBody>
      </p:sp>
      <p:sp>
        <p:nvSpPr>
          <p:cNvPr id="37" name="Limitación 3"/>
          <p:cNvSpPr/>
          <p:nvPr/>
        </p:nvSpPr>
        <p:spPr>
          <a:xfrm>
            <a:off x="6172200" y="4572000"/>
            <a:ext cx="5359400" cy="508000"/>
          </a:xfrm>
          <a:prstGeom prst="rect">
            <a:avLst/>
          </a:prstGeom>
          <a:noFill/>
          <a:ln>
            <a:noFill/>
          </a:ln>
        </p:spPr>
        <p:txBody>
          <a:bodyPr wrap="square" lIns="0" tIns="0" rIns="0" bIns="0" rtlCol="0" anchor="t">
            <a:noAutofit/>
          </a:bodyPr>
          <a:lstStyle/>
          <a:p>
            <a:pPr marL="0" indent="0" algn="l">
              <a:lnSpc>
                <a:spcPct val="100000"/>
              </a:lnSpc>
              <a:spcBef>
                <a:spcPts val="0"/>
              </a:spcBef>
              <a:buNone/>
            </a:pPr>
            <a:r>
              <a:rPr lang="es-ES" sz="1400" b="1" dirty="0">
                <a:solidFill>
                  <a:srgbClr val="051C2C"/>
                </a:solidFill>
                <a:latin typeface="Arial"/>
                <a:ea typeface="Arial"/>
                <a:cs typeface="Arial"/>
              </a:rPr>
              <a:t>Predice, no explica causas: </a:t>
            </a:r>
            <a:r>
              <a:rPr lang="es-ES" sz="1400" dirty="0">
                <a:solidFill>
                  <a:srgbClr val="1B1B1B"/>
                </a:solidFill>
                <a:latin typeface="Arial"/>
                <a:ea typeface="Arial"/>
                <a:cs typeface="Arial"/>
              </a:rPr>
              <a:t>que el bosque use una variable no significa que cambiarla cambie el gasto.</a:t>
            </a:r>
          </a:p>
        </p:txBody>
      </p:sp>
      <p:sp>
        <p:nvSpPr>
          <p:cNvPr id="38" name="Marcador 4"/>
          <p:cNvSpPr/>
          <p:nvPr/>
        </p:nvSpPr>
        <p:spPr>
          <a:xfrm>
            <a:off x="5689600" y="5626100"/>
            <a:ext cx="330200" cy="330200"/>
          </a:xfrm>
          <a:prstGeom prst="ellipse">
            <a:avLst/>
          </a:prstGeom>
          <a:solidFill>
            <a:srgbClr val="00B0F0"/>
          </a:solidFill>
          <a:ln>
            <a:noFill/>
          </a:ln>
        </p:spPr>
        <p:txBody>
          <a:bodyPr wrap="square" lIns="0" tIns="0" rIns="0" bIns="0" rtlCol="0" anchor="ctr">
            <a:noAutofit/>
          </a:bodyPr>
          <a:lstStyle/>
          <a:p>
            <a:pPr marL="0" indent="0" algn="ctr">
              <a:lnSpc>
                <a:spcPct val="100000"/>
              </a:lnSpc>
              <a:spcBef>
                <a:spcPts val="0"/>
              </a:spcBef>
              <a:buNone/>
            </a:pPr>
            <a:r>
              <a:rPr lang="es-ES" sz="1400" b="1" dirty="0">
                <a:solidFill>
                  <a:srgbClr val="051C2C"/>
                </a:solidFill>
                <a:latin typeface="Arial"/>
                <a:ea typeface="Arial"/>
                <a:cs typeface="Arial"/>
              </a:rPr>
              <a:t>4</a:t>
            </a:r>
          </a:p>
        </p:txBody>
      </p:sp>
      <p:sp>
        <p:nvSpPr>
          <p:cNvPr id="39" name="Limitación 4"/>
          <p:cNvSpPr/>
          <p:nvPr/>
        </p:nvSpPr>
        <p:spPr>
          <a:xfrm>
            <a:off x="6172200" y="5638800"/>
            <a:ext cx="5359400" cy="508000"/>
          </a:xfrm>
          <a:prstGeom prst="rect">
            <a:avLst/>
          </a:prstGeom>
          <a:noFill/>
          <a:ln>
            <a:noFill/>
          </a:ln>
        </p:spPr>
        <p:txBody>
          <a:bodyPr wrap="square" lIns="0" tIns="0" rIns="0" bIns="0" rtlCol="0" anchor="t">
            <a:noAutofit/>
          </a:bodyPr>
          <a:lstStyle/>
          <a:p>
            <a:pPr marL="0" indent="0" algn="l">
              <a:lnSpc>
                <a:spcPct val="100000"/>
              </a:lnSpc>
              <a:spcBef>
                <a:spcPts val="0"/>
              </a:spcBef>
              <a:buNone/>
            </a:pPr>
            <a:r>
              <a:rPr lang="es-ES" sz="1400" b="1" dirty="0">
                <a:solidFill>
                  <a:srgbClr val="051C2C"/>
                </a:solidFill>
                <a:latin typeface="Arial"/>
                <a:ea typeface="Arial"/>
                <a:cs typeface="Arial"/>
              </a:rPr>
              <a:t>Más pesado de mantener: </a:t>
            </a:r>
            <a:r>
              <a:rPr lang="es-ES" sz="1400" dirty="0">
                <a:solidFill>
                  <a:srgbClr val="1B1B1B"/>
                </a:solidFill>
                <a:latin typeface="Arial"/>
                <a:ea typeface="Arial"/>
                <a:cs typeface="Arial"/>
              </a:rPr>
              <a:t>hay que reestimar 1,000 árboles.</a:t>
            </a:r>
          </a:p>
        </p:txBody>
      </p:sp>
      <p:sp>
        <p:nvSpPr>
          <p:cNvPr id="16" name="Text 13"/>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fld id="{B6F15528-21DE-4FAA-801E-634DDDAF4B2B}" type="slidenum">
              <a:rPr lang="en-US" sz="1200">
                <a:solidFill>
                  <a:srgbClr val="6B7782"/>
                </a:solidFill>
                <a:latin typeface="Arial" pitchFamily="34" charset="0"/>
                <a:ea typeface="Arial" pitchFamily="34" charset="-122"/>
                <a:cs typeface="Arial" pitchFamily="34" charset="-120"/>
              </a:rPr>
              <a:t>11</a:t>
            </a:fld>
            <a:endParaRPr lang="en-US" sz="1200"/>
          </a:p>
        </p:txBody>
      </p:sp>
    </p:spTree>
    <p:extLst>
      <p:ext uri="{BB962C8B-B14F-4D97-AF65-F5344CB8AC3E}">
        <p14:creationId xmlns:p14="http://schemas.microsoft.com/office/powerpoint/2010/main" val="10601685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81000"/>
            <a:ext cx="11201400" cy="762000"/>
          </a:xfrm>
          <a:prstGeom prst="rect">
            <a:avLst/>
          </a:prstGeom>
          <a:noFill/>
          <a:ln/>
        </p:spPr>
        <p:txBody>
          <a:bodyPr wrap="square" lIns="0" tIns="0" rIns="0" bIns="0" rtlCol="0" anchor="t">
            <a:normAutofit/>
          </a:bodyPr>
          <a:lstStyle/>
          <a:p>
            <a:pPr marL="0" indent="0" algn="l">
              <a:lnSpc>
                <a:spcPts val="2912"/>
              </a:lnSpc>
              <a:buNone/>
            </a:pPr>
            <a:r>
              <a:rPr lang="en-US" b="1" dirty="0"/>
              <a:t>Bosque causal </a:t>
            </a:r>
            <a:r>
              <a:rPr lang="en-US" b="1" dirty="0" err="1"/>
              <a:t>honesto</a:t>
            </a:r>
            <a:r>
              <a:rPr lang="en-US" b="1" dirty="0"/>
              <a:t> para encontrar </a:t>
            </a:r>
            <a:r>
              <a:rPr lang="en-US" b="1" dirty="0" err="1"/>
              <a:t>efectos</a:t>
            </a:r>
            <a:r>
              <a:rPr lang="en-US" b="1" dirty="0"/>
              <a:t> de </a:t>
            </a:r>
            <a:r>
              <a:rPr lang="en-US" b="1" dirty="0" err="1"/>
              <a:t>tratamiento</a:t>
            </a:r>
            <a:r>
              <a:rPr lang="en-US" b="1" dirty="0"/>
              <a:t> </a:t>
            </a:r>
            <a:r>
              <a:rPr lang="en-US" b="1" dirty="0" err="1"/>
              <a:t>heterogéneos</a:t>
            </a:r>
            <a:endParaRPr lang="en-US" sz="2600" b="1" dirty="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dirty="0" err="1">
                <a:solidFill>
                  <a:srgbClr val="3B4A57"/>
                </a:solidFill>
                <a:latin typeface="Arial" pitchFamily="34" charset="0"/>
                <a:ea typeface="Arial" pitchFamily="34" charset="-122"/>
                <a:cs typeface="Arial" pitchFamily="34" charset="-120"/>
              </a:rPr>
              <a:t>Parte</a:t>
            </a:r>
            <a:r>
              <a:rPr lang="en-US" sz="1400" dirty="0">
                <a:solidFill>
                  <a:srgbClr val="3B4A57"/>
                </a:solidFill>
                <a:latin typeface="Arial" pitchFamily="34" charset="0"/>
                <a:ea typeface="Arial" pitchFamily="34" charset="-122"/>
                <a:cs typeface="Arial" pitchFamily="34" charset="-120"/>
              </a:rPr>
              <a:t> B · </a:t>
            </a:r>
            <a:r>
              <a:rPr lang="en-US" sz="1400" dirty="0" err="1">
                <a:solidFill>
                  <a:srgbClr val="3B4A57"/>
                </a:solidFill>
                <a:latin typeface="Arial" pitchFamily="34" charset="0"/>
                <a:ea typeface="Arial" pitchFamily="34" charset="-122"/>
                <a:cs typeface="Arial" pitchFamily="34" charset="-120"/>
              </a:rPr>
              <a:t>Experimento</a:t>
            </a:r>
            <a:r>
              <a:rPr lang="en-US" sz="1400" dirty="0">
                <a:solidFill>
                  <a:srgbClr val="3B4A57"/>
                </a:solidFill>
                <a:latin typeface="Arial" pitchFamily="34" charset="0"/>
                <a:ea typeface="Arial" pitchFamily="34" charset="-122"/>
                <a:cs typeface="Arial" pitchFamily="34" charset="-120"/>
              </a:rPr>
              <a:t> A/B (n = 10,000)</a:t>
            </a:r>
            <a:endParaRPr lang="en-US" sz="1400" dirty="0"/>
          </a:p>
        </p:txBody>
      </p:sp>
      <p:sp>
        <p:nvSpPr>
          <p:cNvPr id="20" name="Tarjeta 20"/>
          <p:cNvSpPr/>
          <p:nvPr/>
        </p:nvSpPr>
        <p:spPr>
          <a:xfrm>
            <a:off x="660400" y="1803400"/>
            <a:ext cx="2590800" cy="3149600"/>
          </a:xfrm>
          <a:prstGeom prst="roundRect">
            <a:avLst>
              <a:gd name="adj" fmla="val 7522"/>
            </a:avLst>
          </a:prstGeom>
          <a:noFill/>
          <a:ln w="12700">
            <a:solidFill>
              <a:schemeClr val="tx1">
                <a:lumMod val="25000"/>
                <a:lumOff val="75000"/>
              </a:schemeClr>
            </a:solidFill>
          </a:ln>
        </p:spPr>
        <p:txBody>
          <a:bodyPr wrap="square" lIns="177800" tIns="152400" rIns="177800" bIns="127000" rtlCol="0" anchor="t">
            <a:noAutofit/>
          </a:bodyPr>
          <a:lstStyle/>
          <a:p>
            <a:pPr marL="0" indent="0" algn="l">
              <a:lnSpc>
                <a:spcPct val="100000"/>
              </a:lnSpc>
              <a:spcBef>
                <a:spcPts val="0"/>
              </a:spcBef>
              <a:buNone/>
            </a:pPr>
            <a:r>
              <a:rPr lang="es-ES" sz="1700" b="1" dirty="0">
                <a:solidFill>
                  <a:srgbClr val="051C2C"/>
                </a:solidFill>
                <a:latin typeface="Arial"/>
                <a:ea typeface="Arial"/>
                <a:cs typeface="Arial"/>
              </a:rPr>
              <a:t>Qué hace</a:t>
            </a:r>
          </a:p>
          <a:p>
            <a:pPr marL="0" indent="0" algn="l">
              <a:lnSpc>
                <a:spcPct val="100000"/>
              </a:lnSpc>
              <a:spcBef>
                <a:spcPts val="600"/>
              </a:spcBef>
              <a:buNone/>
            </a:pPr>
            <a:r>
              <a:rPr lang="es-ES" sz="1400" dirty="0">
                <a:solidFill>
                  <a:srgbClr val="1B1B1B"/>
                </a:solidFill>
                <a:latin typeface="Arial"/>
                <a:ea typeface="Arial"/>
                <a:cs typeface="Arial"/>
              </a:rPr>
              <a:t>Un conjunto de árboles que, en lugar de predecir el gasto, buscan grupos de usuarios en los que el registro facilitado tiene un efecto distinto. Cada usuario recibe un efecto estimado según sus características.</a:t>
            </a:r>
          </a:p>
        </p:txBody>
      </p:sp>
      <p:sp>
        <p:nvSpPr>
          <p:cNvPr id="21" name="Tarjeta 21"/>
          <p:cNvSpPr/>
          <p:nvPr/>
        </p:nvSpPr>
        <p:spPr>
          <a:xfrm>
            <a:off x="3326410" y="1792514"/>
            <a:ext cx="3505200" cy="3149600"/>
          </a:xfrm>
          <a:prstGeom prst="roundRect">
            <a:avLst>
              <a:gd name="adj" fmla="val 7522"/>
            </a:avLst>
          </a:prstGeom>
          <a:noFill/>
          <a:ln w="12700">
            <a:solidFill>
              <a:schemeClr val="tx1">
                <a:lumMod val="50000"/>
                <a:lumOff val="50000"/>
              </a:schemeClr>
            </a:solidFill>
          </a:ln>
        </p:spPr>
        <p:txBody>
          <a:bodyPr wrap="square" lIns="177800" tIns="152400" rIns="177800" bIns="127000" rtlCol="0" anchor="t">
            <a:noAutofit/>
          </a:bodyPr>
          <a:lstStyle/>
          <a:p>
            <a:pPr marL="0" indent="0" algn="l">
              <a:lnSpc>
                <a:spcPct val="100000"/>
              </a:lnSpc>
              <a:spcBef>
                <a:spcPts val="0"/>
              </a:spcBef>
              <a:buNone/>
            </a:pPr>
            <a:r>
              <a:rPr lang="es-ES" sz="1700" b="1" dirty="0">
                <a:solidFill>
                  <a:srgbClr val="051C2C"/>
                </a:solidFill>
                <a:latin typeface="Arial"/>
                <a:ea typeface="Arial"/>
                <a:cs typeface="Arial"/>
              </a:rPr>
              <a:t>Por qué es honesto</a:t>
            </a:r>
          </a:p>
          <a:p>
            <a:pPr marL="0" indent="0" algn="l">
              <a:lnSpc>
                <a:spcPct val="100000"/>
              </a:lnSpc>
              <a:spcBef>
                <a:spcPts val="600"/>
              </a:spcBef>
              <a:buNone/>
            </a:pPr>
            <a:r>
              <a:rPr lang="es-ES" sz="1400" dirty="0">
                <a:solidFill>
                  <a:srgbClr val="1B1B1B"/>
                </a:solidFill>
                <a:latin typeface="Arial"/>
                <a:ea typeface="Arial"/>
                <a:cs typeface="Arial"/>
              </a:rPr>
              <a:t>Cada árbol divide su muestra en dos:</a:t>
            </a:r>
          </a:p>
          <a:p>
            <a:pPr marL="285750" indent="-285750" algn="l">
              <a:lnSpc>
                <a:spcPct val="100000"/>
              </a:lnSpc>
              <a:spcBef>
                <a:spcPts val="600"/>
              </a:spcBef>
              <a:buFontTx/>
              <a:buChar char="-"/>
            </a:pPr>
            <a:r>
              <a:rPr lang="es-ES" sz="1400" dirty="0">
                <a:solidFill>
                  <a:srgbClr val="1B1B1B"/>
                </a:solidFill>
                <a:latin typeface="Arial"/>
                <a:ea typeface="Arial"/>
                <a:cs typeface="Arial"/>
              </a:rPr>
              <a:t>Una mitad decide dónde cortar y </a:t>
            </a:r>
          </a:p>
          <a:p>
            <a:pPr marL="285750" indent="-285750" algn="l">
              <a:lnSpc>
                <a:spcPct val="100000"/>
              </a:lnSpc>
              <a:spcBef>
                <a:spcPts val="600"/>
              </a:spcBef>
              <a:buFontTx/>
              <a:buChar char="-"/>
            </a:pPr>
            <a:r>
              <a:rPr lang="es-ES" sz="1400" dirty="0">
                <a:solidFill>
                  <a:srgbClr val="1B1B1B"/>
                </a:solidFill>
                <a:latin typeface="Arial"/>
                <a:ea typeface="Arial"/>
                <a:cs typeface="Arial"/>
              </a:rPr>
              <a:t>La otra mide el efecto en cada grupo. </a:t>
            </a:r>
          </a:p>
          <a:p>
            <a:pPr marL="285750" indent="-285750" algn="l">
              <a:lnSpc>
                <a:spcPct val="100000"/>
              </a:lnSpc>
              <a:spcBef>
                <a:spcPts val="600"/>
              </a:spcBef>
              <a:buFontTx/>
              <a:buChar char="-"/>
            </a:pPr>
            <a:r>
              <a:rPr lang="es-ES" sz="1400" dirty="0">
                <a:solidFill>
                  <a:srgbClr val="1B1B1B"/>
                </a:solidFill>
                <a:latin typeface="Arial"/>
                <a:ea typeface="Arial"/>
                <a:cs typeface="Arial"/>
              </a:rPr>
              <a:t>Evita identificar ruido como diferencias entre controles y tratados.</a:t>
            </a:r>
          </a:p>
        </p:txBody>
      </p:sp>
      <p:sp>
        <p:nvSpPr>
          <p:cNvPr id="22" name="Tarjeta 22"/>
          <p:cNvSpPr/>
          <p:nvPr/>
        </p:nvSpPr>
        <p:spPr>
          <a:xfrm>
            <a:off x="7264400" y="1803400"/>
            <a:ext cx="4267200" cy="3149600"/>
          </a:xfrm>
          <a:prstGeom prst="roundRect">
            <a:avLst>
              <a:gd name="adj" fmla="val 7522"/>
            </a:avLst>
          </a:prstGeom>
          <a:noFill/>
          <a:ln w="12700">
            <a:solidFill>
              <a:schemeClr val="tx1">
                <a:lumMod val="75000"/>
                <a:lumOff val="25000"/>
              </a:schemeClr>
            </a:solidFill>
          </a:ln>
        </p:spPr>
        <p:txBody>
          <a:bodyPr wrap="square" lIns="177800" tIns="152400" rIns="177800" bIns="127000" rtlCol="0" anchor="t">
            <a:noAutofit/>
          </a:bodyPr>
          <a:lstStyle/>
          <a:p>
            <a:pPr marL="0" indent="0" algn="l">
              <a:lnSpc>
                <a:spcPct val="100000"/>
              </a:lnSpc>
              <a:spcBef>
                <a:spcPts val="0"/>
              </a:spcBef>
              <a:buNone/>
            </a:pPr>
            <a:r>
              <a:rPr lang="es-ES" sz="1700" b="1" dirty="0">
                <a:solidFill>
                  <a:srgbClr val="051C2C"/>
                </a:solidFill>
                <a:latin typeface="Arial"/>
                <a:ea typeface="Arial"/>
                <a:cs typeface="Arial"/>
              </a:rPr>
              <a:t>Cómo se entrenó</a:t>
            </a:r>
          </a:p>
          <a:p>
            <a:pPr marL="171450" indent="-171450" algn="l">
              <a:lnSpc>
                <a:spcPct val="100000"/>
              </a:lnSpc>
              <a:spcBef>
                <a:spcPts val="600"/>
              </a:spcBef>
              <a:buClr>
                <a:srgbClr val="00B0F0"/>
              </a:buClr>
              <a:buFont typeface="Arial"/>
              <a:buChar char="•"/>
            </a:pPr>
            <a:r>
              <a:rPr lang="es-ES" sz="1400" b="1" dirty="0">
                <a:solidFill>
                  <a:srgbClr val="1B1B1B"/>
                </a:solidFill>
                <a:latin typeface="Arial"/>
                <a:ea typeface="Arial"/>
                <a:cs typeface="Arial"/>
              </a:rPr>
              <a:t>2,000 árboles</a:t>
            </a:r>
            <a:r>
              <a:rPr lang="es-ES" sz="1400" dirty="0">
                <a:solidFill>
                  <a:srgbClr val="1B1B1B"/>
                </a:solidFill>
                <a:latin typeface="Arial"/>
                <a:ea typeface="Arial"/>
                <a:cs typeface="Arial"/>
              </a:rPr>
              <a:t>, semilla 2026.</a:t>
            </a:r>
          </a:p>
          <a:p>
            <a:pPr marL="171450" indent="-171450" algn="l">
              <a:lnSpc>
                <a:spcPct val="100000"/>
              </a:lnSpc>
              <a:spcBef>
                <a:spcPts val="600"/>
              </a:spcBef>
              <a:buClr>
                <a:srgbClr val="00B0F0"/>
              </a:buClr>
              <a:buFont typeface="Arial"/>
              <a:buChar char="•"/>
            </a:pPr>
            <a:r>
              <a:rPr lang="es-ES" sz="1400" dirty="0">
                <a:solidFill>
                  <a:srgbClr val="1B1B1B"/>
                </a:solidFill>
                <a:latin typeface="Arial"/>
                <a:ea typeface="Arial"/>
                <a:cs typeface="Arial"/>
              </a:rPr>
              <a:t>5 características previas al tratamiento: tiempo en el sitio, sesiones anteriores, dispositivo, usuario recurrente y sistema operativo.</a:t>
            </a:r>
          </a:p>
          <a:p>
            <a:pPr marL="171450" indent="-171450" algn="l">
              <a:lnSpc>
                <a:spcPct val="100000"/>
              </a:lnSpc>
              <a:spcBef>
                <a:spcPts val="600"/>
              </a:spcBef>
              <a:buClr>
                <a:srgbClr val="00B0F0"/>
              </a:buClr>
              <a:buFont typeface="Arial"/>
              <a:buChar char="•"/>
            </a:pPr>
            <a:r>
              <a:rPr lang="es-ES" sz="1400" dirty="0">
                <a:solidFill>
                  <a:srgbClr val="1B1B1B"/>
                </a:solidFill>
                <a:latin typeface="Arial"/>
                <a:ea typeface="Arial"/>
                <a:cs typeface="Arial"/>
              </a:rPr>
              <a:t>Probabilidad de tratamiento fijada en la proporción tratada (la asignación fue aleatoria).</a:t>
            </a:r>
          </a:p>
          <a:p>
            <a:pPr marL="171450" indent="-171450" algn="l">
              <a:lnSpc>
                <a:spcPct val="100000"/>
              </a:lnSpc>
              <a:spcBef>
                <a:spcPts val="600"/>
              </a:spcBef>
              <a:buClr>
                <a:srgbClr val="00B0F0"/>
              </a:buClr>
              <a:buFont typeface="Arial"/>
              <a:buChar char="•"/>
            </a:pPr>
            <a:r>
              <a:rPr lang="es-ES" sz="1400" b="1" dirty="0">
                <a:solidFill>
                  <a:srgbClr val="1B1B1B"/>
                </a:solidFill>
                <a:latin typeface="Arial"/>
                <a:ea typeface="Arial"/>
                <a:cs typeface="Arial"/>
              </a:rPr>
              <a:t>Muestra honesta 50/50</a:t>
            </a:r>
            <a:r>
              <a:rPr lang="es-ES" sz="1400" dirty="0">
                <a:solidFill>
                  <a:srgbClr val="1B1B1B"/>
                </a:solidFill>
                <a:latin typeface="Arial"/>
                <a:ea typeface="Arial"/>
                <a:cs typeface="Arial"/>
              </a:rPr>
              <a:t> y demás parámetros por defecto, sin ajuste fino.</a:t>
            </a:r>
          </a:p>
        </p:txBody>
      </p:sp>
      <p:sp>
        <p:nvSpPr>
          <p:cNvPr id="23" name="Franja selección"/>
          <p:cNvSpPr/>
          <p:nvPr/>
        </p:nvSpPr>
        <p:spPr>
          <a:xfrm>
            <a:off x="660400" y="5257800"/>
            <a:ext cx="10871200" cy="1092200"/>
          </a:xfrm>
          <a:prstGeom prst="roundRect">
            <a:avLst>
              <a:gd name="adj" fmla="val 7522"/>
            </a:avLst>
          </a:prstGeom>
          <a:solidFill>
            <a:srgbClr val="051C2C"/>
          </a:solidFill>
          <a:ln>
            <a:noFill/>
          </a:ln>
        </p:spPr>
        <p:txBody>
          <a:bodyPr wrap="square" lIns="254000" tIns="101600" rIns="254000" bIns="127000" rtlCol="0" anchor="t">
            <a:noAutofit/>
          </a:bodyPr>
          <a:lstStyle/>
          <a:p>
            <a:pPr marL="0" indent="0" algn="l">
              <a:lnSpc>
                <a:spcPct val="100000"/>
              </a:lnSpc>
              <a:spcBef>
                <a:spcPts val="0"/>
              </a:spcBef>
              <a:buNone/>
            </a:pPr>
            <a:r>
              <a:rPr lang="es-ES" sz="1700" b="1" dirty="0">
                <a:solidFill>
                  <a:srgbClr val="00B0F0"/>
                </a:solidFill>
                <a:latin typeface="Georgia"/>
                <a:ea typeface="Georgia"/>
                <a:cs typeface="Georgia"/>
              </a:rPr>
              <a:t>Selección del modelo final</a:t>
            </a:r>
          </a:p>
          <a:p>
            <a:pPr marL="0" indent="0" algn="l">
              <a:lnSpc>
                <a:spcPct val="100000"/>
              </a:lnSpc>
              <a:spcBef>
                <a:spcPts val="500"/>
              </a:spcBef>
              <a:buNone/>
            </a:pPr>
            <a:r>
              <a:rPr lang="es-ES" sz="1600" b="1" dirty="0">
                <a:solidFill>
                  <a:srgbClr val="FFFFFF"/>
                </a:solidFill>
                <a:latin typeface="Arial"/>
                <a:ea typeface="Arial"/>
                <a:cs typeface="Arial"/>
              </a:rPr>
              <a:t>Modelo principal: ln(Revenue).</a:t>
            </a:r>
            <a:r>
              <a:rPr lang="es-ES" sz="1600" dirty="0">
                <a:solidFill>
                  <a:srgbClr val="FFFFFF"/>
                </a:solidFill>
                <a:latin typeface="Arial"/>
                <a:ea typeface="Arial"/>
                <a:cs typeface="Arial"/>
              </a:rPr>
              <a:t> Se repite en dólares y sin el tiempo en el sitio como prueba de robustez. Los grupos se evalúan en una mitad del experimento que no se usó para elegirlos.</a:t>
            </a:r>
          </a:p>
        </p:txBody>
      </p:sp>
      <p:sp>
        <p:nvSpPr>
          <p:cNvPr id="16" name="Text 13"/>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12</a:t>
            </a:r>
            <a:endParaRPr lang="en-US" sz="1200"/>
          </a:p>
        </p:txBody>
      </p:sp>
    </p:spTree>
    <p:extLst>
      <p:ext uri="{BB962C8B-B14F-4D97-AF65-F5344CB8AC3E}">
        <p14:creationId xmlns:p14="http://schemas.microsoft.com/office/powerpoint/2010/main" val="11953516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78023"/>
            <a:ext cx="11197336" cy="764977"/>
          </a:xfrm>
          <a:prstGeom prst="rect">
            <a:avLst/>
          </a:prstGeom>
          <a:noFill/>
          <a:ln/>
        </p:spPr>
        <p:txBody>
          <a:bodyPr wrap="square" lIns="0" tIns="0" rIns="0" bIns="0" rtlCol="0" anchor="t">
            <a:normAutofit/>
          </a:bodyPr>
          <a:lstStyle/>
          <a:p>
            <a:pPr marL="0" indent="0" algn="l">
              <a:lnSpc>
                <a:spcPts val="2912"/>
              </a:lnSpc>
              <a:buNone/>
            </a:pPr>
            <a:r>
              <a:rPr lang="en-US" sz="2600" b="1" i="0">
                <a:solidFill>
                  <a:srgbClr val="051C2C"/>
                </a:solidFill>
                <a:latin typeface="Georgia" pitchFamily="18" charset="0"/>
                <a:ea typeface="Georgia" pitchFamily="18" charset="-122"/>
                <a:cs typeface="Georgia" pitchFamily="18" charset="-120"/>
              </a:rPr>
              <a:t>Dispositivo y sistema operativo separan a quien gana de quien pierde</a:t>
            </a:r>
            <a:endParaRPr lang="en-US" sz="260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Parte B · Efecto por grupo con bosque causal · Causal</a:t>
            </a:r>
            <a:endParaRPr lang="en-US" sz="1400"/>
          </a:p>
        </p:txBody>
      </p:sp>
      <p:pic>
        <p:nvPicPr>
          <p:cNvPr id="5" name="Image 1" descr="Efecto del registro facilitado por dispositivo y sistema operativo, en porcentaje y en dólares"/>
          <p:cNvPicPr>
            <a:picLocks noChangeAspect="1"/>
          </p:cNvPicPr>
          <p:nvPr/>
        </p:nvPicPr>
        <p:blipFill>
          <a:blip r:embed="rId4"/>
          <a:srcRect l="-51" r="-51"/>
          <a:stretch/>
        </p:blipFill>
        <p:spPr>
          <a:xfrm>
            <a:off x="666750" y="1648470"/>
            <a:ext cx="6908800" cy="4641850"/>
          </a:xfrm>
          <a:prstGeom prst="rect">
            <a:avLst/>
          </a:prstGeom>
        </p:spPr>
      </p:pic>
      <p:sp>
        <p:nvSpPr>
          <p:cNvPr id="6" name="Shape 2"/>
          <p:cNvSpPr/>
          <p:nvPr/>
        </p:nvSpPr>
        <p:spPr>
          <a:xfrm>
            <a:off x="663575" y="1645295"/>
            <a:ext cx="6915150" cy="4648200"/>
          </a:xfrm>
          <a:prstGeom prst="rect">
            <a:avLst/>
          </a:prstGeom>
          <a:noFill/>
          <a:ln w="6350">
            <a:solidFill>
              <a:srgbClr val="C9D1D8"/>
            </a:solidFill>
            <a:prstDash val="solid"/>
          </a:ln>
        </p:spPr>
        <p:txBody>
          <a:bodyPr/>
          <a:lstStyle/>
          <a:p>
            <a:endParaRPr lang="en-US"/>
          </a:p>
        </p:txBody>
      </p:sp>
      <p:sp>
        <p:nvSpPr>
          <p:cNvPr id="7" name="Text 3"/>
          <p:cNvSpPr/>
          <p:nvPr/>
        </p:nvSpPr>
        <p:spPr>
          <a:xfrm>
            <a:off x="7886700" y="2349599"/>
            <a:ext cx="3754247" cy="452090"/>
          </a:xfrm>
          <a:prstGeom prst="rect">
            <a:avLst/>
          </a:prstGeom>
          <a:noFill/>
          <a:ln/>
        </p:spPr>
        <p:txBody>
          <a:bodyPr wrap="square" lIns="0" tIns="0" rIns="0" bIns="0" rtlCol="0" anchor="t">
            <a:normAutofit/>
          </a:bodyPr>
          <a:lstStyle/>
          <a:p>
            <a:pPr marL="0" indent="0" algn="l">
              <a:lnSpc>
                <a:spcPts val="3360"/>
              </a:lnSpc>
              <a:buNone/>
            </a:pPr>
            <a:r>
              <a:rPr lang="en-US" sz="2400" b="1">
                <a:solidFill>
                  <a:srgbClr val="2B5EA3"/>
                </a:solidFill>
                <a:latin typeface="Arial" pitchFamily="34" charset="0"/>
                <a:ea typeface="Arial" pitchFamily="34" charset="-122"/>
                <a:cs typeface="Arial" pitchFamily="34" charset="-120"/>
              </a:rPr>
              <a:t>+35% a +45%</a:t>
            </a:r>
            <a:endParaRPr lang="en-US" sz="2400"/>
          </a:p>
        </p:txBody>
      </p:sp>
      <p:sp>
        <p:nvSpPr>
          <p:cNvPr id="8" name="Text 4"/>
          <p:cNvSpPr/>
          <p:nvPr/>
        </p:nvSpPr>
        <p:spPr>
          <a:xfrm>
            <a:off x="7886700" y="2788989"/>
            <a:ext cx="3754247" cy="240010"/>
          </a:xfrm>
          <a:prstGeom prst="rect">
            <a:avLst/>
          </a:prstGeom>
          <a:noFill/>
          <a:ln/>
        </p:spPr>
        <p:txBody>
          <a:bodyPr wrap="square" lIns="0" tIns="0" rIns="0" bIns="0" rtlCol="0" anchor="t">
            <a:normAutofit/>
          </a:bodyPr>
          <a:lstStyle/>
          <a:p>
            <a:pPr marL="0" indent="0" algn="l">
              <a:lnSpc>
                <a:spcPts val="1690"/>
              </a:lnSpc>
              <a:buNone/>
            </a:pPr>
            <a:r>
              <a:rPr lang="en-US" sz="1300">
                <a:solidFill>
                  <a:srgbClr val="1B1B1B"/>
                </a:solidFill>
                <a:latin typeface="Arial" pitchFamily="34" charset="0"/>
                <a:ea typeface="Arial" pitchFamily="34" charset="-122"/>
                <a:cs typeface="Arial" pitchFamily="34" charset="-120"/>
              </a:rPr>
              <a:t>computador y tableta con osx (15% de la base)</a:t>
            </a:r>
            <a:endParaRPr lang="en-US" sz="1300"/>
          </a:p>
        </p:txBody>
      </p:sp>
      <p:sp>
        <p:nvSpPr>
          <p:cNvPr id="9" name="Text 5"/>
          <p:cNvSpPr/>
          <p:nvPr/>
        </p:nvSpPr>
        <p:spPr>
          <a:xfrm>
            <a:off x="7886700" y="3143300"/>
            <a:ext cx="3754247" cy="452090"/>
          </a:xfrm>
          <a:prstGeom prst="rect">
            <a:avLst/>
          </a:prstGeom>
          <a:noFill/>
          <a:ln/>
        </p:spPr>
        <p:txBody>
          <a:bodyPr wrap="square" lIns="0" tIns="0" rIns="0" bIns="0" rtlCol="0" anchor="t">
            <a:normAutofit/>
          </a:bodyPr>
          <a:lstStyle/>
          <a:p>
            <a:pPr marL="0" indent="0" algn="l">
              <a:lnSpc>
                <a:spcPts val="3360"/>
              </a:lnSpc>
              <a:buNone/>
            </a:pPr>
            <a:r>
              <a:rPr lang="en-US" sz="2400" b="1">
                <a:solidFill>
                  <a:srgbClr val="2B5EA3"/>
                </a:solidFill>
                <a:latin typeface="Arial" pitchFamily="34" charset="0"/>
                <a:ea typeface="Arial" pitchFamily="34" charset="-122"/>
                <a:cs typeface="Arial" pitchFamily="34" charset="-120"/>
              </a:rPr>
              <a:t>+8%</a:t>
            </a:r>
            <a:endParaRPr lang="en-US" sz="2400"/>
          </a:p>
        </p:txBody>
      </p:sp>
      <p:sp>
        <p:nvSpPr>
          <p:cNvPr id="10" name="Text 6"/>
          <p:cNvSpPr/>
          <p:nvPr/>
        </p:nvSpPr>
        <p:spPr>
          <a:xfrm>
            <a:off x="7886700" y="3582690"/>
            <a:ext cx="3754247" cy="454620"/>
          </a:xfrm>
          <a:prstGeom prst="rect">
            <a:avLst/>
          </a:prstGeom>
          <a:noFill/>
          <a:ln/>
        </p:spPr>
        <p:txBody>
          <a:bodyPr wrap="square" lIns="0" tIns="0" rIns="0" bIns="0" rtlCol="0" anchor="t">
            <a:normAutofit/>
          </a:bodyPr>
          <a:lstStyle/>
          <a:p>
            <a:pPr marL="0" indent="0" algn="l">
              <a:lnSpc>
                <a:spcPts val="1690"/>
              </a:lnSpc>
              <a:buNone/>
            </a:pPr>
            <a:r>
              <a:rPr lang="en-US" sz="1300">
                <a:solidFill>
                  <a:srgbClr val="1B1B1B"/>
                </a:solidFill>
                <a:latin typeface="Arial" pitchFamily="34" charset="0"/>
                <a:ea typeface="Arial" pitchFamily="34" charset="-122"/>
                <a:cs typeface="Arial" pitchFamily="34" charset="-120"/>
              </a:rPr>
              <a:t>computador con Windows y celular con osx (39%)</a:t>
            </a:r>
            <a:endParaRPr lang="en-US" sz="1300"/>
          </a:p>
        </p:txBody>
      </p:sp>
      <p:sp>
        <p:nvSpPr>
          <p:cNvPr id="11" name="Text 7"/>
          <p:cNvSpPr/>
          <p:nvPr/>
        </p:nvSpPr>
        <p:spPr>
          <a:xfrm>
            <a:off x="7886700" y="4151610"/>
            <a:ext cx="3754247" cy="452090"/>
          </a:xfrm>
          <a:prstGeom prst="rect">
            <a:avLst/>
          </a:prstGeom>
          <a:noFill/>
          <a:ln/>
        </p:spPr>
        <p:txBody>
          <a:bodyPr wrap="square" lIns="0" tIns="0" rIns="0" bIns="0" rtlCol="0" anchor="t">
            <a:normAutofit/>
          </a:bodyPr>
          <a:lstStyle/>
          <a:p>
            <a:pPr marL="0" indent="0" algn="l">
              <a:lnSpc>
                <a:spcPts val="3360"/>
              </a:lnSpc>
              <a:buNone/>
            </a:pPr>
            <a:r>
              <a:rPr lang="en-US" sz="2400" b="1">
                <a:solidFill>
                  <a:srgbClr val="A8762B"/>
                </a:solidFill>
                <a:latin typeface="Arial" pitchFamily="34" charset="0"/>
                <a:ea typeface="Arial" pitchFamily="34" charset="-122"/>
                <a:cs typeface="Arial" pitchFamily="34" charset="-120"/>
              </a:rPr>
              <a:t>−19% a −22%</a:t>
            </a:r>
            <a:endParaRPr lang="en-US" sz="2400"/>
          </a:p>
        </p:txBody>
      </p:sp>
      <p:sp>
        <p:nvSpPr>
          <p:cNvPr id="12" name="Text 8"/>
          <p:cNvSpPr/>
          <p:nvPr/>
        </p:nvSpPr>
        <p:spPr>
          <a:xfrm>
            <a:off x="7886700" y="4591000"/>
            <a:ext cx="3754247" cy="240010"/>
          </a:xfrm>
          <a:prstGeom prst="rect">
            <a:avLst/>
          </a:prstGeom>
          <a:noFill/>
          <a:ln/>
        </p:spPr>
        <p:txBody>
          <a:bodyPr wrap="square" lIns="0" tIns="0" rIns="0" bIns="0" rtlCol="0" anchor="t">
            <a:normAutofit/>
          </a:bodyPr>
          <a:lstStyle/>
          <a:p>
            <a:pPr marL="0" indent="0" algn="l">
              <a:lnSpc>
                <a:spcPts val="1690"/>
              </a:lnSpc>
              <a:buNone/>
            </a:pPr>
            <a:r>
              <a:rPr lang="en-US" sz="1300">
                <a:solidFill>
                  <a:srgbClr val="1B1B1B"/>
                </a:solidFill>
                <a:latin typeface="Arial" pitchFamily="34" charset="0"/>
                <a:ea typeface="Arial" pitchFamily="34" charset="-122"/>
                <a:cs typeface="Arial" pitchFamily="34" charset="-120"/>
              </a:rPr>
              <a:t>celular con Windows u otro sistema (35%)</a:t>
            </a:r>
            <a:endParaRPr lang="en-US" sz="1300"/>
          </a:p>
        </p:txBody>
      </p:sp>
      <p:sp>
        <p:nvSpPr>
          <p:cNvPr id="13" name="Text 9"/>
          <p:cNvSpPr/>
          <p:nvPr/>
        </p:nvSpPr>
        <p:spPr>
          <a:xfrm>
            <a:off x="7886700" y="4945311"/>
            <a:ext cx="3754247" cy="1143000"/>
          </a:xfrm>
          <a:prstGeom prst="rect">
            <a:avLst/>
          </a:prstGeom>
          <a:noFill/>
          <a:ln/>
        </p:spPr>
        <p:txBody>
          <a:bodyPr wrap="square" lIns="0" tIns="0" rIns="0" bIns="0" rtlCol="0" anchor="t">
            <a:normAutofit/>
          </a:bodyPr>
          <a:lstStyle/>
          <a:p>
            <a:pPr marL="0" indent="0" algn="l">
              <a:lnSpc>
                <a:spcPts val="1690"/>
              </a:lnSpc>
              <a:buNone/>
            </a:pPr>
            <a:r>
              <a:rPr lang="en-US" sz="1300">
                <a:solidFill>
                  <a:srgbClr val="3B4A57"/>
                </a:solidFill>
                <a:latin typeface="Arial" pitchFamily="34" charset="0"/>
                <a:ea typeface="Arial" pitchFamily="34" charset="-122"/>
                <a:cs typeface="Arial" pitchFamily="34" charset="-120"/>
              </a:rPr>
              <a:t>No distinguible de cero en %: computador con otro sistema y tableta con Windows (10%), ambos positivos en dólares o cerca de serlo. Tableta con otro sistema (84 usuarios) no permite concluir.</a:t>
            </a:r>
            <a:endParaRPr lang="en-US" sz="1300"/>
          </a:p>
        </p:txBody>
      </p:sp>
      <p:sp>
        <p:nvSpPr>
          <p:cNvPr id="14" name="Text 10"/>
          <p:cNvSpPr/>
          <p:nvPr/>
        </p:nvSpPr>
        <p:spPr>
          <a:xfrm>
            <a:off x="660400" y="6428780"/>
            <a:ext cx="10137775" cy="238720"/>
          </a:xfrm>
          <a:prstGeom prst="rect">
            <a:avLst/>
          </a:prstGeom>
          <a:noFill/>
          <a:ln/>
        </p:spPr>
        <p:txBody>
          <a:bodyPr wrap="square" lIns="0" tIns="0" rIns="0" bIns="0" rtlCol="0" anchor="t">
            <a:normAutofit/>
          </a:bodyPr>
          <a:lstStyle/>
          <a:p>
            <a:pPr marL="0" indent="0" algn="l">
              <a:lnSpc>
                <a:spcPts val="1680"/>
              </a:lnSpc>
              <a:buNone/>
            </a:pPr>
            <a:r>
              <a:rPr lang="en-US" sz="1200" i="1">
                <a:solidFill>
                  <a:srgbClr val="6B7782"/>
                </a:solidFill>
                <a:latin typeface="Arial" pitchFamily="34" charset="0"/>
                <a:ea typeface="Arial" pitchFamily="34" charset="-122"/>
                <a:cs typeface="Arial" pitchFamily="34" charset="-120"/>
              </a:rPr>
              <a:t>Barras: intervalo de confianza del 95%.</a:t>
            </a:r>
            <a:endParaRPr lang="en-US" sz="1200"/>
          </a:p>
        </p:txBody>
      </p:sp>
      <p:sp>
        <p:nvSpPr>
          <p:cNvPr id="15" name="Text 11"/>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13</a:t>
            </a:r>
            <a:endParaRPr lang="en-US" sz="1200"/>
          </a:p>
        </p:txBody>
      </p:sp>
    </p:spTree>
    <p:extLst>
      <p:ext uri="{BB962C8B-B14F-4D97-AF65-F5344CB8AC3E}">
        <p14:creationId xmlns:p14="http://schemas.microsoft.com/office/powerpoint/2010/main" val="40016039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78023"/>
            <a:ext cx="11197336" cy="764977"/>
          </a:xfrm>
          <a:prstGeom prst="rect">
            <a:avLst/>
          </a:prstGeom>
          <a:noFill/>
          <a:ln/>
        </p:spPr>
        <p:txBody>
          <a:bodyPr wrap="square" lIns="0" tIns="0" rIns="0" bIns="0" rtlCol="0" anchor="t">
            <a:normAutofit/>
          </a:bodyPr>
          <a:lstStyle/>
          <a:p>
            <a:pPr marL="0" indent="0" algn="l">
              <a:lnSpc>
                <a:spcPts val="2912"/>
              </a:lnSpc>
              <a:buNone/>
            </a:pPr>
            <a:r>
              <a:rPr lang="en-US" sz="2600" b="1" i="0" dirty="0" err="1">
                <a:solidFill>
                  <a:srgbClr val="051C2C"/>
                </a:solidFill>
                <a:latin typeface="Georgia" pitchFamily="18" charset="0"/>
                <a:ea typeface="Georgia" pitchFamily="18" charset="-122"/>
                <a:cs typeface="Georgia" pitchFamily="18" charset="-120"/>
              </a:rPr>
              <a:t>Signos</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opuestos</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gasto</a:t>
            </a:r>
            <a:r>
              <a:rPr lang="en-US" sz="2600" b="1" i="0" dirty="0">
                <a:solidFill>
                  <a:srgbClr val="051C2C"/>
                </a:solidFill>
                <a:latin typeface="Georgia" pitchFamily="18" charset="0"/>
                <a:ea typeface="Georgia" pitchFamily="18" charset="-122"/>
                <a:cs typeface="Georgia" pitchFamily="18" charset="-120"/>
              </a:rPr>
              <a:t> base y </a:t>
            </a:r>
            <a:r>
              <a:rPr lang="en-US" sz="2600" b="1" i="0" dirty="0" err="1">
                <a:solidFill>
                  <a:srgbClr val="051C2C"/>
                </a:solidFill>
                <a:latin typeface="Georgia" pitchFamily="18" charset="0"/>
                <a:ea typeface="Georgia" pitchFamily="18" charset="-122"/>
                <a:cs typeface="Georgia" pitchFamily="18" charset="-120"/>
              </a:rPr>
              <a:t>efecto</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dentro</a:t>
            </a:r>
            <a:r>
              <a:rPr lang="en-US" sz="2600" b="1" i="0" dirty="0">
                <a:solidFill>
                  <a:srgbClr val="051C2C"/>
                </a:solidFill>
                <a:latin typeface="Georgia" pitchFamily="18" charset="0"/>
                <a:ea typeface="Georgia" pitchFamily="18" charset="-122"/>
                <a:cs typeface="Georgia" pitchFamily="18" charset="-120"/>
              </a:rPr>
              <a:t> de </a:t>
            </a:r>
            <a:r>
              <a:rPr lang="en-US" sz="2600" b="1" i="0" dirty="0" err="1">
                <a:solidFill>
                  <a:srgbClr val="051C2C"/>
                </a:solidFill>
                <a:latin typeface="Georgia" pitchFamily="18" charset="0"/>
                <a:ea typeface="Georgia" pitchFamily="18" charset="-122"/>
                <a:cs typeface="Georgia" pitchFamily="18" charset="-120"/>
              </a:rPr>
              <a:t>cada</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grupo</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concilian</a:t>
            </a:r>
            <a:r>
              <a:rPr lang="en-US" sz="2600" b="1" i="0" dirty="0">
                <a:solidFill>
                  <a:srgbClr val="051C2C"/>
                </a:solidFill>
                <a:latin typeface="Georgia" pitchFamily="18" charset="0"/>
                <a:ea typeface="Georgia" pitchFamily="18" charset="-122"/>
                <a:cs typeface="Georgia" pitchFamily="18" charset="-120"/>
              </a:rPr>
              <a:t> el </a:t>
            </a:r>
            <a:r>
              <a:rPr lang="en-US" sz="2600" b="1" i="0" dirty="0" err="1">
                <a:solidFill>
                  <a:srgbClr val="051C2C"/>
                </a:solidFill>
                <a:latin typeface="Georgia" pitchFamily="18" charset="0"/>
                <a:ea typeface="Georgia" pitchFamily="18" charset="-122"/>
                <a:cs typeface="Georgia" pitchFamily="18" charset="-120"/>
              </a:rPr>
              <a:t>análisis</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en</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niveles</a:t>
            </a:r>
            <a:r>
              <a:rPr lang="en-US" sz="2600" b="1" i="0" dirty="0">
                <a:solidFill>
                  <a:srgbClr val="051C2C"/>
                </a:solidFill>
                <a:latin typeface="Georgia" pitchFamily="18" charset="0"/>
                <a:ea typeface="Georgia" pitchFamily="18" charset="-122"/>
                <a:cs typeface="Georgia" pitchFamily="18" charset="-120"/>
              </a:rPr>
              <a:t> y </a:t>
            </a:r>
            <a:r>
              <a:rPr lang="en-US" sz="2600" b="1" i="0" dirty="0" err="1">
                <a:solidFill>
                  <a:srgbClr val="051C2C"/>
                </a:solidFill>
                <a:latin typeface="Georgia" pitchFamily="18" charset="0"/>
                <a:ea typeface="Georgia" pitchFamily="18" charset="-122"/>
                <a:cs typeface="Georgia" pitchFamily="18" charset="-120"/>
              </a:rPr>
              <a:t>logaritmo</a:t>
            </a:r>
            <a:endParaRPr lang="en-US" sz="2600" dirty="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Parte B · Experimento A/B (n = 10,000) · Causal</a:t>
            </a:r>
            <a:endParaRPr lang="en-US" sz="1400"/>
          </a:p>
        </p:txBody>
      </p:sp>
      <p:sp>
        <p:nvSpPr>
          <p:cNvPr id="5" name="Shape 2"/>
          <p:cNvSpPr/>
          <p:nvPr/>
        </p:nvSpPr>
        <p:spPr>
          <a:xfrm>
            <a:off x="663575" y="2150170"/>
            <a:ext cx="6343650" cy="3937000"/>
          </a:xfrm>
          <a:prstGeom prst="roundRect">
            <a:avLst>
              <a:gd name="adj" fmla="val 4101"/>
            </a:avLst>
          </a:prstGeom>
          <a:noFill/>
          <a:ln w="6350">
            <a:solidFill>
              <a:srgbClr val="C9D1D8"/>
            </a:solidFill>
            <a:prstDash val="solid"/>
          </a:ln>
        </p:spPr>
        <p:txBody>
          <a:bodyPr/>
          <a:lstStyle/>
          <a:p>
            <a:endParaRPr lang="en-US"/>
          </a:p>
        </p:txBody>
      </p:sp>
      <p:sp>
        <p:nvSpPr>
          <p:cNvPr id="6" name="Text 3"/>
          <p:cNvSpPr/>
          <p:nvPr/>
        </p:nvSpPr>
        <p:spPr>
          <a:xfrm>
            <a:off x="920750" y="2356545"/>
            <a:ext cx="6004179" cy="59432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051C2C"/>
                </a:solidFill>
                <a:latin typeface="Arial" pitchFamily="34" charset="0"/>
                <a:ea typeface="Arial" pitchFamily="34" charset="-122"/>
                <a:cs typeface="Arial" pitchFamily="34" charset="-120"/>
              </a:rPr>
              <a:t>De dónde salen los 0.41 dólares de efecto promedio por usuario</a:t>
            </a:r>
            <a:endParaRPr lang="en-US" sz="1600"/>
          </a:p>
        </p:txBody>
      </p:sp>
      <p:sp>
        <p:nvSpPr>
          <p:cNvPr id="7" name="Text 4"/>
          <p:cNvSpPr/>
          <p:nvPr/>
        </p:nvSpPr>
        <p:spPr>
          <a:xfrm>
            <a:off x="920750" y="3065165"/>
            <a:ext cx="1373124" cy="609600"/>
          </a:xfrm>
          <a:prstGeom prst="rect">
            <a:avLst/>
          </a:prstGeom>
          <a:solidFill>
            <a:srgbClr val="082033"/>
          </a:solidFill>
          <a:ln/>
        </p:spPr>
        <p:txBody>
          <a:bodyPr wrap="square" lIns="0" tIns="0" rIns="0" bIns="0" rtlCol="0" anchor="ctr">
            <a:normAutofit/>
          </a:bodyPr>
          <a:lstStyle/>
          <a:p>
            <a:pPr marL="0" indent="0" algn="ctr">
              <a:lnSpc>
                <a:spcPts val="2520"/>
              </a:lnSpc>
              <a:buNone/>
            </a:pPr>
            <a:r>
              <a:rPr lang="en-US" sz="1800" b="1">
                <a:solidFill>
                  <a:srgbClr val="FFFFFF"/>
                </a:solidFill>
                <a:latin typeface="Arial" pitchFamily="34" charset="0"/>
                <a:ea typeface="Arial" pitchFamily="34" charset="-122"/>
                <a:cs typeface="Arial" pitchFamily="34" charset="-120"/>
              </a:rPr>
              <a:t>0.10</a:t>
            </a:r>
            <a:endParaRPr lang="en-US" sz="1800"/>
          </a:p>
        </p:txBody>
      </p:sp>
      <p:sp>
        <p:nvSpPr>
          <p:cNvPr id="8" name="Text 5"/>
          <p:cNvSpPr/>
          <p:nvPr/>
        </p:nvSpPr>
        <p:spPr>
          <a:xfrm>
            <a:off x="2293874" y="3065165"/>
            <a:ext cx="858203" cy="609600"/>
          </a:xfrm>
          <a:prstGeom prst="rect">
            <a:avLst/>
          </a:prstGeom>
          <a:solidFill>
            <a:srgbClr val="2B5EA3"/>
          </a:solidFill>
          <a:ln/>
        </p:spPr>
        <p:txBody>
          <a:bodyPr wrap="square" lIns="0" tIns="0" rIns="0" bIns="0" rtlCol="0" anchor="ctr">
            <a:normAutofit/>
          </a:bodyPr>
          <a:lstStyle/>
          <a:p>
            <a:pPr marL="0" indent="0" algn="ctr">
              <a:lnSpc>
                <a:spcPts val="2520"/>
              </a:lnSpc>
              <a:buNone/>
            </a:pPr>
            <a:r>
              <a:rPr lang="en-US" sz="1800" b="1">
                <a:solidFill>
                  <a:srgbClr val="FFFFFF"/>
                </a:solidFill>
                <a:latin typeface="Arial" pitchFamily="34" charset="0"/>
                <a:ea typeface="Arial" pitchFamily="34" charset="-122"/>
                <a:cs typeface="Arial" pitchFamily="34" charset="-120"/>
              </a:rPr>
              <a:t>0.06</a:t>
            </a:r>
            <a:endParaRPr lang="en-US" sz="1800"/>
          </a:p>
        </p:txBody>
      </p:sp>
      <p:sp>
        <p:nvSpPr>
          <p:cNvPr id="9" name="Text 6"/>
          <p:cNvSpPr/>
          <p:nvPr/>
        </p:nvSpPr>
        <p:spPr>
          <a:xfrm>
            <a:off x="3152077" y="3065165"/>
            <a:ext cx="3490023" cy="609600"/>
          </a:xfrm>
          <a:prstGeom prst="rect">
            <a:avLst/>
          </a:prstGeom>
          <a:solidFill>
            <a:srgbClr val="00B0F0"/>
          </a:solidFill>
          <a:ln/>
        </p:spPr>
        <p:txBody>
          <a:bodyPr wrap="square" lIns="0" tIns="0" rIns="0" bIns="0" rtlCol="0" anchor="ctr">
            <a:normAutofit/>
          </a:bodyPr>
          <a:lstStyle/>
          <a:p>
            <a:pPr marL="0" indent="0" algn="ctr">
              <a:lnSpc>
                <a:spcPts val="2520"/>
              </a:lnSpc>
              <a:buNone/>
            </a:pPr>
            <a:r>
              <a:rPr lang="en-US" sz="1800" b="1">
                <a:solidFill>
                  <a:srgbClr val="FFFFFF"/>
                </a:solidFill>
                <a:latin typeface="Arial" pitchFamily="34" charset="0"/>
                <a:ea typeface="Arial" pitchFamily="34" charset="-122"/>
                <a:cs typeface="Arial" pitchFamily="34" charset="-120"/>
              </a:rPr>
              <a:t>0.25</a:t>
            </a:r>
            <a:endParaRPr lang="en-US" sz="1800"/>
          </a:p>
        </p:txBody>
      </p:sp>
      <p:sp>
        <p:nvSpPr>
          <p:cNvPr id="10" name="Shape 7"/>
          <p:cNvSpPr/>
          <p:nvPr/>
        </p:nvSpPr>
        <p:spPr>
          <a:xfrm>
            <a:off x="920750" y="3827165"/>
            <a:ext cx="2231327" cy="0"/>
          </a:xfrm>
          <a:prstGeom prst="line">
            <a:avLst/>
          </a:prstGeom>
          <a:noFill/>
          <a:ln w="25400">
            <a:solidFill>
              <a:srgbClr val="2B5EA3"/>
            </a:solidFill>
            <a:prstDash val="solid"/>
          </a:ln>
        </p:spPr>
        <p:txBody>
          <a:bodyPr/>
          <a:lstStyle/>
          <a:p>
            <a:endParaRPr lang="en-US"/>
          </a:p>
        </p:txBody>
      </p:sp>
      <p:sp>
        <p:nvSpPr>
          <p:cNvPr id="11" name="Text 8"/>
          <p:cNvSpPr/>
          <p:nvPr/>
        </p:nvSpPr>
        <p:spPr>
          <a:xfrm>
            <a:off x="920750" y="3877965"/>
            <a:ext cx="2439607" cy="452041"/>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2B5EA3"/>
                </a:solidFill>
                <a:latin typeface="Arial" pitchFamily="34" charset="0"/>
                <a:ea typeface="Arial" pitchFamily="34" charset="-122"/>
                <a:cs typeface="Arial" pitchFamily="34" charset="-120"/>
              </a:rPr>
              <a:t>0.17 por el efecto de cada grupo y su gasto base</a:t>
            </a:r>
            <a:endParaRPr lang="en-US" sz="1200"/>
          </a:p>
        </p:txBody>
      </p:sp>
      <p:sp>
        <p:nvSpPr>
          <p:cNvPr id="12" name="Shape 9"/>
          <p:cNvSpPr/>
          <p:nvPr/>
        </p:nvSpPr>
        <p:spPr>
          <a:xfrm>
            <a:off x="3152077" y="3827165"/>
            <a:ext cx="3490023" cy="0"/>
          </a:xfrm>
          <a:prstGeom prst="line">
            <a:avLst/>
          </a:prstGeom>
          <a:noFill/>
          <a:ln w="25400">
            <a:solidFill>
              <a:srgbClr val="00B0F0"/>
            </a:solidFill>
            <a:prstDash val="solid"/>
          </a:ln>
        </p:spPr>
        <p:txBody>
          <a:bodyPr/>
          <a:lstStyle/>
          <a:p>
            <a:endParaRPr lang="en-US"/>
          </a:p>
        </p:txBody>
      </p:sp>
      <p:sp>
        <p:nvSpPr>
          <p:cNvPr id="13" name="Text 10"/>
          <p:cNvSpPr/>
          <p:nvPr/>
        </p:nvSpPr>
        <p:spPr>
          <a:xfrm>
            <a:off x="3152077" y="3877965"/>
            <a:ext cx="3490023" cy="238720"/>
          </a:xfrm>
          <a:prstGeom prst="rect">
            <a:avLst/>
          </a:prstGeom>
          <a:noFill/>
          <a:ln/>
        </p:spPr>
        <p:txBody>
          <a:bodyPr wrap="square" lIns="0" tIns="0" rIns="0" bIns="0" rtlCol="0" anchor="t">
            <a:normAutofit/>
          </a:bodyPr>
          <a:lstStyle/>
          <a:p>
            <a:pPr marL="0" indent="0" algn="ctr">
              <a:lnSpc>
                <a:spcPts val="1680"/>
              </a:lnSpc>
              <a:buNone/>
            </a:pPr>
            <a:r>
              <a:rPr lang="en-US" sz="1200" b="1">
                <a:solidFill>
                  <a:srgbClr val="0A7DAE"/>
                </a:solidFill>
                <a:latin typeface="Arial" pitchFamily="34" charset="0"/>
                <a:ea typeface="Arial" pitchFamily="34" charset="-122"/>
                <a:cs typeface="Arial" pitchFamily="34" charset="-120"/>
              </a:rPr>
              <a:t>0.25 dentro de cada grupo</a:t>
            </a:r>
            <a:endParaRPr lang="en-US" sz="1200"/>
          </a:p>
        </p:txBody>
      </p:sp>
      <p:sp>
        <p:nvSpPr>
          <p:cNvPr id="14" name="Shape 11"/>
          <p:cNvSpPr/>
          <p:nvPr/>
        </p:nvSpPr>
        <p:spPr>
          <a:xfrm>
            <a:off x="920750" y="4444305"/>
            <a:ext cx="190500" cy="190500"/>
          </a:xfrm>
          <a:prstGeom prst="roundRect">
            <a:avLst>
              <a:gd name="adj" fmla="val 20000"/>
            </a:avLst>
          </a:prstGeom>
          <a:solidFill>
            <a:srgbClr val="082033"/>
          </a:solidFill>
          <a:ln/>
        </p:spPr>
        <p:txBody>
          <a:bodyPr/>
          <a:lstStyle/>
          <a:p>
            <a:endParaRPr lang="en-US"/>
          </a:p>
        </p:txBody>
      </p:sp>
      <p:sp>
        <p:nvSpPr>
          <p:cNvPr id="15" name="Text 12"/>
          <p:cNvSpPr/>
          <p:nvPr/>
        </p:nvSpPr>
        <p:spPr>
          <a:xfrm>
            <a:off x="1212850" y="4444305"/>
            <a:ext cx="5791200" cy="240010"/>
          </a:xfrm>
          <a:prstGeom prst="rect">
            <a:avLst/>
          </a:prstGeom>
          <a:noFill/>
          <a:ln/>
        </p:spPr>
        <p:txBody>
          <a:bodyPr wrap="square" lIns="0" tIns="0" rIns="0" bIns="0" rtlCol="0" anchor="t">
            <a:normAutofit/>
          </a:bodyPr>
          <a:lstStyle/>
          <a:p>
            <a:pPr marL="0" indent="0" algn="l">
              <a:lnSpc>
                <a:spcPts val="1690"/>
              </a:lnSpc>
              <a:buNone/>
            </a:pPr>
            <a:r>
              <a:rPr lang="en-US" sz="1300" b="1">
                <a:solidFill>
                  <a:srgbClr val="1B1B1B"/>
                </a:solidFill>
                <a:latin typeface="Arial" pitchFamily="34" charset="0"/>
                <a:ea typeface="Arial" pitchFamily="34" charset="-122"/>
                <a:cs typeface="Arial" pitchFamily="34" charset="-120"/>
              </a:rPr>
              <a:t>0.10</a:t>
            </a:r>
            <a:r>
              <a:rPr lang="en-US" sz="1300">
                <a:solidFill>
                  <a:srgbClr val="1B1B1B"/>
                </a:solidFill>
                <a:latin typeface="Arial" pitchFamily="34" charset="0"/>
                <a:ea typeface="Arial" pitchFamily="34" charset="-122"/>
                <a:cs typeface="Arial" pitchFamily="34" charset="-120"/>
              </a:rPr>
              <a:t> Efecto proporcional de cada grupo, con un gasto base común.</a:t>
            </a:r>
            <a:endParaRPr lang="en-US" sz="1300"/>
          </a:p>
        </p:txBody>
      </p:sp>
      <p:sp>
        <p:nvSpPr>
          <p:cNvPr id="16" name="Shape 13"/>
          <p:cNvSpPr/>
          <p:nvPr/>
        </p:nvSpPr>
        <p:spPr>
          <a:xfrm>
            <a:off x="920750" y="4798616"/>
            <a:ext cx="190500" cy="190500"/>
          </a:xfrm>
          <a:prstGeom prst="roundRect">
            <a:avLst>
              <a:gd name="adj" fmla="val 20000"/>
            </a:avLst>
          </a:prstGeom>
          <a:solidFill>
            <a:srgbClr val="2B5EA3"/>
          </a:solidFill>
          <a:ln/>
        </p:spPr>
        <p:txBody>
          <a:bodyPr/>
          <a:lstStyle/>
          <a:p>
            <a:endParaRPr lang="en-US"/>
          </a:p>
        </p:txBody>
      </p:sp>
      <p:sp>
        <p:nvSpPr>
          <p:cNvPr id="17" name="Text 14"/>
          <p:cNvSpPr/>
          <p:nvPr/>
        </p:nvSpPr>
        <p:spPr>
          <a:xfrm>
            <a:off x="1212850" y="4798616"/>
            <a:ext cx="5791200" cy="240010"/>
          </a:xfrm>
          <a:prstGeom prst="rect">
            <a:avLst/>
          </a:prstGeom>
          <a:noFill/>
          <a:ln/>
        </p:spPr>
        <p:txBody>
          <a:bodyPr wrap="square" lIns="0" tIns="0" rIns="0" bIns="0" rtlCol="0" anchor="t">
            <a:normAutofit/>
          </a:bodyPr>
          <a:lstStyle/>
          <a:p>
            <a:pPr marL="0" indent="0" algn="l">
              <a:lnSpc>
                <a:spcPts val="1690"/>
              </a:lnSpc>
              <a:buNone/>
            </a:pPr>
            <a:r>
              <a:rPr lang="en-US" sz="1300" b="1">
                <a:solidFill>
                  <a:srgbClr val="1B1B1B"/>
                </a:solidFill>
                <a:latin typeface="Arial" pitchFamily="34" charset="0"/>
                <a:ea typeface="Arial" pitchFamily="34" charset="-122"/>
                <a:cs typeface="Arial" pitchFamily="34" charset="-120"/>
              </a:rPr>
              <a:t>0.06</a:t>
            </a:r>
            <a:r>
              <a:rPr lang="en-US" sz="1300">
                <a:solidFill>
                  <a:srgbClr val="1B1B1B"/>
                </a:solidFill>
                <a:latin typeface="Arial" pitchFamily="34" charset="0"/>
                <a:ea typeface="Arial" pitchFamily="34" charset="-122"/>
                <a:cs typeface="Arial" pitchFamily="34" charset="-120"/>
              </a:rPr>
              <a:t> Los grupos que ganan gastan más (4.16 contra 3.64 dólares).</a:t>
            </a:r>
            <a:endParaRPr lang="en-US" sz="1300"/>
          </a:p>
        </p:txBody>
      </p:sp>
      <p:sp>
        <p:nvSpPr>
          <p:cNvPr id="18" name="Shape 15"/>
          <p:cNvSpPr/>
          <p:nvPr/>
        </p:nvSpPr>
        <p:spPr>
          <a:xfrm>
            <a:off x="920750" y="5152926"/>
            <a:ext cx="190500" cy="190500"/>
          </a:xfrm>
          <a:prstGeom prst="roundRect">
            <a:avLst>
              <a:gd name="adj" fmla="val 20000"/>
            </a:avLst>
          </a:prstGeom>
          <a:solidFill>
            <a:srgbClr val="00B0F0"/>
          </a:solidFill>
          <a:ln/>
        </p:spPr>
        <p:txBody>
          <a:bodyPr/>
          <a:lstStyle/>
          <a:p>
            <a:endParaRPr lang="en-US"/>
          </a:p>
        </p:txBody>
      </p:sp>
      <p:sp>
        <p:nvSpPr>
          <p:cNvPr id="19" name="Text 16"/>
          <p:cNvSpPr/>
          <p:nvPr/>
        </p:nvSpPr>
        <p:spPr>
          <a:xfrm>
            <a:off x="1212850" y="5152926"/>
            <a:ext cx="5703316" cy="640000"/>
          </a:xfrm>
          <a:prstGeom prst="rect">
            <a:avLst/>
          </a:prstGeom>
          <a:noFill/>
          <a:ln/>
        </p:spPr>
        <p:txBody>
          <a:bodyPr wrap="square" lIns="0" tIns="0" rIns="0" bIns="0" rtlCol="0" anchor="t">
            <a:normAutofit/>
          </a:bodyPr>
          <a:lstStyle/>
          <a:p>
            <a:pPr marL="0" indent="0" algn="l">
              <a:lnSpc>
                <a:spcPts val="1690"/>
              </a:lnSpc>
              <a:buNone/>
            </a:pPr>
            <a:r>
              <a:rPr lang="en-US" sz="1300" b="1">
                <a:solidFill>
                  <a:srgbClr val="1B1B1B"/>
                </a:solidFill>
                <a:latin typeface="Arial" pitchFamily="34" charset="0"/>
                <a:ea typeface="Arial" pitchFamily="34" charset="-122"/>
                <a:cs typeface="Arial" pitchFamily="34" charset="-120"/>
              </a:rPr>
              <a:t>0.25</a:t>
            </a:r>
            <a:r>
              <a:rPr lang="en-US" sz="1300">
                <a:solidFill>
                  <a:srgbClr val="1B1B1B"/>
                </a:solidFill>
                <a:latin typeface="Arial" pitchFamily="34" charset="0"/>
                <a:ea typeface="Arial" pitchFamily="34" charset="-122"/>
                <a:cs typeface="Arial" pitchFamily="34" charset="-120"/>
              </a:rPr>
              <a:t> Dentro de cada grupo, el registro sube más el gasto promedio que el del usuario típico. Con grupos más finos (dispositivo × sistema × sesiones), como mucho 0.17 de ese resto se debe a la transformación.</a:t>
            </a:r>
            <a:endParaRPr lang="en-US" sz="1300"/>
          </a:p>
        </p:txBody>
      </p:sp>
      <p:sp>
        <p:nvSpPr>
          <p:cNvPr id="20" name="Text 17"/>
          <p:cNvSpPr/>
          <p:nvPr/>
        </p:nvSpPr>
        <p:spPr>
          <a:xfrm>
            <a:off x="7319283" y="1965900"/>
            <a:ext cx="4208234" cy="1839063"/>
          </a:xfrm>
          <a:prstGeom prst="roundRect">
            <a:avLst>
              <a:gd name="adj" fmla="val 11128"/>
            </a:avLst>
          </a:prstGeom>
          <a:noFill/>
          <a:ln w="19050">
            <a:noFill/>
            <a:prstDash val="solid"/>
          </a:ln>
        </p:spPr>
        <p:txBody>
          <a:bodyPr wrap="square" lIns="170878" tIns="120078" rIns="57721" bIns="94678" rtlCol="0" anchor="t">
            <a:normAutofit/>
          </a:bodyPr>
          <a:lstStyle/>
          <a:p>
            <a:pPr algn="ctr">
              <a:lnSpc>
                <a:spcPts val="1890"/>
              </a:lnSpc>
            </a:pPr>
            <a:r>
              <a:rPr lang="en-US" sz="1600" b="1">
                <a:solidFill>
                  <a:srgbClr val="022B52"/>
                </a:solidFill>
                <a:latin typeface="Georgia"/>
                <a:ea typeface="Arial" pitchFamily="34" charset="-122"/>
                <a:cs typeface="Arial"/>
              </a:rPr>
              <a:t>No se </a:t>
            </a:r>
            <a:r>
              <a:rPr lang="en-US" sz="1600" b="1" err="1">
                <a:solidFill>
                  <a:srgbClr val="022B52"/>
                </a:solidFill>
                <a:latin typeface="Georgia"/>
                <a:ea typeface="Arial" pitchFamily="34" charset="-122"/>
                <a:cs typeface="Arial"/>
              </a:rPr>
              <a:t>contradicen</a:t>
            </a:r>
            <a:r>
              <a:rPr lang="en-US" sz="1600" b="1">
                <a:solidFill>
                  <a:srgbClr val="022B52"/>
                </a:solidFill>
                <a:latin typeface="Georgia"/>
                <a:ea typeface="Arial" pitchFamily="34" charset="-122"/>
                <a:cs typeface="Arial"/>
              </a:rPr>
              <a:t>. </a:t>
            </a:r>
            <a:endParaRPr lang="en-US" sz="1600" b="1">
              <a:solidFill>
                <a:srgbClr val="051C2C"/>
              </a:solidFill>
              <a:latin typeface="Georgia"/>
              <a:ea typeface="Arial" pitchFamily="34" charset="-122"/>
              <a:cs typeface="Arial"/>
            </a:endParaRPr>
          </a:p>
          <a:p>
            <a:pPr algn="ctr">
              <a:lnSpc>
                <a:spcPts val="1889"/>
              </a:lnSpc>
            </a:pPr>
            <a:endParaRPr lang="en-US" sz="1600" b="1">
              <a:solidFill>
                <a:srgbClr val="022B52"/>
              </a:solidFill>
              <a:latin typeface="Georgia"/>
              <a:ea typeface="Arial" pitchFamily="34" charset="-122"/>
              <a:cs typeface="Arial"/>
            </a:endParaRPr>
          </a:p>
          <a:p>
            <a:pPr marL="0" indent="0" algn="ctr">
              <a:lnSpc>
                <a:spcPts val="1889"/>
              </a:lnSpc>
              <a:buNone/>
            </a:pPr>
            <a:r>
              <a:rPr lang="en-US" sz="1600">
                <a:solidFill>
                  <a:srgbClr val="022B52"/>
                </a:solidFill>
                <a:latin typeface="Arial"/>
                <a:ea typeface="Arial" pitchFamily="34" charset="-122"/>
                <a:cs typeface="Arial"/>
              </a:rPr>
              <a:t>El 65% de </a:t>
            </a:r>
            <a:r>
              <a:rPr lang="en-US" sz="1600" err="1">
                <a:solidFill>
                  <a:srgbClr val="022B52"/>
                </a:solidFill>
                <a:latin typeface="Arial"/>
                <a:ea typeface="Arial" pitchFamily="34" charset="-122"/>
                <a:cs typeface="Arial"/>
              </a:rPr>
              <a:t>los</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usuarios</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está</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en</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grupos</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que</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ganan</a:t>
            </a:r>
            <a:r>
              <a:rPr lang="en-US" sz="1600">
                <a:solidFill>
                  <a:srgbClr val="022B52"/>
                </a:solidFill>
                <a:latin typeface="Arial"/>
                <a:ea typeface="Arial" pitchFamily="34" charset="-122"/>
                <a:cs typeface="Arial"/>
              </a:rPr>
              <a:t> y el 35% </a:t>
            </a:r>
            <a:r>
              <a:rPr lang="en-US" sz="1600" err="1">
                <a:solidFill>
                  <a:srgbClr val="022B52"/>
                </a:solidFill>
                <a:latin typeface="Arial"/>
                <a:ea typeface="Arial" pitchFamily="34" charset="-122"/>
                <a:cs typeface="Arial"/>
              </a:rPr>
              <a:t>en</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grupos</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que</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pierden</a:t>
            </a:r>
            <a:r>
              <a:rPr lang="en-US" sz="1600">
                <a:solidFill>
                  <a:srgbClr val="022B52"/>
                </a:solidFill>
                <a:latin typeface="Arial"/>
                <a:ea typeface="Arial" pitchFamily="34" charset="-122"/>
                <a:cs typeface="Arial"/>
              </a:rPr>
              <a:t>. En </a:t>
            </a:r>
            <a:r>
              <a:rPr lang="en-US" sz="1600" err="1">
                <a:solidFill>
                  <a:srgbClr val="022B52"/>
                </a:solidFill>
                <a:latin typeface="Arial"/>
                <a:ea typeface="Arial" pitchFamily="34" charset="-122"/>
                <a:cs typeface="Arial"/>
              </a:rPr>
              <a:t>logaritmo</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los</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signos</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opuestos</a:t>
            </a:r>
            <a:r>
              <a:rPr lang="en-US" sz="1600">
                <a:solidFill>
                  <a:srgbClr val="022B52"/>
                </a:solidFill>
                <a:latin typeface="Arial"/>
                <a:ea typeface="Arial" pitchFamily="34" charset="-122"/>
                <a:cs typeface="Arial"/>
              </a:rPr>
              <a:t> se </a:t>
            </a:r>
            <a:r>
              <a:rPr lang="en-US" sz="1600" err="1">
                <a:solidFill>
                  <a:srgbClr val="022B52"/>
                </a:solidFill>
                <a:latin typeface="Arial"/>
                <a:ea typeface="Arial" pitchFamily="34" charset="-122"/>
                <a:cs typeface="Arial"/>
              </a:rPr>
              <a:t>cancelan</a:t>
            </a:r>
            <a:r>
              <a:rPr lang="en-US" sz="1600">
                <a:solidFill>
                  <a:srgbClr val="022B52"/>
                </a:solidFill>
                <a:latin typeface="Arial"/>
                <a:ea typeface="Arial" pitchFamily="34" charset="-122"/>
                <a:cs typeface="Arial"/>
              </a:rPr>
              <a:t> y el </a:t>
            </a:r>
            <a:r>
              <a:rPr lang="en-US" sz="1600" err="1">
                <a:solidFill>
                  <a:srgbClr val="022B52"/>
                </a:solidFill>
                <a:latin typeface="Arial"/>
                <a:ea typeface="Arial" pitchFamily="34" charset="-122"/>
                <a:cs typeface="Arial"/>
              </a:rPr>
              <a:t>efecto</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queda</a:t>
            </a:r>
            <a:r>
              <a:rPr lang="en-US" sz="1600">
                <a:solidFill>
                  <a:srgbClr val="022B52"/>
                </a:solidFill>
                <a:latin typeface="Arial"/>
                <a:ea typeface="Arial" pitchFamily="34" charset="-122"/>
                <a:cs typeface="Arial"/>
              </a:rPr>
              <a:t> </a:t>
            </a:r>
            <a:r>
              <a:rPr lang="en-US" sz="1600" err="1">
                <a:solidFill>
                  <a:srgbClr val="022B52"/>
                </a:solidFill>
                <a:latin typeface="Arial"/>
                <a:ea typeface="Arial" pitchFamily="34" charset="-122"/>
                <a:cs typeface="Arial"/>
              </a:rPr>
              <a:t>en</a:t>
            </a:r>
            <a:r>
              <a:rPr lang="en-US" sz="1600">
                <a:solidFill>
                  <a:srgbClr val="022B52"/>
                </a:solidFill>
                <a:latin typeface="Arial"/>
                <a:ea typeface="Arial" pitchFamily="34" charset="-122"/>
                <a:cs typeface="Arial"/>
              </a:rPr>
              <a:t> +0.4%.</a:t>
            </a:r>
            <a:endParaRPr lang="en-US" sz="1600">
              <a:latin typeface="Arial"/>
              <a:cs typeface="Arial"/>
            </a:endParaRPr>
          </a:p>
        </p:txBody>
      </p:sp>
      <p:sp>
        <p:nvSpPr>
          <p:cNvPr id="21" name="Text 18"/>
          <p:cNvSpPr/>
          <p:nvPr/>
        </p:nvSpPr>
        <p:spPr>
          <a:xfrm>
            <a:off x="7315200" y="4141058"/>
            <a:ext cx="4216400" cy="1950114"/>
          </a:xfrm>
          <a:prstGeom prst="roundRect">
            <a:avLst>
              <a:gd name="adj" fmla="val 17349"/>
            </a:avLst>
          </a:prstGeom>
          <a:noFill/>
          <a:ln>
            <a:noFill/>
          </a:ln>
        </p:spPr>
        <p:txBody>
          <a:bodyPr wrap="square" lIns="151124" tIns="100324" rIns="36824" bIns="74924" rtlCol="0" anchor="t">
            <a:normAutofit/>
          </a:bodyPr>
          <a:lstStyle/>
          <a:p>
            <a:pPr algn="ctr">
              <a:lnSpc>
                <a:spcPts val="1890"/>
              </a:lnSpc>
            </a:pPr>
            <a:r>
              <a:rPr lang="en-US" sz="1600" b="1">
                <a:solidFill>
                  <a:srgbClr val="105D93"/>
                </a:solidFill>
                <a:latin typeface="Georgia"/>
                <a:ea typeface="Arial" pitchFamily="34" charset="-122"/>
                <a:cs typeface="Arial"/>
              </a:rPr>
              <a:t>¿Hay </a:t>
            </a:r>
            <a:r>
              <a:rPr lang="en-US" sz="1600" b="1" err="1">
                <a:solidFill>
                  <a:srgbClr val="105D93"/>
                </a:solidFill>
                <a:latin typeface="Georgia"/>
                <a:ea typeface="Arial" pitchFamily="34" charset="-122"/>
                <a:cs typeface="Arial"/>
              </a:rPr>
              <a:t>heterogeneidad</a:t>
            </a:r>
            <a:r>
              <a:rPr lang="en-US" sz="1600" b="1">
                <a:solidFill>
                  <a:srgbClr val="105D93"/>
                </a:solidFill>
                <a:latin typeface="Georgia"/>
                <a:ea typeface="Arial" pitchFamily="34" charset="-122"/>
                <a:cs typeface="Arial"/>
              </a:rPr>
              <a:t>? </a:t>
            </a:r>
            <a:r>
              <a:rPr lang="en-US" sz="1600" b="1" err="1">
                <a:solidFill>
                  <a:srgbClr val="105D93"/>
                </a:solidFill>
                <a:latin typeface="Georgia"/>
                <a:ea typeface="Arial" pitchFamily="34" charset="-122"/>
                <a:cs typeface="Arial"/>
              </a:rPr>
              <a:t>Sí</a:t>
            </a:r>
            <a:r>
              <a:rPr lang="en-US" sz="1600" b="1">
                <a:solidFill>
                  <a:srgbClr val="105D93"/>
                </a:solidFill>
                <a:latin typeface="Georgia"/>
                <a:ea typeface="Arial" pitchFamily="34" charset="-122"/>
                <a:cs typeface="Arial"/>
              </a:rPr>
              <a:t>. </a:t>
            </a:r>
            <a:endParaRPr lang="en-US" sz="1600" b="1">
              <a:latin typeface="Georgia"/>
            </a:endParaRPr>
          </a:p>
          <a:p>
            <a:pPr algn="ctr">
              <a:lnSpc>
                <a:spcPts val="1889"/>
              </a:lnSpc>
            </a:pPr>
            <a:endParaRPr lang="en-US" sz="1600" b="1">
              <a:solidFill>
                <a:srgbClr val="105D93"/>
              </a:solidFill>
              <a:latin typeface="Georgia"/>
              <a:ea typeface="Arial" pitchFamily="34" charset="-122"/>
              <a:cs typeface="Arial"/>
            </a:endParaRPr>
          </a:p>
          <a:p>
            <a:pPr marL="0" indent="0" algn="ctr">
              <a:lnSpc>
                <a:spcPts val="1889"/>
              </a:lnSpc>
              <a:buNone/>
            </a:pPr>
            <a:r>
              <a:rPr lang="en-US" sz="1600" err="1">
                <a:solidFill>
                  <a:srgbClr val="105D93"/>
                </a:solidFill>
                <a:latin typeface="Arial"/>
                <a:ea typeface="Arial" pitchFamily="34" charset="-122"/>
                <a:cs typeface="Arial"/>
              </a:rPr>
              <a:t>Calibración</a:t>
            </a:r>
            <a:r>
              <a:rPr lang="en-US" sz="1600">
                <a:solidFill>
                  <a:srgbClr val="105D93"/>
                </a:solidFill>
                <a:latin typeface="Arial"/>
                <a:ea typeface="Arial" pitchFamily="34" charset="-122"/>
                <a:cs typeface="Arial"/>
              </a:rPr>
              <a:t> de las </a:t>
            </a:r>
            <a:r>
              <a:rPr lang="en-US" sz="1600" err="1">
                <a:solidFill>
                  <a:srgbClr val="105D93"/>
                </a:solidFill>
                <a:latin typeface="Arial"/>
                <a:ea typeface="Arial" pitchFamily="34" charset="-122"/>
                <a:cs typeface="Arial"/>
              </a:rPr>
              <a:t>diferencias</a:t>
            </a:r>
            <a:r>
              <a:rPr lang="en-US" sz="1600">
                <a:solidFill>
                  <a:srgbClr val="105D93"/>
                </a:solidFill>
                <a:latin typeface="Arial"/>
                <a:ea typeface="Arial" pitchFamily="34" charset="-122"/>
                <a:cs typeface="Arial"/>
              </a:rPr>
              <a:t> entre </a:t>
            </a:r>
            <a:r>
              <a:rPr lang="en-US" sz="1600" err="1">
                <a:solidFill>
                  <a:srgbClr val="105D93"/>
                </a:solidFill>
                <a:latin typeface="Arial"/>
                <a:ea typeface="Arial" pitchFamily="34" charset="-122"/>
                <a:cs typeface="Arial"/>
              </a:rPr>
              <a:t>usuarios</a:t>
            </a:r>
            <a:r>
              <a:rPr lang="en-US" sz="1600">
                <a:solidFill>
                  <a:srgbClr val="105D93"/>
                </a:solidFill>
                <a:latin typeface="Arial"/>
                <a:ea typeface="Arial" pitchFamily="34" charset="-122"/>
                <a:cs typeface="Arial"/>
              </a:rPr>
              <a:t> 1.01 (error </a:t>
            </a:r>
            <a:r>
              <a:rPr lang="en-US" sz="1600" err="1">
                <a:solidFill>
                  <a:srgbClr val="105D93"/>
                </a:solidFill>
                <a:latin typeface="Arial"/>
                <a:ea typeface="Arial" pitchFamily="34" charset="-122"/>
                <a:cs typeface="Arial"/>
              </a:rPr>
              <a:t>estándar</a:t>
            </a:r>
            <a:r>
              <a:rPr lang="en-US" sz="1600">
                <a:solidFill>
                  <a:srgbClr val="105D93"/>
                </a:solidFill>
                <a:latin typeface="Arial"/>
                <a:ea typeface="Arial" pitchFamily="34" charset="-122"/>
                <a:cs typeface="Arial"/>
              </a:rPr>
              <a:t> 0.031) y AUTOC de 0.20 con </a:t>
            </a:r>
            <a:r>
              <a:rPr lang="en-US" sz="1600" err="1">
                <a:solidFill>
                  <a:srgbClr val="105D93"/>
                </a:solidFill>
                <a:latin typeface="Arial"/>
                <a:ea typeface="Arial" pitchFamily="34" charset="-122"/>
                <a:cs typeface="Arial"/>
              </a:rPr>
              <a:t>muestra</a:t>
            </a:r>
            <a:r>
              <a:rPr lang="en-US" sz="1600">
                <a:solidFill>
                  <a:srgbClr val="105D93"/>
                </a:solidFill>
                <a:latin typeface="Arial"/>
                <a:ea typeface="Arial" pitchFamily="34" charset="-122"/>
                <a:cs typeface="Arial"/>
              </a:rPr>
              <a:t> </a:t>
            </a:r>
            <a:r>
              <a:rPr lang="en-US" sz="1600" err="1">
                <a:solidFill>
                  <a:srgbClr val="105D93"/>
                </a:solidFill>
                <a:latin typeface="Arial"/>
                <a:ea typeface="Arial" pitchFamily="34" charset="-122"/>
                <a:cs typeface="Arial"/>
              </a:rPr>
              <a:t>dividida</a:t>
            </a:r>
            <a:r>
              <a:rPr lang="en-US" sz="1600">
                <a:solidFill>
                  <a:srgbClr val="105D93"/>
                </a:solidFill>
                <a:latin typeface="Arial"/>
                <a:ea typeface="Arial" pitchFamily="34" charset="-122"/>
                <a:cs typeface="Arial"/>
              </a:rPr>
              <a:t>.</a:t>
            </a:r>
            <a:endParaRPr lang="en-US" sz="1600">
              <a:solidFill>
                <a:srgbClr val="105D93"/>
              </a:solidFill>
              <a:latin typeface="Arial"/>
              <a:cs typeface="Arial"/>
            </a:endParaRPr>
          </a:p>
        </p:txBody>
      </p:sp>
      <p:sp>
        <p:nvSpPr>
          <p:cNvPr id="23" name="Text 20"/>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14</a:t>
            </a:r>
            <a:endParaRPr lang="en-US" sz="1200"/>
          </a:p>
        </p:txBody>
      </p:sp>
    </p:spTree>
    <p:extLst>
      <p:ext uri="{BB962C8B-B14F-4D97-AF65-F5344CB8AC3E}">
        <p14:creationId xmlns:p14="http://schemas.microsoft.com/office/powerpoint/2010/main" val="3360295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747812"/>
            <a:ext cx="10753249" cy="395188"/>
          </a:xfrm>
          <a:prstGeom prst="rect">
            <a:avLst/>
          </a:prstGeom>
          <a:noFill/>
          <a:ln/>
        </p:spPr>
        <p:txBody>
          <a:bodyPr wrap="square" lIns="0" tIns="0" rIns="0" bIns="0" rtlCol="0" anchor="t">
            <a:normAutofit/>
          </a:bodyPr>
          <a:lstStyle/>
          <a:p>
            <a:pPr marL="0" indent="0" algn="l">
              <a:lnSpc>
                <a:spcPts val="2912"/>
              </a:lnSpc>
              <a:buNone/>
            </a:pPr>
            <a:r>
              <a:rPr lang="en-US" sz="2600" b="1" i="0">
                <a:solidFill>
                  <a:srgbClr val="051C2C"/>
                </a:solidFill>
                <a:latin typeface="Georgia" pitchFamily="18" charset="0"/>
                <a:ea typeface="Georgia" pitchFamily="18" charset="-122"/>
                <a:cs typeface="Georgia" pitchFamily="18" charset="-120"/>
              </a:rPr>
              <a:t>La regla gana en datos que no se usaron para elegirla</a:t>
            </a:r>
            <a:endParaRPr lang="en-US" sz="260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Parte B · Mitad de evaluación del experimento (n = 5,000) · Causal</a:t>
            </a:r>
            <a:endParaRPr lang="en-US" sz="1400"/>
          </a:p>
        </p:txBody>
      </p:sp>
      <p:sp>
        <p:nvSpPr>
          <p:cNvPr id="5" name="Shape 2"/>
          <p:cNvSpPr/>
          <p:nvPr/>
        </p:nvSpPr>
        <p:spPr>
          <a:xfrm>
            <a:off x="663575" y="2183110"/>
            <a:ext cx="6915150" cy="3572470"/>
          </a:xfrm>
          <a:prstGeom prst="roundRect">
            <a:avLst>
              <a:gd name="adj" fmla="val 4177"/>
            </a:avLst>
          </a:prstGeom>
          <a:noFill/>
          <a:ln w="6350">
            <a:solidFill>
              <a:srgbClr val="C9D1D8"/>
            </a:solidFill>
            <a:prstDash val="solid"/>
          </a:ln>
        </p:spPr>
        <p:txBody>
          <a:bodyPr/>
          <a:lstStyle/>
          <a:p>
            <a:endParaRPr lang="en-US"/>
          </a:p>
        </p:txBody>
      </p:sp>
      <p:sp>
        <p:nvSpPr>
          <p:cNvPr id="6" name="Text 3"/>
          <p:cNvSpPr/>
          <p:nvPr/>
        </p:nvSpPr>
        <p:spPr>
          <a:xfrm>
            <a:off x="920750" y="2364085"/>
            <a:ext cx="19621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B7782"/>
                </a:solidFill>
                <a:latin typeface="Arial" pitchFamily="34" charset="0"/>
                <a:ea typeface="Arial" pitchFamily="34" charset="-122"/>
                <a:cs typeface="Arial" pitchFamily="34" charset="-120"/>
              </a:rPr>
              <a:t>Regla</a:t>
            </a:r>
            <a:endParaRPr lang="en-US" sz="1200"/>
          </a:p>
        </p:txBody>
      </p:sp>
      <p:sp>
        <p:nvSpPr>
          <p:cNvPr id="7" name="Text 4"/>
          <p:cNvSpPr/>
          <p:nvPr/>
        </p:nvSpPr>
        <p:spPr>
          <a:xfrm>
            <a:off x="2927350" y="2364085"/>
            <a:ext cx="294322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782"/>
                </a:solidFill>
                <a:latin typeface="Arial" pitchFamily="34" charset="0"/>
                <a:ea typeface="Arial" pitchFamily="34" charset="-122"/>
                <a:cs typeface="Arial" pitchFamily="34" charset="-120"/>
              </a:rPr>
              <a:t>Cambio </a:t>
            </a:r>
            <a:r>
              <a:rPr lang="en-US" sz="1200" dirty="0" err="1">
                <a:solidFill>
                  <a:srgbClr val="6B7782"/>
                </a:solidFill>
                <a:latin typeface="Arial" pitchFamily="34" charset="0"/>
                <a:ea typeface="Arial" pitchFamily="34" charset="-122"/>
                <a:cs typeface="Arial" pitchFamily="34" charset="-120"/>
              </a:rPr>
              <a:t>en</a:t>
            </a:r>
            <a:r>
              <a:rPr lang="en-US" sz="1200" dirty="0">
                <a:solidFill>
                  <a:srgbClr val="6B7782"/>
                </a:solidFill>
                <a:latin typeface="Arial" pitchFamily="34" charset="0"/>
                <a:ea typeface="Arial" pitchFamily="34" charset="-122"/>
                <a:cs typeface="Arial" pitchFamily="34" charset="-120"/>
              </a:rPr>
              <a:t> el </a:t>
            </a:r>
            <a:r>
              <a:rPr lang="en-US" sz="1200" dirty="0" err="1">
                <a:solidFill>
                  <a:srgbClr val="6B7782"/>
                </a:solidFill>
                <a:latin typeface="Arial" pitchFamily="34" charset="0"/>
                <a:ea typeface="Arial" pitchFamily="34" charset="-122"/>
                <a:cs typeface="Arial" pitchFamily="34" charset="-120"/>
              </a:rPr>
              <a:t>gasto</a:t>
            </a:r>
            <a:r>
              <a:rPr lang="en-US" sz="1200" dirty="0">
                <a:solidFill>
                  <a:srgbClr val="6B7782"/>
                </a:solidFill>
                <a:latin typeface="Arial" pitchFamily="34" charset="0"/>
                <a:ea typeface="Arial" pitchFamily="34" charset="-122"/>
                <a:cs typeface="Arial" pitchFamily="34" charset="-120"/>
              </a:rPr>
              <a:t> del </a:t>
            </a:r>
            <a:r>
              <a:rPr lang="en-US" sz="1200" dirty="0" err="1">
                <a:solidFill>
                  <a:srgbClr val="6B7782"/>
                </a:solidFill>
                <a:latin typeface="Arial" pitchFamily="34" charset="0"/>
                <a:ea typeface="Arial" pitchFamily="34" charset="-122"/>
                <a:cs typeface="Arial" pitchFamily="34" charset="-120"/>
              </a:rPr>
              <a:t>usuario</a:t>
            </a:r>
            <a:r>
              <a:rPr lang="en-US" sz="1200" dirty="0">
                <a:solidFill>
                  <a:srgbClr val="6B7782"/>
                </a:solidFill>
                <a:latin typeface="Arial" pitchFamily="34" charset="0"/>
                <a:ea typeface="Arial" pitchFamily="34" charset="-122"/>
                <a:cs typeface="Arial" pitchFamily="34" charset="-120"/>
              </a:rPr>
              <a:t> </a:t>
            </a:r>
            <a:r>
              <a:rPr lang="en-US" sz="1200" dirty="0" err="1">
                <a:solidFill>
                  <a:srgbClr val="6B7782"/>
                </a:solidFill>
                <a:latin typeface="Arial" pitchFamily="34" charset="0"/>
                <a:ea typeface="Arial" pitchFamily="34" charset="-122"/>
                <a:cs typeface="Arial" pitchFamily="34" charset="-120"/>
              </a:rPr>
              <a:t>típico</a:t>
            </a:r>
            <a:endParaRPr lang="en-US" sz="1200" dirty="0"/>
          </a:p>
        </p:txBody>
      </p:sp>
      <p:sp>
        <p:nvSpPr>
          <p:cNvPr id="8" name="Text 5"/>
          <p:cNvSpPr/>
          <p:nvPr/>
        </p:nvSpPr>
        <p:spPr>
          <a:xfrm>
            <a:off x="5886450" y="2364085"/>
            <a:ext cx="1595914"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B7782"/>
                </a:solidFill>
                <a:latin typeface="Arial" pitchFamily="34" charset="0"/>
                <a:ea typeface="Arial" pitchFamily="34" charset="-122"/>
                <a:cs typeface="Arial" pitchFamily="34" charset="-120"/>
              </a:rPr>
              <a:t>Dólares por usuario</a:t>
            </a:r>
            <a:endParaRPr lang="en-US" sz="1200"/>
          </a:p>
        </p:txBody>
      </p:sp>
      <p:sp>
        <p:nvSpPr>
          <p:cNvPr id="9" name="Text 6"/>
          <p:cNvSpPr/>
          <p:nvPr/>
        </p:nvSpPr>
        <p:spPr>
          <a:xfrm>
            <a:off x="920750" y="2774255"/>
            <a:ext cx="1962150" cy="223490"/>
          </a:xfrm>
          <a:prstGeom prst="rect">
            <a:avLst/>
          </a:prstGeom>
          <a:noFill/>
          <a:ln/>
        </p:spPr>
        <p:txBody>
          <a:bodyPr wrap="square" lIns="0" tIns="0" rIns="0" bIns="0" rtlCol="0" anchor="t">
            <a:normAutofit/>
          </a:bodyPr>
          <a:lstStyle/>
          <a:p>
            <a:pPr marL="0" indent="0" algn="l">
              <a:lnSpc>
                <a:spcPts val="1560"/>
              </a:lnSpc>
              <a:buNone/>
            </a:pPr>
            <a:r>
              <a:rPr lang="en-US" sz="1300">
                <a:solidFill>
                  <a:srgbClr val="1B1B1B"/>
                </a:solidFill>
                <a:latin typeface="Arial" pitchFamily="34" charset="0"/>
                <a:ea typeface="Arial" pitchFamily="34" charset="-122"/>
                <a:cs typeface="Arial" pitchFamily="34" charset="-120"/>
              </a:rPr>
              <a:t>Todos los usuarios</a:t>
            </a:r>
            <a:endParaRPr lang="en-US" sz="1300"/>
          </a:p>
        </p:txBody>
      </p:sp>
      <p:sp>
        <p:nvSpPr>
          <p:cNvPr id="10" name="Text 7"/>
          <p:cNvSpPr/>
          <p:nvPr/>
        </p:nvSpPr>
        <p:spPr>
          <a:xfrm>
            <a:off x="920750" y="2972346"/>
            <a:ext cx="1962150" cy="220960"/>
          </a:xfrm>
          <a:prstGeom prst="rect">
            <a:avLst/>
          </a:prstGeom>
          <a:noFill/>
          <a:ln/>
        </p:spPr>
        <p:txBody>
          <a:bodyPr wrap="square" lIns="0" tIns="0" rIns="0" bIns="0" rtlCol="0" anchor="t">
            <a:normAutofit/>
          </a:bodyPr>
          <a:lstStyle/>
          <a:p>
            <a:pPr marL="0" indent="0" algn="l">
              <a:lnSpc>
                <a:spcPts val="1540"/>
              </a:lnSpc>
              <a:buNone/>
            </a:pPr>
            <a:r>
              <a:rPr lang="en-US" sz="1100">
                <a:solidFill>
                  <a:srgbClr val="6B7782"/>
                </a:solidFill>
                <a:latin typeface="Arial" pitchFamily="34" charset="0"/>
                <a:ea typeface="Arial" pitchFamily="34" charset="-122"/>
                <a:cs typeface="Arial" pitchFamily="34" charset="-120"/>
              </a:rPr>
              <a:t>100% de la base</a:t>
            </a:r>
            <a:endParaRPr lang="en-US" sz="1100"/>
          </a:p>
        </p:txBody>
      </p:sp>
      <p:sp>
        <p:nvSpPr>
          <p:cNvPr id="11" name="Shape 8"/>
          <p:cNvSpPr/>
          <p:nvPr/>
        </p:nvSpPr>
        <p:spPr>
          <a:xfrm>
            <a:off x="2927350" y="2831405"/>
            <a:ext cx="146050" cy="279400"/>
          </a:xfrm>
          <a:prstGeom prst="roundRect">
            <a:avLst>
              <a:gd name="adj" fmla="val 26087"/>
            </a:avLst>
          </a:prstGeom>
          <a:solidFill>
            <a:srgbClr val="9DB2C2"/>
          </a:solidFill>
          <a:ln/>
        </p:spPr>
        <p:txBody>
          <a:bodyPr/>
          <a:lstStyle/>
          <a:p>
            <a:endParaRPr lang="en-US"/>
          </a:p>
        </p:txBody>
      </p:sp>
      <p:sp>
        <p:nvSpPr>
          <p:cNvPr id="12" name="Text 9"/>
          <p:cNvSpPr/>
          <p:nvPr/>
        </p:nvSpPr>
        <p:spPr>
          <a:xfrm>
            <a:off x="3162300" y="2828875"/>
            <a:ext cx="698183"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051C2C"/>
                </a:solidFill>
                <a:latin typeface="Arial" pitchFamily="34" charset="0"/>
                <a:ea typeface="Arial" pitchFamily="34" charset="-122"/>
                <a:cs typeface="Arial" pitchFamily="34" charset="-120"/>
              </a:rPr>
              <a:t>+0.8%</a:t>
            </a:r>
            <a:endParaRPr lang="en-US" sz="1600"/>
          </a:p>
        </p:txBody>
      </p:sp>
      <p:sp>
        <p:nvSpPr>
          <p:cNvPr id="13" name="Text 10"/>
          <p:cNvSpPr/>
          <p:nvPr/>
        </p:nvSpPr>
        <p:spPr>
          <a:xfrm>
            <a:off x="5886450" y="2828875"/>
            <a:ext cx="610195"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051C2C"/>
                </a:solidFill>
                <a:latin typeface="Arial" pitchFamily="34" charset="0"/>
                <a:ea typeface="Arial" pitchFamily="34" charset="-122"/>
                <a:cs typeface="Arial" pitchFamily="34" charset="-120"/>
              </a:rPr>
              <a:t>0.416</a:t>
            </a:r>
            <a:endParaRPr lang="en-US" sz="1600"/>
          </a:p>
        </p:txBody>
      </p:sp>
      <p:sp>
        <p:nvSpPr>
          <p:cNvPr id="14" name="Text 11"/>
          <p:cNvSpPr/>
          <p:nvPr/>
        </p:nvSpPr>
        <p:spPr>
          <a:xfrm>
            <a:off x="920750" y="3523555"/>
            <a:ext cx="1962150" cy="223490"/>
          </a:xfrm>
          <a:prstGeom prst="rect">
            <a:avLst/>
          </a:prstGeom>
          <a:noFill/>
          <a:ln/>
        </p:spPr>
        <p:txBody>
          <a:bodyPr wrap="square" lIns="0" tIns="0" rIns="0" bIns="0" rtlCol="0" anchor="t">
            <a:normAutofit/>
          </a:bodyPr>
          <a:lstStyle/>
          <a:p>
            <a:pPr marL="0" indent="0" algn="l">
              <a:lnSpc>
                <a:spcPts val="1560"/>
              </a:lnSpc>
              <a:buNone/>
            </a:pPr>
            <a:r>
              <a:rPr lang="en-US" sz="1300">
                <a:solidFill>
                  <a:srgbClr val="1B1B1B"/>
                </a:solidFill>
                <a:latin typeface="Arial" pitchFamily="34" charset="0"/>
                <a:ea typeface="Arial" pitchFamily="34" charset="-122"/>
                <a:cs typeface="Arial" pitchFamily="34" charset="-120"/>
              </a:rPr>
              <a:t>Solo 3 o más sesiones</a:t>
            </a:r>
            <a:endParaRPr lang="en-US" sz="1300"/>
          </a:p>
        </p:txBody>
      </p:sp>
      <p:sp>
        <p:nvSpPr>
          <p:cNvPr id="15" name="Text 12"/>
          <p:cNvSpPr/>
          <p:nvPr/>
        </p:nvSpPr>
        <p:spPr>
          <a:xfrm>
            <a:off x="920750" y="3721646"/>
            <a:ext cx="1962150" cy="220960"/>
          </a:xfrm>
          <a:prstGeom prst="rect">
            <a:avLst/>
          </a:prstGeom>
          <a:noFill/>
          <a:ln/>
        </p:spPr>
        <p:txBody>
          <a:bodyPr wrap="square" lIns="0" tIns="0" rIns="0" bIns="0" rtlCol="0" anchor="t">
            <a:normAutofit/>
          </a:bodyPr>
          <a:lstStyle/>
          <a:p>
            <a:pPr marL="0" indent="0" algn="l">
              <a:lnSpc>
                <a:spcPts val="1540"/>
              </a:lnSpc>
              <a:buNone/>
            </a:pPr>
            <a:r>
              <a:rPr lang="en-US" sz="1100">
                <a:solidFill>
                  <a:srgbClr val="6B7782"/>
                </a:solidFill>
                <a:latin typeface="Arial" pitchFamily="34" charset="0"/>
                <a:ea typeface="Arial" pitchFamily="34" charset="-122"/>
                <a:cs typeface="Arial" pitchFamily="34" charset="-120"/>
              </a:rPr>
              <a:t>57.7% de la base</a:t>
            </a:r>
            <a:endParaRPr lang="en-US" sz="1100"/>
          </a:p>
        </p:txBody>
      </p:sp>
      <p:sp>
        <p:nvSpPr>
          <p:cNvPr id="16" name="Shape 13"/>
          <p:cNvSpPr/>
          <p:nvPr/>
        </p:nvSpPr>
        <p:spPr>
          <a:xfrm>
            <a:off x="2927350" y="3580705"/>
            <a:ext cx="685800" cy="279400"/>
          </a:xfrm>
          <a:prstGeom prst="roundRect">
            <a:avLst>
              <a:gd name="adj" fmla="val 13636"/>
            </a:avLst>
          </a:prstGeom>
          <a:solidFill>
            <a:srgbClr val="9DB2C2"/>
          </a:solidFill>
          <a:ln/>
        </p:spPr>
        <p:txBody>
          <a:bodyPr/>
          <a:lstStyle/>
          <a:p>
            <a:endParaRPr lang="en-US"/>
          </a:p>
        </p:txBody>
      </p:sp>
      <p:sp>
        <p:nvSpPr>
          <p:cNvPr id="17" name="Text 14"/>
          <p:cNvSpPr/>
          <p:nvPr/>
        </p:nvSpPr>
        <p:spPr>
          <a:xfrm>
            <a:off x="3702050" y="3578175"/>
            <a:ext cx="698183"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051C2C"/>
                </a:solidFill>
                <a:latin typeface="Arial" pitchFamily="34" charset="0"/>
                <a:ea typeface="Arial" pitchFamily="34" charset="-122"/>
                <a:cs typeface="Arial" pitchFamily="34" charset="-120"/>
              </a:rPr>
              <a:t>+3.8%</a:t>
            </a:r>
            <a:endParaRPr lang="en-US" sz="1600"/>
          </a:p>
        </p:txBody>
      </p:sp>
      <p:sp>
        <p:nvSpPr>
          <p:cNvPr id="18" name="Text 15"/>
          <p:cNvSpPr/>
          <p:nvPr/>
        </p:nvSpPr>
        <p:spPr>
          <a:xfrm>
            <a:off x="5886450" y="3578175"/>
            <a:ext cx="610195"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051C2C"/>
                </a:solidFill>
                <a:latin typeface="Arial" pitchFamily="34" charset="0"/>
                <a:ea typeface="Arial" pitchFamily="34" charset="-122"/>
                <a:cs typeface="Arial" pitchFamily="34" charset="-120"/>
              </a:rPr>
              <a:t>0.470</a:t>
            </a:r>
            <a:endParaRPr lang="en-US" sz="1600"/>
          </a:p>
        </p:txBody>
      </p:sp>
      <p:sp>
        <p:nvSpPr>
          <p:cNvPr id="19" name="Text 16"/>
          <p:cNvSpPr/>
          <p:nvPr/>
        </p:nvSpPr>
        <p:spPr>
          <a:xfrm>
            <a:off x="920750" y="4173835"/>
            <a:ext cx="1962150" cy="421580"/>
          </a:xfrm>
          <a:prstGeom prst="rect">
            <a:avLst/>
          </a:prstGeom>
          <a:noFill/>
          <a:ln/>
        </p:spPr>
        <p:txBody>
          <a:bodyPr wrap="square" lIns="0" tIns="0" rIns="0" bIns="0" rtlCol="0" anchor="t">
            <a:normAutofit/>
          </a:bodyPr>
          <a:lstStyle/>
          <a:p>
            <a:pPr marL="0" indent="0" algn="l">
              <a:lnSpc>
                <a:spcPts val="1560"/>
              </a:lnSpc>
              <a:buNone/>
            </a:pPr>
            <a:r>
              <a:rPr lang="en-US" sz="1300">
                <a:solidFill>
                  <a:srgbClr val="1B1B1B"/>
                </a:solidFill>
                <a:latin typeface="Arial" pitchFamily="34" charset="0"/>
                <a:ea typeface="Arial" pitchFamily="34" charset="-122"/>
                <a:cs typeface="Arial" pitchFamily="34" charset="-120"/>
              </a:rPr>
              <a:t>Solo computador y tableta</a:t>
            </a:r>
            <a:endParaRPr lang="en-US" sz="1300"/>
          </a:p>
        </p:txBody>
      </p:sp>
      <p:sp>
        <p:nvSpPr>
          <p:cNvPr id="20" name="Text 17"/>
          <p:cNvSpPr/>
          <p:nvPr/>
        </p:nvSpPr>
        <p:spPr>
          <a:xfrm>
            <a:off x="920750" y="4375150"/>
            <a:ext cx="1962150" cy="220960"/>
          </a:xfrm>
          <a:prstGeom prst="rect">
            <a:avLst/>
          </a:prstGeom>
          <a:noFill/>
          <a:ln/>
        </p:spPr>
        <p:txBody>
          <a:bodyPr wrap="square" lIns="0" tIns="0" rIns="0" bIns="0" rtlCol="0" anchor="t">
            <a:normAutofit/>
          </a:bodyPr>
          <a:lstStyle/>
          <a:p>
            <a:pPr marL="0" indent="0" algn="l">
              <a:lnSpc>
                <a:spcPts val="1540"/>
              </a:lnSpc>
              <a:buNone/>
            </a:pPr>
            <a:r>
              <a:rPr lang="en-US" sz="1100">
                <a:solidFill>
                  <a:srgbClr val="6B7782"/>
                </a:solidFill>
                <a:latin typeface="Arial" pitchFamily="34" charset="0"/>
                <a:ea typeface="Arial" pitchFamily="34" charset="-122"/>
                <a:cs typeface="Arial" pitchFamily="34" charset="-120"/>
              </a:rPr>
              <a:t>49.9% de la base</a:t>
            </a:r>
            <a:endParaRPr lang="en-US" sz="1100"/>
          </a:p>
        </p:txBody>
      </p:sp>
      <p:sp>
        <p:nvSpPr>
          <p:cNvPr id="21" name="Shape 18"/>
          <p:cNvSpPr/>
          <p:nvPr/>
        </p:nvSpPr>
        <p:spPr>
          <a:xfrm>
            <a:off x="2927350" y="4330005"/>
            <a:ext cx="1568450" cy="279400"/>
          </a:xfrm>
          <a:prstGeom prst="roundRect">
            <a:avLst>
              <a:gd name="adj" fmla="val 13636"/>
            </a:avLst>
          </a:prstGeom>
          <a:solidFill>
            <a:srgbClr val="9DB2C2"/>
          </a:solidFill>
          <a:ln/>
        </p:spPr>
        <p:txBody>
          <a:bodyPr/>
          <a:lstStyle/>
          <a:p>
            <a:endParaRPr lang="en-US"/>
          </a:p>
        </p:txBody>
      </p:sp>
      <p:sp>
        <p:nvSpPr>
          <p:cNvPr id="22" name="Text 19"/>
          <p:cNvSpPr/>
          <p:nvPr/>
        </p:nvSpPr>
        <p:spPr>
          <a:xfrm>
            <a:off x="4584700" y="4327475"/>
            <a:ext cx="698183"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051C2C"/>
                </a:solidFill>
                <a:latin typeface="Arial" pitchFamily="34" charset="0"/>
                <a:ea typeface="Arial" pitchFamily="34" charset="-122"/>
                <a:cs typeface="Arial" pitchFamily="34" charset="-120"/>
              </a:rPr>
              <a:t>+8.7%</a:t>
            </a:r>
            <a:endParaRPr lang="en-US" sz="1600"/>
          </a:p>
        </p:txBody>
      </p:sp>
      <p:sp>
        <p:nvSpPr>
          <p:cNvPr id="23" name="Text 20"/>
          <p:cNvSpPr/>
          <p:nvPr/>
        </p:nvSpPr>
        <p:spPr>
          <a:xfrm>
            <a:off x="5886450" y="4327475"/>
            <a:ext cx="610195"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051C2C"/>
                </a:solidFill>
                <a:latin typeface="Arial" pitchFamily="34" charset="0"/>
                <a:ea typeface="Arial" pitchFamily="34" charset="-122"/>
                <a:cs typeface="Arial" pitchFamily="34" charset="-120"/>
              </a:rPr>
              <a:t>0.578</a:t>
            </a:r>
            <a:endParaRPr lang="en-US" sz="1600"/>
          </a:p>
        </p:txBody>
      </p:sp>
      <p:sp>
        <p:nvSpPr>
          <p:cNvPr id="24" name="Shape 21"/>
          <p:cNvSpPr/>
          <p:nvPr/>
        </p:nvSpPr>
        <p:spPr>
          <a:xfrm>
            <a:off x="844550" y="4863405"/>
            <a:ext cx="6553200" cy="711200"/>
          </a:xfrm>
          <a:prstGeom prst="roundRect">
            <a:avLst>
              <a:gd name="adj" fmla="val 14286"/>
            </a:avLst>
          </a:prstGeom>
          <a:solidFill>
            <a:srgbClr val="DFF2FA"/>
          </a:solidFill>
          <a:ln/>
        </p:spPr>
        <p:txBody>
          <a:bodyPr/>
          <a:lstStyle/>
          <a:p>
            <a:endParaRPr lang="en-US"/>
          </a:p>
        </p:txBody>
      </p:sp>
      <p:sp>
        <p:nvSpPr>
          <p:cNvPr id="25" name="Text 22"/>
          <p:cNvSpPr/>
          <p:nvPr/>
        </p:nvSpPr>
        <p:spPr>
          <a:xfrm>
            <a:off x="920750" y="4924375"/>
            <a:ext cx="1962150" cy="223490"/>
          </a:xfrm>
          <a:prstGeom prst="rect">
            <a:avLst/>
          </a:prstGeom>
          <a:noFill/>
          <a:ln/>
        </p:spPr>
        <p:txBody>
          <a:bodyPr wrap="square" lIns="0" tIns="0" rIns="0" bIns="0" rtlCol="0" anchor="t">
            <a:normAutofit/>
          </a:bodyPr>
          <a:lstStyle/>
          <a:p>
            <a:pPr marL="0" indent="0" algn="l">
              <a:lnSpc>
                <a:spcPts val="1560"/>
              </a:lnSpc>
              <a:buNone/>
            </a:pPr>
            <a:r>
              <a:rPr lang="en-US" sz="1300" b="1">
                <a:solidFill>
                  <a:srgbClr val="1B1B1B"/>
                </a:solidFill>
                <a:latin typeface="Arial" pitchFamily="34" charset="0"/>
                <a:ea typeface="Arial" pitchFamily="34" charset="-122"/>
                <a:cs typeface="Arial" pitchFamily="34" charset="-120"/>
              </a:rPr>
              <a:t>Recomendada</a:t>
            </a:r>
            <a:endParaRPr lang="en-US" sz="1300"/>
          </a:p>
        </p:txBody>
      </p:sp>
      <p:sp>
        <p:nvSpPr>
          <p:cNvPr id="26" name="Text 23"/>
          <p:cNvSpPr/>
          <p:nvPr/>
        </p:nvSpPr>
        <p:spPr>
          <a:xfrm>
            <a:off x="920750" y="5122466"/>
            <a:ext cx="1962150" cy="416520"/>
          </a:xfrm>
          <a:prstGeom prst="rect">
            <a:avLst/>
          </a:prstGeom>
          <a:noFill/>
          <a:ln/>
        </p:spPr>
        <p:txBody>
          <a:bodyPr wrap="square" lIns="0" tIns="0" rIns="0" bIns="0" rtlCol="0" anchor="t">
            <a:normAutofit/>
          </a:bodyPr>
          <a:lstStyle/>
          <a:p>
            <a:pPr marL="0" indent="0" algn="l">
              <a:lnSpc>
                <a:spcPts val="1540"/>
              </a:lnSpc>
              <a:buNone/>
            </a:pPr>
            <a:r>
              <a:rPr lang="en-US" sz="1100">
                <a:solidFill>
                  <a:srgbClr val="6B7782"/>
                </a:solidFill>
                <a:latin typeface="Arial" pitchFamily="34" charset="0"/>
                <a:ea typeface="Arial" pitchFamily="34" charset="-122"/>
                <a:cs typeface="Arial" pitchFamily="34" charset="-120"/>
              </a:rPr>
              <a:t>65.1% de la base: todos salvo celulares con Windows u otro</a:t>
            </a:r>
            <a:endParaRPr lang="en-US" sz="1100"/>
          </a:p>
        </p:txBody>
      </p:sp>
      <p:sp>
        <p:nvSpPr>
          <p:cNvPr id="27" name="Shape 24"/>
          <p:cNvSpPr/>
          <p:nvPr/>
        </p:nvSpPr>
        <p:spPr>
          <a:xfrm>
            <a:off x="2927350" y="5079305"/>
            <a:ext cx="1841500" cy="279400"/>
          </a:xfrm>
          <a:prstGeom prst="roundRect">
            <a:avLst>
              <a:gd name="adj" fmla="val 13636"/>
            </a:avLst>
          </a:prstGeom>
          <a:solidFill>
            <a:srgbClr val="00B0F0"/>
          </a:solidFill>
          <a:ln/>
        </p:spPr>
        <p:txBody>
          <a:bodyPr/>
          <a:lstStyle/>
          <a:p>
            <a:endParaRPr lang="en-US"/>
          </a:p>
        </p:txBody>
      </p:sp>
      <p:sp>
        <p:nvSpPr>
          <p:cNvPr id="28" name="Text 25"/>
          <p:cNvSpPr/>
          <p:nvPr/>
        </p:nvSpPr>
        <p:spPr>
          <a:xfrm>
            <a:off x="4857750" y="5076775"/>
            <a:ext cx="833795"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051C2C"/>
                </a:solidFill>
                <a:latin typeface="Arial" pitchFamily="34" charset="0"/>
                <a:ea typeface="Arial" pitchFamily="34" charset="-122"/>
                <a:cs typeface="Arial" pitchFamily="34" charset="-120"/>
              </a:rPr>
              <a:t>+10.2%</a:t>
            </a:r>
            <a:endParaRPr lang="en-US" sz="1600"/>
          </a:p>
        </p:txBody>
      </p:sp>
      <p:sp>
        <p:nvSpPr>
          <p:cNvPr id="29" name="Text 26"/>
          <p:cNvSpPr/>
          <p:nvPr/>
        </p:nvSpPr>
        <p:spPr>
          <a:xfrm>
            <a:off x="5886450" y="5076775"/>
            <a:ext cx="610195"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051C2C"/>
                </a:solidFill>
                <a:latin typeface="Arial" pitchFamily="34" charset="0"/>
                <a:ea typeface="Arial" pitchFamily="34" charset="-122"/>
                <a:cs typeface="Arial" pitchFamily="34" charset="-120"/>
              </a:rPr>
              <a:t>0.657</a:t>
            </a:r>
            <a:endParaRPr lang="en-US" sz="1600"/>
          </a:p>
        </p:txBody>
      </p:sp>
      <p:sp>
        <p:nvSpPr>
          <p:cNvPr id="30" name="Text 27"/>
          <p:cNvSpPr/>
          <p:nvPr/>
        </p:nvSpPr>
        <p:spPr>
          <a:xfrm>
            <a:off x="7886700" y="2286000"/>
            <a:ext cx="3644900" cy="2489200"/>
          </a:xfrm>
          <a:prstGeom prst="roundRect">
            <a:avLst>
              <a:gd name="adj" fmla="val 13514"/>
            </a:avLst>
          </a:prstGeom>
          <a:solidFill>
            <a:srgbClr val="082033"/>
          </a:solidFill>
          <a:ln/>
        </p:spPr>
        <p:txBody>
          <a:bodyPr wrap="square" lIns="203200" tIns="203200" rIns="177800" bIns="203200" rtlCol="0" anchor="t">
            <a:noAutofit/>
          </a:bodyPr>
          <a:lstStyle/>
          <a:p>
            <a:pPr marL="0" indent="0" algn="l">
              <a:lnSpc>
                <a:spcPts val="1890"/>
              </a:lnSpc>
              <a:buNone/>
            </a:pPr>
            <a:r>
              <a:rPr lang="en-US" sz="1400">
                <a:solidFill>
                  <a:srgbClr val="FFFFFF"/>
                </a:solidFill>
                <a:latin typeface="Arial" pitchFamily="34" charset="0"/>
                <a:ea typeface="Arial" pitchFamily="34" charset="-122"/>
                <a:cs typeface="Arial" pitchFamily="34" charset="-120"/>
              </a:rPr>
              <a:t>La regla se eligió con una mitad del experimento y se evaluó con la otra. La elegida en entrenamiento vale 0.653 dólares por usuario; la recomendada agrega 84 usuarios de tableta con otro sistema y vale 0.657. Frente a dárselo a todos, gana 0.235 dólares por usuario [0.192; 0.279].</a:t>
            </a:r>
            <a:endParaRPr lang="en-US" sz="1400"/>
          </a:p>
        </p:txBody>
      </p:sp>
      <p:sp>
        <p:nvSpPr>
          <p:cNvPr id="31" name="Text 28"/>
          <p:cNvSpPr/>
          <p:nvPr/>
        </p:nvSpPr>
        <p:spPr>
          <a:xfrm>
            <a:off x="7899400" y="5029200"/>
            <a:ext cx="3625850" cy="1193800"/>
          </a:xfrm>
          <a:prstGeom prst="roundRect">
            <a:avLst>
              <a:gd name="adj" fmla="val 11128"/>
            </a:avLst>
          </a:prstGeom>
          <a:solidFill>
            <a:srgbClr val="DFF2FA"/>
          </a:solidFill>
          <a:ln w="19050">
            <a:solidFill>
              <a:srgbClr val="00B0F0"/>
            </a:solidFill>
            <a:prstDash val="solid"/>
          </a:ln>
        </p:spPr>
        <p:txBody>
          <a:bodyPr wrap="square" lIns="170878" tIns="120078" rIns="74866" bIns="94678" rtlCol="0" anchor="t">
            <a:noAutofit/>
          </a:bodyPr>
          <a:lstStyle/>
          <a:p>
            <a:pPr marL="0" indent="0" algn="l">
              <a:lnSpc>
                <a:spcPts val="1890"/>
              </a:lnSpc>
              <a:buNone/>
            </a:pPr>
            <a:r>
              <a:rPr lang="en-US" sz="1400">
                <a:solidFill>
                  <a:srgbClr val="022B52"/>
                </a:solidFill>
                <a:latin typeface="Arial" pitchFamily="34" charset="0"/>
                <a:ea typeface="Arial" pitchFamily="34" charset="-122"/>
                <a:cs typeface="Arial" pitchFamily="34" charset="-120"/>
              </a:rPr>
              <a:t>Frente a dar solo a computador y tableta, incluir celulares con osx suma 0.076 dólares por usuario [0.031; 0.121].</a:t>
            </a:r>
            <a:endParaRPr lang="en-US" sz="1400"/>
          </a:p>
        </p:txBody>
      </p:sp>
      <p:sp>
        <p:nvSpPr>
          <p:cNvPr id="40" name="Nota estimando"/>
          <p:cNvSpPr/>
          <p:nvPr/>
        </p:nvSpPr>
        <p:spPr>
          <a:xfrm>
            <a:off x="660400" y="6045200"/>
            <a:ext cx="6921500" cy="381000"/>
          </a:xfrm>
          <a:prstGeom prst="rect">
            <a:avLst/>
          </a:prstGeom>
          <a:noFill/>
          <a:ln>
            <a:noFill/>
          </a:ln>
        </p:spPr>
        <p:txBody>
          <a:bodyPr wrap="square" lIns="0" tIns="0" rIns="0" bIns="0" rtlCol="0" anchor="t">
            <a:noAutofit/>
          </a:bodyPr>
          <a:lstStyle/>
          <a:p>
            <a:pPr marL="0" indent="0" algn="l">
              <a:buNone/>
            </a:pPr>
            <a:r>
              <a:rPr lang="es-ES" sz="1200" i="1" dirty="0">
                <a:solidFill>
                  <a:srgbClr val="6B7782"/>
                </a:solidFill>
                <a:latin typeface="Arial"/>
                <a:ea typeface="Arial"/>
                <a:cs typeface="Arial"/>
              </a:rPr>
              <a:t>% = cambio en el gasto del usuario típico, promediado sobre toda la base (quienes no reciben el registro facilitado cuentan con efecto cero).</a:t>
            </a:r>
          </a:p>
        </p:txBody>
      </p:sp>
      <p:sp>
        <p:nvSpPr>
          <p:cNvPr id="33" name="Text 30"/>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15</a:t>
            </a:r>
            <a:endParaRPr lang="en-US" sz="1200"/>
          </a:p>
        </p:txBody>
      </p:sp>
    </p:spTree>
    <p:extLst>
      <p:ext uri="{BB962C8B-B14F-4D97-AF65-F5344CB8AC3E}">
        <p14:creationId xmlns:p14="http://schemas.microsoft.com/office/powerpoint/2010/main" val="36221207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81000"/>
            <a:ext cx="11201400" cy="762000"/>
          </a:xfrm>
          <a:prstGeom prst="rect">
            <a:avLst/>
          </a:prstGeom>
          <a:noFill/>
          <a:ln/>
        </p:spPr>
        <p:txBody>
          <a:bodyPr wrap="square" lIns="0" tIns="0" rIns="0" bIns="0" rtlCol="0" anchor="t">
            <a:normAutofit/>
          </a:bodyPr>
          <a:lstStyle/>
          <a:p>
            <a:pPr marL="0" indent="0" algn="l">
              <a:lnSpc>
                <a:spcPts val="2912"/>
              </a:lnSpc>
              <a:buNone/>
            </a:pPr>
            <a:r>
              <a:rPr lang="en-US" sz="2600" b="1" i="0">
                <a:solidFill>
                  <a:srgbClr val="051C2C"/>
                </a:solidFill>
                <a:latin typeface="Georgia" pitchFamily="18" charset="0"/>
                <a:ea typeface="Georgia" pitchFamily="18" charset="-122"/>
                <a:cs typeface="Georgia" pitchFamily="18" charset="-120"/>
              </a:rPr>
              <a:t>Que el efecto cambia entre grupos está respaldado; el detalle por usuario es exploratorio</a:t>
            </a:r>
            <a:endParaRPr lang="en-US" sz="260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Parte B · Experimento A/B (n = 10,000) · Robustez · Causal</a:t>
            </a:r>
            <a:endParaRPr lang="en-US" sz="1400"/>
          </a:p>
        </p:txBody>
      </p:sp>
      <p:graphicFrame>
        <p:nvGraphicFramePr>
          <p:cNvPr id="20" name="Tabla respaldado vs exploratorio"/>
          <p:cNvGraphicFramePr>
            <a:graphicFrameLocks noGrp="1"/>
          </p:cNvGraphicFramePr>
          <p:nvPr/>
        </p:nvGraphicFramePr>
        <p:xfrm>
          <a:off x="660400" y="1676400"/>
          <a:ext cx="10871200" cy="3048000"/>
        </p:xfrm>
        <a:graphic>
          <a:graphicData uri="http://schemas.openxmlformats.org/drawingml/2006/table">
            <a:tbl>
              <a:tblPr firstRow="1"/>
              <a:tblGrid>
                <a:gridCol w="6350000">
                  <a:extLst>
                    <a:ext uri="{9D8B030D-6E8A-4147-A177-3AD203B41FA5}">
                      <a16:colId xmlns:a16="http://schemas.microsoft.com/office/drawing/2014/main" val="20000"/>
                    </a:ext>
                  </a:extLst>
                </a:gridCol>
                <a:gridCol w="4521200">
                  <a:extLst>
                    <a:ext uri="{9D8B030D-6E8A-4147-A177-3AD203B41FA5}">
                      <a16:colId xmlns:a16="http://schemas.microsoft.com/office/drawing/2014/main" val="20001"/>
                    </a:ext>
                  </a:extLst>
                </a:gridCol>
              </a:tblGrid>
              <a:tr h="431800">
                <a:tc>
                  <a:txBody>
                    <a:bodyPr/>
                    <a:lstStyle/>
                    <a:p>
                      <a:pPr algn="l"/>
                      <a:r>
                        <a:rPr lang="es-ES" sz="1600" b="1" dirty="0">
                          <a:solidFill>
                            <a:srgbClr val="FFFFFF"/>
                          </a:solidFill>
                          <a:latin typeface="Arial"/>
                          <a:ea typeface="Arial"/>
                          <a:cs typeface="Arial"/>
                        </a:rPr>
                        <a:t>Respaldado</a:t>
                      </a:r>
                    </a:p>
                  </a:txBody>
                  <a:tcPr marL="177800" marR="177800" marT="88900" marB="88900" anchor="ctr">
                    <a:lnL w="0">
                      <a:noFill/>
                    </a:lnL>
                    <a:lnR w="0">
                      <a:noFill/>
                    </a:lnR>
                    <a:lnT w="0">
                      <a:noFill/>
                    </a:lnT>
                    <a:lnB w="0">
                      <a:noFill/>
                    </a:lnB>
                    <a:solidFill>
                      <a:srgbClr val="2B5EA3"/>
                    </a:solidFill>
                  </a:tcPr>
                </a:tc>
                <a:tc>
                  <a:txBody>
                    <a:bodyPr/>
                    <a:lstStyle/>
                    <a:p>
                      <a:pPr algn="l"/>
                      <a:r>
                        <a:rPr lang="es-ES" sz="1600" b="1" dirty="0">
                          <a:solidFill>
                            <a:srgbClr val="FFFFFF"/>
                          </a:solidFill>
                          <a:latin typeface="Arial"/>
                          <a:ea typeface="Arial"/>
                          <a:cs typeface="Arial"/>
                        </a:rPr>
                        <a:t>Exploratorio</a:t>
                      </a:r>
                    </a:p>
                  </a:txBody>
                  <a:tcPr marL="177800" marR="177800" marT="88900" marB="88900" anchor="ctr">
                    <a:lnL w="0">
                      <a:noFill/>
                    </a:lnL>
                    <a:lnR w="0">
                      <a:noFill/>
                    </a:lnR>
                    <a:lnT w="0">
                      <a:noFill/>
                    </a:lnT>
                    <a:lnB w="0">
                      <a:noFill/>
                    </a:lnB>
                    <a:solidFill>
                      <a:srgbClr val="2B5EA3"/>
                    </a:solidFill>
                  </a:tcPr>
                </a:tc>
                <a:extLst>
                  <a:ext uri="{0D108BD9-81ED-4DB2-BD59-A6C34878D82A}">
                    <a16:rowId xmlns:a16="http://schemas.microsoft.com/office/drawing/2014/main" val="10000"/>
                  </a:ext>
                </a:extLst>
              </a:tr>
              <a:tr h="2616200">
                <a:tc>
                  <a:txBody>
                    <a:bodyPr/>
                    <a:lstStyle/>
                    <a:p>
                      <a:pPr marL="171450" indent="-171450" algn="l">
                        <a:lnSpc>
                          <a:spcPct val="100000"/>
                        </a:lnSpc>
                        <a:spcBef>
                          <a:spcPts val="800"/>
                        </a:spcBef>
                        <a:buClr>
                          <a:srgbClr val="00B0F0"/>
                        </a:buClr>
                        <a:buFont typeface="Arial"/>
                        <a:buChar char="•"/>
                      </a:pPr>
                      <a:r>
                        <a:rPr lang="es-ES" sz="1600" b="1" dirty="0">
                          <a:solidFill>
                            <a:srgbClr val="051C2C"/>
                          </a:solidFill>
                          <a:latin typeface="Arial"/>
                          <a:ea typeface="Arial"/>
                          <a:cs typeface="Arial"/>
                        </a:rPr>
                        <a:t>Los grupos sí responden distinto: </a:t>
                      </a:r>
                      <a:r>
                        <a:rPr lang="es-ES" sz="1600" dirty="0">
                          <a:solidFill>
                            <a:srgbClr val="1B1B1B"/>
                          </a:solidFill>
                          <a:latin typeface="Arial"/>
                          <a:ea typeface="Arial"/>
                          <a:cs typeface="Arial"/>
                        </a:rPr>
                        <a:t>las diferencias son reales, no ruido.</a:t>
                      </a:r>
                    </a:p>
                    <a:p>
                      <a:pPr marL="171450" indent="-171450" algn="l">
                        <a:lnSpc>
                          <a:spcPct val="100000"/>
                        </a:lnSpc>
                        <a:spcBef>
                          <a:spcPts val="800"/>
                        </a:spcBef>
                        <a:buClr>
                          <a:srgbClr val="00B0F0"/>
                        </a:buClr>
                        <a:buFont typeface="Arial"/>
                        <a:buChar char="•"/>
                      </a:pPr>
                      <a:r>
                        <a:rPr lang="es-ES" sz="1600" b="1" dirty="0">
                          <a:solidFill>
                            <a:srgbClr val="051C2C"/>
                          </a:solidFill>
                          <a:latin typeface="Arial"/>
                          <a:ea typeface="Arial"/>
                          <a:cs typeface="Arial"/>
                        </a:rPr>
                        <a:t>Se mantiene </a:t>
                      </a:r>
                      <a:r>
                        <a:rPr lang="es-ES" sz="1600" dirty="0">
                          <a:solidFill>
                            <a:srgbClr val="1B1B1B"/>
                          </a:solidFill>
                          <a:latin typeface="Arial"/>
                          <a:ea typeface="Arial"/>
                          <a:cs typeface="Arial"/>
                        </a:rPr>
                        <a:t>sin el tiempo en el sitio y en las dos escalas (% y dólares).</a:t>
                      </a:r>
                    </a:p>
                    <a:p>
                      <a:pPr marL="171450" indent="-171450" algn="l">
                        <a:lnSpc>
                          <a:spcPct val="100000"/>
                        </a:lnSpc>
                        <a:spcBef>
                          <a:spcPts val="800"/>
                        </a:spcBef>
                        <a:buClr>
                          <a:srgbClr val="00B0F0"/>
                        </a:buClr>
                        <a:buFont typeface="Arial"/>
                        <a:buChar char="•"/>
                      </a:pPr>
                      <a:r>
                        <a:rPr lang="es-ES" sz="1600" b="1" dirty="0">
                          <a:solidFill>
                            <a:srgbClr val="051C2C"/>
                          </a:solidFill>
                          <a:latin typeface="Arial"/>
                          <a:ea typeface="Arial"/>
                          <a:cs typeface="Arial"/>
                        </a:rPr>
                        <a:t>La regla supera a dárselo a todos </a:t>
                      </a:r>
                      <a:r>
                        <a:rPr lang="es-ES" sz="1600" dirty="0">
                          <a:solidFill>
                            <a:srgbClr val="1B1B1B"/>
                          </a:solidFill>
                          <a:latin typeface="Arial"/>
                          <a:ea typeface="Arial"/>
                          <a:cs typeface="Arial"/>
                        </a:rPr>
                        <a:t>en datos que no la eligieron: +0.235 dólares por usuario.</a:t>
                      </a:r>
                    </a:p>
                    <a:p>
                      <a:pPr marL="171450" indent="-171450" algn="l">
                        <a:lnSpc>
                          <a:spcPct val="100000"/>
                        </a:lnSpc>
                        <a:spcBef>
                          <a:spcPts val="800"/>
                        </a:spcBef>
                        <a:buClr>
                          <a:srgbClr val="00B0F0"/>
                        </a:buClr>
                        <a:buFont typeface="Arial"/>
                        <a:buChar char="•"/>
                      </a:pPr>
                      <a:r>
                        <a:rPr lang="es-ES" sz="1600" b="1" dirty="0">
                          <a:solidFill>
                            <a:srgbClr val="051C2C"/>
                          </a:solidFill>
                          <a:latin typeface="Arial"/>
                          <a:ea typeface="Arial"/>
                          <a:cs typeface="Arial"/>
                        </a:rPr>
                        <a:t>El experimento es confiable: </a:t>
                      </a:r>
                      <a:r>
                        <a:rPr lang="es-ES" sz="1600" dirty="0">
                          <a:solidFill>
                            <a:srgbClr val="1B1B1B"/>
                          </a:solidFill>
                          <a:latin typeface="Arial"/>
                          <a:ea typeface="Arial"/>
                          <a:cs typeface="Arial"/>
                        </a:rPr>
                        <a:t>está balanceado y se parece a la base histórica.</a:t>
                      </a:r>
                    </a:p>
                  </a:txBody>
                  <a:tcPr marL="177800" marR="177800" marT="50800" marB="127000">
                    <a:lnL w="0">
                      <a:noFill/>
                    </a:lnL>
                    <a:lnR w="0">
                      <a:noFill/>
                    </a:lnR>
                    <a:lnT w="0">
                      <a:noFill/>
                    </a:lnT>
                    <a:lnB w="12700">
                      <a:solidFill>
                        <a:srgbClr val="E0E0E0"/>
                      </a:solidFill>
                    </a:lnB>
                    <a:noFill/>
                  </a:tcPr>
                </a:tc>
                <a:tc>
                  <a:txBody>
                    <a:bodyPr/>
                    <a:lstStyle/>
                    <a:p>
                      <a:pPr marL="171450" indent="-171450" algn="l">
                        <a:lnSpc>
                          <a:spcPct val="100000"/>
                        </a:lnSpc>
                        <a:spcBef>
                          <a:spcPts val="800"/>
                        </a:spcBef>
                        <a:buClr>
                          <a:srgbClr val="00B0F0"/>
                        </a:buClr>
                        <a:buFont typeface="Arial"/>
                        <a:buChar char="•"/>
                      </a:pPr>
                      <a:r>
                        <a:rPr lang="es-ES" sz="1600" dirty="0">
                          <a:solidFill>
                            <a:srgbClr val="1B1B1B"/>
                          </a:solidFill>
                          <a:latin typeface="Arial"/>
                          <a:ea typeface="Arial"/>
                          <a:cs typeface="Arial"/>
                        </a:rPr>
                        <a:t>El efecto de cada usuario por separado.</a:t>
                      </a:r>
                    </a:p>
                    <a:p>
                      <a:pPr marL="171450" indent="-171450" algn="l">
                        <a:lnSpc>
                          <a:spcPct val="100000"/>
                        </a:lnSpc>
                        <a:spcBef>
                          <a:spcPts val="800"/>
                        </a:spcBef>
                        <a:buClr>
                          <a:srgbClr val="00B0F0"/>
                        </a:buClr>
                        <a:buFont typeface="Arial"/>
                        <a:buChar char="•"/>
                      </a:pPr>
                      <a:r>
                        <a:rPr lang="es-ES" sz="1600" dirty="0">
                          <a:solidFill>
                            <a:srgbClr val="1B1B1B"/>
                          </a:solidFill>
                          <a:latin typeface="Arial"/>
                          <a:ea typeface="Arial"/>
                          <a:cs typeface="Arial"/>
                        </a:rPr>
                        <a:t>Los efectos por número de sesiones.</a:t>
                      </a:r>
                    </a:p>
                    <a:p>
                      <a:pPr marL="171450" indent="-171450" algn="l">
                        <a:lnSpc>
                          <a:spcPct val="100000"/>
                        </a:lnSpc>
                        <a:spcBef>
                          <a:spcPts val="800"/>
                        </a:spcBef>
                        <a:buClr>
                          <a:srgbClr val="00B0F0"/>
                        </a:buClr>
                        <a:buFont typeface="Arial"/>
                        <a:buChar char="•"/>
                      </a:pPr>
                      <a:r>
                        <a:rPr lang="es-ES" sz="1600" b="1" dirty="0">
                          <a:solidFill>
                            <a:srgbClr val="051C2C"/>
                          </a:solidFill>
                          <a:latin typeface="Arial"/>
                          <a:ea typeface="Arial"/>
                          <a:cs typeface="Arial"/>
                        </a:rPr>
                        <a:t>Grupos con efecto incierto: </a:t>
                      </a:r>
                      <a:r>
                        <a:rPr lang="es-ES" sz="1600" dirty="0">
                          <a:solidFill>
                            <a:srgbClr val="1B1B1B"/>
                          </a:solidFill>
                          <a:latin typeface="Arial"/>
                          <a:ea typeface="Arial"/>
                          <a:cs typeface="Arial"/>
                        </a:rPr>
                        <a:t>computador con otro sistema, tableta con Windows y tableta con otro sistema (84 usuarios).</a:t>
                      </a:r>
                    </a:p>
                    <a:p>
                      <a:pPr marL="171450" indent="-171450" algn="l">
                        <a:lnSpc>
                          <a:spcPct val="100000"/>
                        </a:lnSpc>
                        <a:spcBef>
                          <a:spcPts val="800"/>
                        </a:spcBef>
                        <a:buClr>
                          <a:srgbClr val="00B0F0"/>
                        </a:buClr>
                        <a:buFont typeface="Arial"/>
                        <a:buChar char="•"/>
                      </a:pPr>
                      <a:r>
                        <a:rPr lang="es-ES" sz="1600" b="1" dirty="0">
                          <a:solidFill>
                            <a:srgbClr val="051C2C"/>
                          </a:solidFill>
                          <a:latin typeface="Arial"/>
                          <a:ea typeface="Arial"/>
                          <a:cs typeface="Arial"/>
                        </a:rPr>
                        <a:t>Se probaron muchos grupos, </a:t>
                      </a:r>
                      <a:r>
                        <a:rPr lang="es-ES" sz="1600" dirty="0">
                          <a:solidFill>
                            <a:srgbClr val="1B1B1B"/>
                          </a:solidFill>
                          <a:latin typeface="Arial"/>
                          <a:ea typeface="Arial"/>
                          <a:cs typeface="Arial"/>
                        </a:rPr>
                        <a:t>por eso la regla se validó en datos aparte.</a:t>
                      </a:r>
                    </a:p>
                  </a:txBody>
                  <a:tcPr marL="177800" marR="177800" marT="50800" marB="127000">
                    <a:lnL w="0">
                      <a:noFill/>
                    </a:lnL>
                    <a:lnR w="0">
                      <a:noFill/>
                    </a:lnR>
                    <a:lnT w="0">
                      <a:noFill/>
                    </a:lnT>
                    <a:lnB w="12700">
                      <a:solidFill>
                        <a:srgbClr val="E0E0E0"/>
                      </a:solidFill>
                    </a:lnB>
                    <a:noFill/>
                  </a:tcPr>
                </a:tc>
                <a:extLst>
                  <a:ext uri="{0D108BD9-81ED-4DB2-BD59-A6C34878D82A}">
                    <a16:rowId xmlns:a16="http://schemas.microsoft.com/office/drawing/2014/main" val="10001"/>
                  </a:ext>
                </a:extLst>
              </a:tr>
            </a:tbl>
          </a:graphicData>
        </a:graphic>
      </p:graphicFrame>
      <p:sp>
        <p:nvSpPr>
          <p:cNvPr id="21" name="Recuadro plausibilidad"/>
          <p:cNvSpPr/>
          <p:nvPr/>
        </p:nvSpPr>
        <p:spPr>
          <a:xfrm>
            <a:off x="660400" y="4876800"/>
            <a:ext cx="10871200" cy="1422400"/>
          </a:xfrm>
          <a:prstGeom prst="roundRect">
            <a:avLst>
              <a:gd name="adj" fmla="val 10000"/>
            </a:avLst>
          </a:prstGeom>
          <a:solidFill>
            <a:srgbClr val="E3F4FC"/>
          </a:solidFill>
          <a:ln w="12700">
            <a:solidFill>
              <a:srgbClr val="00B0F0"/>
            </a:solidFill>
          </a:ln>
        </p:spPr>
        <p:txBody>
          <a:bodyPr wrap="square" lIns="254000" tIns="152400" rIns="254000" bIns="101600" rtlCol="0" anchor="t">
            <a:noAutofit/>
          </a:bodyPr>
          <a:lstStyle/>
          <a:p>
            <a:pPr marL="0" indent="0" algn="l">
              <a:lnSpc>
                <a:spcPct val="100000"/>
              </a:lnSpc>
              <a:spcBef>
                <a:spcPts val="0"/>
              </a:spcBef>
              <a:buNone/>
            </a:pPr>
            <a:r>
              <a:rPr lang="es-ES" sz="1700" b="1" dirty="0">
                <a:solidFill>
                  <a:srgbClr val="022B52"/>
                </a:solidFill>
                <a:latin typeface="Georgia"/>
                <a:ea typeface="Georgia"/>
                <a:cs typeface="Georgia"/>
              </a:rPr>
              <a:t>¿Es plausible para el negocio?</a:t>
            </a:r>
          </a:p>
          <a:p>
            <a:pPr marL="0" indent="0" algn="l">
              <a:lnSpc>
                <a:spcPct val="100000"/>
              </a:lnSpc>
              <a:spcBef>
                <a:spcPts val="500"/>
              </a:spcBef>
              <a:buNone/>
            </a:pPr>
            <a:r>
              <a:rPr lang="es-ES" sz="1600" b="1" dirty="0">
                <a:solidFill>
                  <a:srgbClr val="1B1B1B"/>
                </a:solidFill>
                <a:latin typeface="Arial"/>
                <a:ea typeface="Arial"/>
                <a:cs typeface="Arial"/>
              </a:rPr>
              <a:t>Sí. </a:t>
            </a:r>
            <a:r>
              <a:rPr lang="es-ES" sz="1600" dirty="0">
                <a:solidFill>
                  <a:srgbClr val="1B1B1B"/>
                </a:solidFill>
                <a:latin typeface="Arial"/>
                <a:ea typeface="Arial"/>
                <a:cs typeface="Arial"/>
              </a:rPr>
              <a:t>Es coherente que ganen computador y osx: son quienes más gastan (4.61 dólares frente a 3.62 en celular con Windows). </a:t>
            </a:r>
            <a:endParaRPr lang="es-ES" sz="1600" b="1" dirty="0">
              <a:solidFill>
                <a:srgbClr val="1B1B1B"/>
              </a:solidFill>
              <a:latin typeface="Arial"/>
              <a:ea typeface="Arial"/>
              <a:cs typeface="Arial"/>
            </a:endParaRPr>
          </a:p>
        </p:txBody>
      </p:sp>
      <p:sp>
        <p:nvSpPr>
          <p:cNvPr id="16" name="Text 13"/>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16</a:t>
            </a:r>
            <a:endParaRPr lang="en-US" sz="1200"/>
          </a:p>
        </p:txBody>
      </p:sp>
    </p:spTree>
    <p:extLst>
      <p:ext uri="{BB962C8B-B14F-4D97-AF65-F5344CB8AC3E}">
        <p14:creationId xmlns:p14="http://schemas.microsoft.com/office/powerpoint/2010/main" val="31704947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78023"/>
            <a:ext cx="11197336" cy="764977"/>
          </a:xfrm>
          <a:prstGeom prst="rect">
            <a:avLst/>
          </a:prstGeom>
          <a:noFill/>
          <a:ln/>
        </p:spPr>
        <p:txBody>
          <a:bodyPr wrap="square" lIns="0" tIns="0" rIns="0" bIns="0" rtlCol="0" anchor="t">
            <a:normAutofit/>
          </a:bodyPr>
          <a:lstStyle/>
          <a:p>
            <a:pPr marL="0" indent="0" algn="l">
              <a:lnSpc>
                <a:spcPts val="2912"/>
              </a:lnSpc>
              <a:buNone/>
            </a:pPr>
            <a:r>
              <a:rPr lang="en-US" sz="2600" b="1" i="0" dirty="0">
                <a:solidFill>
                  <a:srgbClr val="051C2C"/>
                </a:solidFill>
                <a:latin typeface="Georgia" pitchFamily="18" charset="0"/>
                <a:ea typeface="Georgia" pitchFamily="18" charset="-122"/>
                <a:cs typeface="Georgia" pitchFamily="18" charset="-120"/>
              </a:rPr>
              <a:t>Se </a:t>
            </a:r>
            <a:r>
              <a:rPr lang="en-US" sz="2600" b="1" i="0" dirty="0" err="1">
                <a:solidFill>
                  <a:srgbClr val="051C2C"/>
                </a:solidFill>
                <a:latin typeface="Georgia" pitchFamily="18" charset="0"/>
                <a:ea typeface="Georgia" pitchFamily="18" charset="-122"/>
                <a:cs typeface="Georgia" pitchFamily="18" charset="-120"/>
              </a:rPr>
              <a:t>mantiene</a:t>
            </a:r>
            <a:r>
              <a:rPr lang="en-US" sz="2600" b="1" i="0" dirty="0">
                <a:solidFill>
                  <a:srgbClr val="051C2C"/>
                </a:solidFill>
                <a:latin typeface="Georgia" pitchFamily="18" charset="0"/>
                <a:ea typeface="Georgia" pitchFamily="18" charset="-122"/>
                <a:cs typeface="Georgia" pitchFamily="18" charset="-120"/>
              </a:rPr>
              <a:t> lo </a:t>
            </a:r>
            <a:r>
              <a:rPr lang="en-US" sz="2600" b="1" i="0" dirty="0" err="1">
                <a:solidFill>
                  <a:srgbClr val="051C2C"/>
                </a:solidFill>
                <a:latin typeface="Georgia" pitchFamily="18" charset="0"/>
                <a:ea typeface="Georgia" pitchFamily="18" charset="-122"/>
                <a:cs typeface="Georgia" pitchFamily="18" charset="-120"/>
              </a:rPr>
              <a:t>predictivo</a:t>
            </a:r>
            <a:r>
              <a:rPr lang="en-US" sz="2600" b="1" i="0" dirty="0">
                <a:solidFill>
                  <a:srgbClr val="051C2C"/>
                </a:solidFill>
                <a:latin typeface="Georgia" pitchFamily="18" charset="0"/>
                <a:ea typeface="Georgia" pitchFamily="18" charset="-122"/>
                <a:cs typeface="Georgia" pitchFamily="18" charset="-120"/>
              </a:rPr>
              <a:t> y el </a:t>
            </a:r>
            <a:r>
              <a:rPr lang="en-US" sz="2600" b="1" i="0" dirty="0" err="1">
                <a:solidFill>
                  <a:srgbClr val="051C2C"/>
                </a:solidFill>
                <a:latin typeface="Georgia" pitchFamily="18" charset="0"/>
                <a:ea typeface="Georgia" pitchFamily="18" charset="-122"/>
                <a:cs typeface="Georgia" pitchFamily="18" charset="-120"/>
              </a:rPr>
              <a:t>efecto</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promedio</a:t>
            </a:r>
            <a:r>
              <a:rPr lang="en-US" sz="2600" b="1" i="0" dirty="0">
                <a:solidFill>
                  <a:srgbClr val="051C2C"/>
                </a:solidFill>
                <a:latin typeface="Georgia" pitchFamily="18" charset="0"/>
                <a:ea typeface="Georgia" pitchFamily="18" charset="-122"/>
                <a:cs typeface="Georgia" pitchFamily="18" charset="-120"/>
              </a:rPr>
              <a:t>; cambia el error y </a:t>
            </a:r>
            <a:r>
              <a:rPr lang="en-US" sz="2600" b="1" i="0" dirty="0" err="1">
                <a:solidFill>
                  <a:srgbClr val="051C2C"/>
                </a:solidFill>
                <a:latin typeface="Georgia" pitchFamily="18" charset="0"/>
                <a:ea typeface="Georgia" pitchFamily="18" charset="-122"/>
                <a:cs typeface="Georgia" pitchFamily="18" charset="-120"/>
              </a:rPr>
              <a:t>los</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efectos</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por</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grupo</a:t>
            </a:r>
            <a:endParaRPr lang="en-US" sz="2600" dirty="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Contraste con el encargo 1 · Cada diferencia se atribuye a la escala, al método o a ambos</a:t>
            </a:r>
            <a:endParaRPr lang="en-US" sz="1400"/>
          </a:p>
        </p:txBody>
      </p:sp>
      <p:graphicFrame>
        <p:nvGraphicFramePr>
          <p:cNvPr id="5" name="Table 0"/>
          <p:cNvGraphicFramePr>
            <a:graphicFrameLocks noGrp="1"/>
          </p:cNvGraphicFramePr>
          <p:nvPr/>
        </p:nvGraphicFramePr>
        <p:xfrm>
          <a:off x="674914" y="1670957"/>
          <a:ext cx="10858500" cy="4739334"/>
        </p:xfrm>
        <a:graphic>
          <a:graphicData uri="http://schemas.openxmlformats.org/drawingml/2006/table">
            <a:tbl>
              <a:tblPr>
                <a:tableStyleId>{3C2FFA5D-87B4-456A-9821-1D502468CF0F}</a:tableStyleId>
              </a:tblPr>
              <a:tblGrid>
                <a:gridCol w="2700000">
                  <a:extLst>
                    <a:ext uri="{9D8B030D-6E8A-4147-A177-3AD203B41FA5}">
                      <a16:colId xmlns:a16="http://schemas.microsoft.com/office/drawing/2014/main" val="20000"/>
                    </a:ext>
                  </a:extLst>
                </a:gridCol>
                <a:gridCol w="38585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gridCol w="2900000">
                  <a:extLst>
                    <a:ext uri="{9D8B030D-6E8A-4147-A177-3AD203B41FA5}">
                      <a16:colId xmlns:a16="http://schemas.microsoft.com/office/drawing/2014/main" val="20003"/>
                    </a:ext>
                  </a:extLst>
                </a:gridCol>
              </a:tblGrid>
              <a:tr h="467164">
                <a:tc>
                  <a:txBody>
                    <a:bodyPr/>
                    <a:lstStyle/>
                    <a:p>
                      <a:pPr marL="0" indent="0">
                        <a:lnSpc>
                          <a:spcPts val="1610"/>
                        </a:lnSpc>
                        <a:buNone/>
                      </a:pPr>
                      <a:r>
                        <a:rPr lang="en-US" sz="1700" b="1" dirty="0">
                          <a:solidFill>
                            <a:srgbClr val="FFFFFF"/>
                          </a:solidFill>
                        </a:rPr>
                        <a:t>Encargo 1</a:t>
                      </a:r>
                    </a:p>
                  </a:txBody>
                  <a:tcPr marL="114300" marR="76200" marT="57150" marB="57150" anchor="ctr">
                    <a:lnL w="0">
                      <a:noFill/>
                    </a:lnL>
                    <a:lnR w="0">
                      <a:noFill/>
                    </a:lnR>
                    <a:lnT w="0">
                      <a:noFill/>
                    </a:lnT>
                    <a:lnB w="12700">
                      <a:solidFill>
                        <a:srgbClr val="022B52"/>
                      </a:solidFill>
                    </a:lnB>
                    <a:solidFill>
                      <a:srgbClr val="022B52"/>
                    </a:solidFill>
                  </a:tcPr>
                </a:tc>
                <a:tc>
                  <a:txBody>
                    <a:bodyPr/>
                    <a:lstStyle/>
                    <a:p>
                      <a:pPr marL="0" indent="0">
                        <a:lnSpc>
                          <a:spcPts val="1610"/>
                        </a:lnSpc>
                        <a:buNone/>
                      </a:pPr>
                      <a:r>
                        <a:rPr lang="en-US" sz="1700" b="1">
                          <a:solidFill>
                            <a:srgbClr val="FFFFFF"/>
                          </a:solidFill>
                        </a:rPr>
                        <a:t>Encargo 2</a:t>
                      </a:r>
                    </a:p>
                  </a:txBody>
                  <a:tcPr marL="114300" marR="76200" marT="57150" marB="57150" anchor="ctr">
                    <a:lnL w="0">
                      <a:noFill/>
                    </a:lnL>
                    <a:lnR w="0">
                      <a:noFill/>
                    </a:lnR>
                    <a:lnT w="0">
                      <a:noFill/>
                    </a:lnT>
                    <a:lnB w="12700">
                      <a:solidFill>
                        <a:srgbClr val="022B52"/>
                      </a:solidFill>
                    </a:lnB>
                    <a:solidFill>
                      <a:srgbClr val="022B52"/>
                    </a:solidFill>
                  </a:tcPr>
                </a:tc>
                <a:tc>
                  <a:txBody>
                    <a:bodyPr/>
                    <a:lstStyle/>
                    <a:p>
                      <a:pPr marL="0" indent="0">
                        <a:lnSpc>
                          <a:spcPts val="1610"/>
                        </a:lnSpc>
                        <a:buNone/>
                      </a:pPr>
                      <a:r>
                        <a:rPr lang="en-US" sz="1700" b="1">
                          <a:solidFill>
                            <a:srgbClr val="FFFFFF"/>
                          </a:solidFill>
                        </a:rPr>
                        <a:t>Veredicto</a:t>
                      </a:r>
                    </a:p>
                  </a:txBody>
                  <a:tcPr marL="114300" marR="76200" marT="57150" marB="57150" anchor="ctr">
                    <a:lnL w="0">
                      <a:noFill/>
                    </a:lnL>
                    <a:lnR w="0">
                      <a:noFill/>
                    </a:lnR>
                    <a:lnT w="0">
                      <a:noFill/>
                    </a:lnT>
                    <a:lnB w="12700">
                      <a:solidFill>
                        <a:srgbClr val="022B52"/>
                      </a:solidFill>
                    </a:lnB>
                    <a:solidFill>
                      <a:srgbClr val="022B52"/>
                    </a:solidFill>
                  </a:tcPr>
                </a:tc>
                <a:tc>
                  <a:txBody>
                    <a:bodyPr/>
                    <a:lstStyle/>
                    <a:p>
                      <a:pPr marL="0" indent="0">
                        <a:lnSpc>
                          <a:spcPts val="1610"/>
                        </a:lnSpc>
                        <a:buNone/>
                      </a:pPr>
                      <a:r>
                        <a:rPr lang="en-US" sz="1700" b="1">
                          <a:solidFill>
                            <a:srgbClr val="FFFFFF"/>
                          </a:solidFill>
                        </a:rPr>
                        <a:t>Por qué</a:t>
                      </a:r>
                    </a:p>
                  </a:txBody>
                  <a:tcPr marL="114300" marR="76200" marT="57150" marB="57150" anchor="ctr">
                    <a:lnL w="0">
                      <a:noFill/>
                    </a:lnL>
                    <a:lnR w="0">
                      <a:noFill/>
                    </a:lnR>
                    <a:lnT w="0">
                      <a:noFill/>
                    </a:lnT>
                    <a:lnB w="12700">
                      <a:solidFill>
                        <a:srgbClr val="022B52"/>
                      </a:solidFill>
                    </a:lnB>
                    <a:solidFill>
                      <a:srgbClr val="022B52"/>
                    </a:solidFill>
                  </a:tcPr>
                </a:tc>
                <a:extLst>
                  <a:ext uri="{0D108BD9-81ED-4DB2-BD59-A6C34878D82A}">
                    <a16:rowId xmlns:a16="http://schemas.microsoft.com/office/drawing/2014/main" val="10000"/>
                  </a:ext>
                </a:extLst>
              </a:tr>
              <a:tr h="467164">
                <a:tc>
                  <a:txBody>
                    <a:bodyPr/>
                    <a:lstStyle/>
                    <a:p>
                      <a:pPr marL="0" indent="0">
                        <a:lnSpc>
                          <a:spcPts val="1610"/>
                        </a:lnSpc>
                        <a:buNone/>
                      </a:pPr>
                      <a:r>
                        <a:rPr lang="en-US" sz="1500" dirty="0">
                          <a:solidFill>
                            <a:srgbClr val="1B1B1B"/>
                          </a:solidFill>
                        </a:rPr>
                        <a:t>El gasto salta pasados 5 minutos</a:t>
                      </a:r>
                    </a:p>
                  </a:txBody>
                  <a:tcPr marL="114300" marR="76200" marT="57150" marB="57150" anchor="ctr">
                    <a:lnL w="0">
                      <a:noFill/>
                    </a:lnL>
                    <a:lnR w="0">
                      <a:noFill/>
                    </a:lnR>
                    <a:lnT w="12700" cap="flat" cmpd="sng" algn="ctr">
                      <a:solidFill>
                        <a:srgbClr val="022B52"/>
                      </a:solidFill>
                      <a:prstDash val="solid"/>
                      <a:round/>
                      <a:headEnd type="none" w="med" len="med"/>
                      <a:tailEnd type="none" w="med" len="med"/>
                    </a:lnT>
                    <a:lnB w="12700">
                      <a:solidFill>
                        <a:srgbClr val="E0E0E0"/>
                      </a:solidFill>
                    </a:lnB>
                    <a:solidFill>
                      <a:srgbClr val="FFFFFF"/>
                    </a:solidFill>
                  </a:tcPr>
                </a:tc>
                <a:tc>
                  <a:txBody>
                    <a:bodyPr/>
                    <a:lstStyle/>
                    <a:p>
                      <a:pPr marL="0" indent="0">
                        <a:lnSpc>
                          <a:spcPts val="1610"/>
                        </a:lnSpc>
                        <a:buNone/>
                      </a:pPr>
                      <a:r>
                        <a:rPr lang="en-US" sz="1500" dirty="0">
                          <a:solidFill>
                            <a:srgbClr val="1B1B1B"/>
                          </a:solidFill>
                        </a:rPr>
                        <a:t>El árbol encuentra el mismo corte solo, en 5.0007 minutos</a:t>
                      </a:r>
                    </a:p>
                  </a:txBody>
                  <a:tcPr marL="114300" marR="76200" marT="57150" marB="57150" anchor="ctr">
                    <a:lnL w="0">
                      <a:noFill/>
                    </a:lnL>
                    <a:lnR w="0">
                      <a:noFill/>
                    </a:lnR>
                    <a:lnT w="12700" cap="flat" cmpd="sng" algn="ctr">
                      <a:solidFill>
                        <a:srgbClr val="022B52"/>
                      </a:solidFill>
                      <a:prstDash val="solid"/>
                      <a:round/>
                      <a:headEnd type="none" w="med" len="med"/>
                      <a:tailEnd type="none" w="med" len="med"/>
                    </a:lnT>
                    <a:lnB w="12700">
                      <a:solidFill>
                        <a:srgbClr val="E0E0E0"/>
                      </a:solidFill>
                    </a:lnB>
                    <a:solidFill>
                      <a:srgbClr val="FFFFFF"/>
                    </a:solidFill>
                  </a:tcPr>
                </a:tc>
                <a:tc>
                  <a:txBody>
                    <a:bodyPr/>
                    <a:lstStyle/>
                    <a:p>
                      <a:pPr marL="0" indent="0">
                        <a:lnSpc>
                          <a:spcPts val="1610"/>
                        </a:lnSpc>
                        <a:buNone/>
                      </a:pPr>
                      <a:r>
                        <a:rPr lang="en-US" sz="1500" b="1">
                          <a:solidFill>
                            <a:srgbClr val="2B5FA3"/>
                          </a:solidFill>
                        </a:rPr>
                        <a:t>Se mantiene</a:t>
                      </a:r>
                    </a:p>
                  </a:txBody>
                  <a:tcPr marL="114300" marR="76200" marT="57150" marB="57150" anchor="ctr">
                    <a:lnL w="0">
                      <a:noFill/>
                    </a:lnL>
                    <a:lnR w="0">
                      <a:noFill/>
                    </a:lnR>
                    <a:lnT w="12700" cap="flat" cmpd="sng" algn="ctr">
                      <a:solidFill>
                        <a:srgbClr val="022B52"/>
                      </a:solidFill>
                      <a:prstDash val="solid"/>
                      <a:round/>
                      <a:headEnd type="none" w="med" len="med"/>
                      <a:tailEnd type="none" w="med" len="med"/>
                    </a:lnT>
                    <a:lnB w="12700">
                      <a:solidFill>
                        <a:srgbClr val="E0E0E0"/>
                      </a:solidFill>
                    </a:lnB>
                    <a:solidFill>
                      <a:srgbClr val="FFFFFF"/>
                    </a:solidFill>
                  </a:tcPr>
                </a:tc>
                <a:tc>
                  <a:txBody>
                    <a:bodyPr/>
                    <a:lstStyle/>
                    <a:p>
                      <a:pPr marL="0" indent="0">
                        <a:lnSpc>
                          <a:spcPts val="1610"/>
                        </a:lnSpc>
                        <a:buNone/>
                      </a:pPr>
                      <a:r>
                        <a:rPr lang="en-US" sz="1500">
                          <a:solidFill>
                            <a:srgbClr val="1B1B1B"/>
                          </a:solidFill>
                        </a:rPr>
                        <a:t>El método lo confirma</a:t>
                      </a:r>
                    </a:p>
                  </a:txBody>
                  <a:tcPr marL="114300" marR="76200" marT="57150" marB="57150" anchor="ctr">
                    <a:lnL w="0">
                      <a:noFill/>
                    </a:lnL>
                    <a:lnR w="0">
                      <a:noFill/>
                    </a:lnR>
                    <a:lnT w="12700" cap="flat" cmpd="sng" algn="ctr">
                      <a:solidFill>
                        <a:srgbClr val="022B52"/>
                      </a:solidFill>
                      <a:prstDash val="solid"/>
                      <a:round/>
                      <a:headEnd type="none" w="med" len="med"/>
                      <a:tailEnd type="none" w="med" len="med"/>
                    </a:lnT>
                    <a:lnB w="12700">
                      <a:solidFill>
                        <a:srgbClr val="E0E0E0"/>
                      </a:solidFill>
                    </a:lnB>
                    <a:solidFill>
                      <a:srgbClr val="FFFFFF"/>
                    </a:solidFill>
                  </a:tcPr>
                </a:tc>
                <a:extLst>
                  <a:ext uri="{0D108BD9-81ED-4DB2-BD59-A6C34878D82A}">
                    <a16:rowId xmlns:a16="http://schemas.microsoft.com/office/drawing/2014/main" val="10001"/>
                  </a:ext>
                </a:extLst>
              </a:tr>
              <a:tr h="750294">
                <a:tc>
                  <a:txBody>
                    <a:bodyPr/>
                    <a:lstStyle/>
                    <a:p>
                      <a:pPr marL="0" indent="0">
                        <a:lnSpc>
                          <a:spcPts val="1610"/>
                        </a:lnSpc>
                        <a:buNone/>
                      </a:pPr>
                      <a:r>
                        <a:rPr lang="en-US" sz="1500">
                          <a:solidFill>
                            <a:srgbClr val="1B1B1B"/>
                          </a:solidFill>
                        </a:rPr>
                        <a:t>El tiempo exacto y las sesiones suman de forma lineal</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2F4F6"/>
                    </a:solidFill>
                  </a:tcPr>
                </a:tc>
                <a:tc>
                  <a:txBody>
                    <a:bodyPr/>
                    <a:lstStyle/>
                    <a:p>
                      <a:pPr marL="0" indent="0">
                        <a:lnSpc>
                          <a:spcPts val="1610"/>
                        </a:lnSpc>
                        <a:buNone/>
                      </a:pPr>
                      <a:r>
                        <a:rPr lang="en-US" sz="1500" dirty="0">
                          <a:solidFill>
                            <a:srgbClr val="1B1B1B"/>
                          </a:solidFill>
                        </a:rPr>
                        <a:t>El tiempo exacto deja de aportar y las sesiones solo cuentan pasados los 5 minutos</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2F4F6"/>
                    </a:solidFill>
                  </a:tcPr>
                </a:tc>
                <a:tc>
                  <a:txBody>
                    <a:bodyPr/>
                    <a:lstStyle/>
                    <a:p>
                      <a:pPr marL="0" indent="0">
                        <a:lnSpc>
                          <a:spcPts val="1610"/>
                        </a:lnSpc>
                        <a:buNone/>
                      </a:pPr>
                      <a:r>
                        <a:rPr lang="en-US" sz="1500" b="1">
                          <a:solidFill>
                            <a:srgbClr val="B8863B"/>
                          </a:solidFill>
                        </a:rPr>
                        <a:t>Cambia</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2F4F6"/>
                    </a:solidFill>
                  </a:tcPr>
                </a:tc>
                <a:tc>
                  <a:txBody>
                    <a:bodyPr/>
                    <a:lstStyle/>
                    <a:p>
                      <a:pPr marL="0" indent="0">
                        <a:lnSpc>
                          <a:spcPts val="1610"/>
                        </a:lnSpc>
                        <a:buNone/>
                      </a:pPr>
                      <a:r>
                        <a:rPr lang="en-US" sz="1500">
                          <a:solidFill>
                            <a:srgbClr val="1B1B1B"/>
                          </a:solidFill>
                        </a:rPr>
                        <a:t>Especificación y método</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2F4F6"/>
                    </a:solidFill>
                  </a:tcPr>
                </a:tc>
                <a:extLst>
                  <a:ext uri="{0D108BD9-81ED-4DB2-BD59-A6C34878D82A}">
                    <a16:rowId xmlns:a16="http://schemas.microsoft.com/office/drawing/2014/main" val="10002"/>
                  </a:ext>
                </a:extLst>
              </a:tr>
              <a:tr h="750294">
                <a:tc>
                  <a:txBody>
                    <a:bodyPr/>
                    <a:lstStyle/>
                    <a:p>
                      <a:pPr marL="0" indent="0">
                        <a:lnSpc>
                          <a:spcPts val="1610"/>
                        </a:lnSpc>
                        <a:buNone/>
                      </a:pPr>
                      <a:r>
                        <a:rPr lang="en-US" sz="1500">
                          <a:solidFill>
                            <a:srgbClr val="1B1B1B"/>
                          </a:solidFill>
                        </a:rPr>
                        <a:t>Error de predicción de 2.31 dólares</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marL="0" indent="0">
                        <a:lnSpc>
                          <a:spcPts val="1610"/>
                        </a:lnSpc>
                        <a:buNone/>
                      </a:pPr>
                      <a:r>
                        <a:rPr lang="en-US" sz="1500" dirty="0">
                          <a:solidFill>
                            <a:srgbClr val="1B1B1B"/>
                          </a:solidFill>
                        </a:rPr>
                        <a:t>1.63 dólares con árboles</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marL="0" indent="0">
                        <a:lnSpc>
                          <a:spcPts val="1610"/>
                        </a:lnSpc>
                        <a:buNone/>
                      </a:pPr>
                      <a:r>
                        <a:rPr lang="en-US" sz="1500" b="1">
                          <a:solidFill>
                            <a:srgbClr val="B8863B"/>
                          </a:solidFill>
                        </a:rPr>
                        <a:t>Cambia</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marL="0" indent="0">
                        <a:lnSpc>
                          <a:spcPts val="1610"/>
                        </a:lnSpc>
                        <a:buNone/>
                      </a:pPr>
                      <a:r>
                        <a:rPr lang="en-US" sz="1500">
                          <a:solidFill>
                            <a:srgbClr val="1B1B1B"/>
                          </a:solidFill>
                        </a:rPr>
                        <a:t>Especificación (80%: corte y cruce 68%, LASSO 12%) y método (20%)</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extLst>
                  <a:ext uri="{0D108BD9-81ED-4DB2-BD59-A6C34878D82A}">
                    <a16:rowId xmlns:a16="http://schemas.microsoft.com/office/drawing/2014/main" val="10003"/>
                  </a:ext>
                </a:extLst>
              </a:tr>
              <a:tr h="750294">
                <a:tc>
                  <a:txBody>
                    <a:bodyPr/>
                    <a:lstStyle/>
                    <a:p>
                      <a:pPr marL="0" indent="0">
                        <a:lnSpc>
                          <a:spcPts val="1610"/>
                        </a:lnSpc>
                        <a:buNone/>
                      </a:pPr>
                      <a:r>
                        <a:rPr lang="en-US" sz="1500">
                          <a:solidFill>
                            <a:srgbClr val="1B1B1B"/>
                          </a:solidFill>
                        </a:rPr>
                        <a:t>Efecto promedio de +0.49 dólares y +1.3% en log</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2F4F6"/>
                    </a:solidFill>
                  </a:tcPr>
                </a:tc>
                <a:tc>
                  <a:txBody>
                    <a:bodyPr/>
                    <a:lstStyle/>
                    <a:p>
                      <a:pPr marL="0" indent="0">
                        <a:lnSpc>
                          <a:spcPts val="1610"/>
                        </a:lnSpc>
                        <a:buNone/>
                      </a:pPr>
                      <a:r>
                        <a:rPr lang="en-US" sz="1500" dirty="0">
                          <a:solidFill>
                            <a:srgbClr val="1B1B1B"/>
                          </a:solidFill>
                        </a:rPr>
                        <a:t>Se confirma con el bosque causal: 0.41 dólares y +0.4%</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2F4F6"/>
                    </a:solidFill>
                  </a:tcPr>
                </a:tc>
                <a:tc>
                  <a:txBody>
                    <a:bodyPr/>
                    <a:lstStyle/>
                    <a:p>
                      <a:pPr marL="0" indent="0">
                        <a:lnSpc>
                          <a:spcPts val="1610"/>
                        </a:lnSpc>
                        <a:buNone/>
                      </a:pPr>
                      <a:r>
                        <a:rPr lang="en-US" sz="1500" b="1">
                          <a:solidFill>
                            <a:srgbClr val="2B5FA3"/>
                          </a:solidFill>
                        </a:rPr>
                        <a:t>Se mantiene</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2F4F6"/>
                    </a:solidFill>
                  </a:tcPr>
                </a:tc>
                <a:tc>
                  <a:txBody>
                    <a:bodyPr/>
                    <a:lstStyle/>
                    <a:p>
                      <a:pPr marL="0" indent="0">
                        <a:lnSpc>
                          <a:spcPts val="1610"/>
                        </a:lnSpc>
                        <a:buNone/>
                      </a:pPr>
                      <a:r>
                        <a:rPr lang="en-US" sz="1500">
                          <a:solidFill>
                            <a:srgbClr val="1B1B1B"/>
                          </a:solidFill>
                        </a:rPr>
                        <a:t>Sin diferencia</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2F4F6"/>
                    </a:solidFill>
                  </a:tcPr>
                </a:tc>
                <a:extLst>
                  <a:ext uri="{0D108BD9-81ED-4DB2-BD59-A6C34878D82A}">
                    <a16:rowId xmlns:a16="http://schemas.microsoft.com/office/drawing/2014/main" val="10004"/>
                  </a:ext>
                </a:extLst>
              </a:tr>
              <a:tr h="750294">
                <a:tc>
                  <a:txBody>
                    <a:bodyPr/>
                    <a:lstStyle/>
                    <a:p>
                      <a:pPr marL="0" indent="0">
                        <a:lnSpc>
                          <a:spcPts val="1610"/>
                        </a:lnSpc>
                        <a:buNone/>
                      </a:pPr>
                      <a:r>
                        <a:rPr lang="en-US" sz="1500">
                          <a:solidFill>
                            <a:srgbClr val="1B1B1B"/>
                          </a:solidFill>
                        </a:rPr>
                        <a:t>Dólares y log sin conciliar</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marL="0" indent="0">
                        <a:lnSpc>
                          <a:spcPts val="1610"/>
                        </a:lnSpc>
                        <a:buNone/>
                      </a:pPr>
                      <a:r>
                        <a:rPr lang="en-US" sz="1500" dirty="0">
                          <a:solidFill>
                            <a:srgbClr val="1B1B1B"/>
                          </a:solidFill>
                        </a:rPr>
                        <a:t>Se concilia: signos opuestos entre grupos, gasto base y efecto dentro de los grupos</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marL="0" indent="0">
                        <a:lnSpc>
                          <a:spcPts val="1610"/>
                        </a:lnSpc>
                        <a:buNone/>
                      </a:pPr>
                      <a:r>
                        <a:rPr lang="en-US" sz="1500" b="1" dirty="0">
                          <a:solidFill>
                            <a:srgbClr val="B8863B"/>
                          </a:solidFill>
                        </a:rPr>
                        <a:t>Cambia</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marL="0" indent="0">
                        <a:lnSpc>
                          <a:spcPts val="1610"/>
                        </a:lnSpc>
                        <a:buNone/>
                      </a:pPr>
                      <a:r>
                        <a:rPr lang="en-US" sz="1500">
                          <a:solidFill>
                            <a:srgbClr val="1B1B1B"/>
                          </a:solidFill>
                        </a:rPr>
                        <a:t>Ambos (escala y método)</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extLst>
                  <a:ext uri="{0D108BD9-81ED-4DB2-BD59-A6C34878D82A}">
                    <a16:rowId xmlns:a16="http://schemas.microsoft.com/office/drawing/2014/main" val="10005"/>
                  </a:ext>
                </a:extLst>
              </a:tr>
              <a:tr h="750294">
                <a:tc>
                  <a:txBody>
                    <a:bodyPr/>
                    <a:lstStyle/>
                    <a:p>
                      <a:pPr marL="0" indent="0">
                        <a:lnSpc>
                          <a:spcPts val="1610"/>
                        </a:lnSpc>
                        <a:buNone/>
                      </a:pPr>
                      <a:r>
                        <a:rPr lang="en-US" sz="1500">
                          <a:solidFill>
                            <a:srgbClr val="1B1B1B"/>
                          </a:solidFill>
                        </a:rPr>
                        <a:t>Solo se estimó el efecto promedio; no escalar todavía</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2F4F6"/>
                    </a:solidFill>
                  </a:tcPr>
                </a:tc>
                <a:tc>
                  <a:txBody>
                    <a:bodyPr/>
                    <a:lstStyle/>
                    <a:p>
                      <a:pPr marL="0" indent="0">
                        <a:lnSpc>
                          <a:spcPts val="1610"/>
                        </a:lnSpc>
                        <a:buNone/>
                      </a:pPr>
                      <a:r>
                        <a:rPr lang="en-US" sz="1500">
                          <a:solidFill>
                            <a:srgbClr val="1B1B1B"/>
                          </a:solidFill>
                        </a:rPr>
                        <a:t>Efectos de −22% a +45% según dispositivo y sistema operativo; escalar con una excepción</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2F4F6"/>
                    </a:solidFill>
                  </a:tcPr>
                </a:tc>
                <a:tc>
                  <a:txBody>
                    <a:bodyPr/>
                    <a:lstStyle/>
                    <a:p>
                      <a:pPr marL="0" indent="0">
                        <a:lnSpc>
                          <a:spcPts val="1610"/>
                        </a:lnSpc>
                        <a:buNone/>
                      </a:pPr>
                      <a:r>
                        <a:rPr lang="en-US" sz="1500" b="1" dirty="0">
                          <a:solidFill>
                            <a:srgbClr val="B8863B"/>
                          </a:solidFill>
                        </a:rPr>
                        <a:t>Cambia</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2F4F6"/>
                    </a:solidFill>
                  </a:tcPr>
                </a:tc>
                <a:tc>
                  <a:txBody>
                    <a:bodyPr/>
                    <a:lstStyle/>
                    <a:p>
                      <a:pPr marL="0" indent="0">
                        <a:lnSpc>
                          <a:spcPts val="1610"/>
                        </a:lnSpc>
                        <a:buNone/>
                      </a:pPr>
                      <a:r>
                        <a:rPr lang="en-US" sz="1500" dirty="0">
                          <a:solidFill>
                            <a:srgbClr val="1B1B1B"/>
                          </a:solidFill>
                        </a:rPr>
                        <a:t>Método (efectos por grupo)</a:t>
                      </a:r>
                    </a:p>
                  </a:txBody>
                  <a:tcPr marL="114300" marR="76200" marT="57150" marB="5715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2F4F6"/>
                    </a:solidFill>
                  </a:tcPr>
                </a:tc>
                <a:extLst>
                  <a:ext uri="{0D108BD9-81ED-4DB2-BD59-A6C34878D82A}">
                    <a16:rowId xmlns:a16="http://schemas.microsoft.com/office/drawing/2014/main" val="10006"/>
                  </a:ext>
                </a:extLst>
              </a:tr>
            </a:tbl>
          </a:graphicData>
        </a:graphic>
      </p:graphicFrame>
      <p:sp>
        <p:nvSpPr>
          <p:cNvPr id="7" name="Text 3"/>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17</a:t>
            </a:r>
            <a:endParaRPr lang="en-US" sz="1200"/>
          </a:p>
        </p:txBody>
      </p:sp>
    </p:spTree>
    <p:extLst>
      <p:ext uri="{BB962C8B-B14F-4D97-AF65-F5344CB8AC3E}">
        <p14:creationId xmlns:p14="http://schemas.microsoft.com/office/powerpoint/2010/main" val="35225206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60400" y="378023"/>
            <a:ext cx="11197336" cy="764977"/>
          </a:xfrm>
          <a:prstGeom prst="rect">
            <a:avLst/>
          </a:prstGeom>
          <a:noFill/>
          <a:ln/>
        </p:spPr>
        <p:txBody>
          <a:bodyPr wrap="square" lIns="0" tIns="0" rIns="0" bIns="0" rtlCol="0" anchor="t">
            <a:normAutofit/>
          </a:bodyPr>
          <a:lstStyle/>
          <a:p>
            <a:pPr marL="0" indent="0" algn="l">
              <a:lnSpc>
                <a:spcPts val="2912"/>
              </a:lnSpc>
              <a:buNone/>
            </a:pPr>
            <a:r>
              <a:rPr lang="en-US" sz="2600" b="1" i="0" dirty="0" err="1">
                <a:solidFill>
                  <a:srgbClr val="051C2C"/>
                </a:solidFill>
                <a:latin typeface="Georgia" pitchFamily="18" charset="0"/>
                <a:ea typeface="Georgia" pitchFamily="18" charset="-122"/>
                <a:cs typeface="Georgia" pitchFamily="18" charset="-120"/>
              </a:rPr>
              <a:t>Escalar</a:t>
            </a:r>
            <a:r>
              <a:rPr lang="en-US" sz="2600" b="1" i="0" dirty="0">
                <a:solidFill>
                  <a:srgbClr val="051C2C"/>
                </a:solidFill>
                <a:latin typeface="Georgia" pitchFamily="18" charset="0"/>
                <a:ea typeface="Georgia" pitchFamily="18" charset="-122"/>
                <a:cs typeface="Georgia" pitchFamily="18" charset="-120"/>
              </a:rPr>
              <a:t> con la </a:t>
            </a:r>
            <a:r>
              <a:rPr lang="en-US" sz="2600" b="1" i="0" dirty="0" err="1">
                <a:solidFill>
                  <a:srgbClr val="051C2C"/>
                </a:solidFill>
                <a:latin typeface="Georgia" pitchFamily="18" charset="0"/>
                <a:ea typeface="Georgia" pitchFamily="18" charset="-122"/>
                <a:cs typeface="Georgia" pitchFamily="18" charset="-120"/>
              </a:rPr>
              <a:t>regla</a:t>
            </a:r>
            <a:r>
              <a:rPr lang="en-US" sz="2600" b="1" i="0" dirty="0">
                <a:solidFill>
                  <a:srgbClr val="051C2C"/>
                </a:solidFill>
                <a:latin typeface="Georgia" pitchFamily="18" charset="0"/>
                <a:ea typeface="Georgia" pitchFamily="18" charset="-122"/>
                <a:cs typeface="Georgia" pitchFamily="18" charset="-120"/>
              </a:rPr>
              <a:t> y </a:t>
            </a:r>
            <a:r>
              <a:rPr lang="en-US" sz="2600" b="1" i="0" dirty="0" err="1">
                <a:solidFill>
                  <a:srgbClr val="051C2C"/>
                </a:solidFill>
                <a:latin typeface="Georgia" pitchFamily="18" charset="0"/>
                <a:ea typeface="Georgia" pitchFamily="18" charset="-122"/>
                <a:cs typeface="Georgia" pitchFamily="18" charset="-120"/>
              </a:rPr>
              <a:t>profundizar</a:t>
            </a:r>
            <a:r>
              <a:rPr lang="en-US" sz="2600" b="1" i="0" dirty="0">
                <a:solidFill>
                  <a:srgbClr val="051C2C"/>
                </a:solidFill>
                <a:latin typeface="Georgia" pitchFamily="18" charset="0"/>
                <a:ea typeface="Georgia" pitchFamily="18" charset="-122"/>
                <a:cs typeface="Georgia" pitchFamily="18" charset="-120"/>
              </a:rPr>
              <a:t> el </a:t>
            </a:r>
            <a:r>
              <a:rPr lang="en-US" sz="2600" b="1" i="0" dirty="0" err="1">
                <a:solidFill>
                  <a:srgbClr val="051C2C"/>
                </a:solidFill>
                <a:latin typeface="Georgia" pitchFamily="18" charset="0"/>
                <a:ea typeface="Georgia" pitchFamily="18" charset="-122"/>
                <a:cs typeface="Georgia" pitchFamily="18" charset="-120"/>
              </a:rPr>
              <a:t>análisis</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donde</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falta</a:t>
            </a:r>
            <a:r>
              <a:rPr lang="en-US" sz="2600" b="1" i="0" dirty="0">
                <a:solidFill>
                  <a:srgbClr val="051C2C"/>
                </a:solidFill>
                <a:latin typeface="Georgia" pitchFamily="18" charset="0"/>
                <a:ea typeface="Georgia" pitchFamily="18" charset="-122"/>
                <a:cs typeface="Georgia" pitchFamily="18" charset="-120"/>
              </a:rPr>
              <a:t> </a:t>
            </a:r>
            <a:r>
              <a:rPr lang="en-US" sz="2600" b="1" i="0" dirty="0" err="1">
                <a:solidFill>
                  <a:srgbClr val="051C2C"/>
                </a:solidFill>
                <a:latin typeface="Georgia" pitchFamily="18" charset="0"/>
                <a:ea typeface="Georgia" pitchFamily="18" charset="-122"/>
                <a:cs typeface="Georgia" pitchFamily="18" charset="-120"/>
              </a:rPr>
              <a:t>evidencia</a:t>
            </a:r>
            <a:endParaRPr lang="en-US" sz="2600" dirty="0"/>
          </a:p>
        </p:txBody>
      </p:sp>
      <p:pic>
        <p:nvPicPr>
          <p:cNvPr id="3" name="Image 0" descr="line"/>
          <p:cNvPicPr>
            <a:picLocks noChangeAspect="1"/>
          </p:cNvPicPr>
          <p:nvPr/>
        </p:nvPicPr>
        <p:blipFill>
          <a:blip r:embed="rId3"/>
          <a:srcRect/>
          <a:stretch/>
        </p:blipFill>
        <p:spPr>
          <a:xfrm>
            <a:off x="660400" y="1219200"/>
            <a:ext cx="10871200" cy="19050"/>
          </a:xfrm>
          <a:prstGeom prst="rect">
            <a:avLst/>
          </a:prstGeom>
        </p:spPr>
      </p:pic>
      <p:sp>
        <p:nvSpPr>
          <p:cNvPr id="4" name="Text 1"/>
          <p:cNvSpPr/>
          <p:nvPr/>
        </p:nvSpPr>
        <p:spPr>
          <a:xfrm>
            <a:off x="660400" y="1339850"/>
            <a:ext cx="11197336" cy="274290"/>
          </a:xfrm>
          <a:prstGeom prst="rect">
            <a:avLst/>
          </a:prstGeom>
          <a:noFill/>
          <a:ln/>
        </p:spPr>
        <p:txBody>
          <a:bodyPr wrap="square" lIns="0" tIns="0" rIns="0" bIns="0" rtlCol="0" anchor="t">
            <a:normAutofit/>
          </a:bodyPr>
          <a:lstStyle/>
          <a:p>
            <a:pPr marL="0" indent="0" algn="l">
              <a:lnSpc>
                <a:spcPts val="1960"/>
              </a:lnSpc>
              <a:buNone/>
            </a:pPr>
            <a:r>
              <a:rPr lang="en-US" sz="1400">
                <a:solidFill>
                  <a:srgbClr val="3B4A57"/>
                </a:solidFill>
                <a:latin typeface="Arial" pitchFamily="34" charset="0"/>
                <a:ea typeface="Arial" pitchFamily="34" charset="-122"/>
                <a:cs typeface="Arial" pitchFamily="34" charset="-120"/>
              </a:rPr>
              <a:t>Decisión respaldada y evidencia que falta</a:t>
            </a:r>
            <a:endParaRPr lang="en-US" sz="1400"/>
          </a:p>
        </p:txBody>
      </p:sp>
      <p:sp>
        <p:nvSpPr>
          <p:cNvPr id="5" name="Shape 2"/>
          <p:cNvSpPr/>
          <p:nvPr/>
        </p:nvSpPr>
        <p:spPr>
          <a:xfrm>
            <a:off x="660400" y="1690340"/>
            <a:ext cx="4318000" cy="4558060"/>
          </a:xfrm>
          <a:prstGeom prst="roundRect">
            <a:avLst>
              <a:gd name="adj" fmla="val 4118"/>
            </a:avLst>
          </a:prstGeom>
          <a:solidFill>
            <a:srgbClr val="082033"/>
          </a:solidFill>
          <a:ln/>
        </p:spPr>
        <p:txBody>
          <a:bodyPr/>
          <a:lstStyle/>
          <a:p>
            <a:endParaRPr lang="en-US"/>
          </a:p>
        </p:txBody>
      </p:sp>
      <p:sp>
        <p:nvSpPr>
          <p:cNvPr id="6" name="Text 3"/>
          <p:cNvSpPr/>
          <p:nvPr/>
        </p:nvSpPr>
        <p:spPr>
          <a:xfrm>
            <a:off x="914400" y="1918940"/>
            <a:ext cx="3924300" cy="299690"/>
          </a:xfrm>
          <a:prstGeom prst="rect">
            <a:avLst/>
          </a:prstGeom>
          <a:noFill/>
          <a:ln/>
        </p:spPr>
        <p:txBody>
          <a:bodyPr wrap="square" lIns="0" tIns="0" rIns="0" bIns="0" rtlCol="0" anchor="t">
            <a:normAutofit/>
          </a:bodyPr>
          <a:lstStyle/>
          <a:p>
            <a:pPr marL="0" indent="0" algn="l">
              <a:lnSpc>
                <a:spcPts val="2160"/>
              </a:lnSpc>
              <a:buNone/>
            </a:pPr>
            <a:r>
              <a:rPr lang="en-US" sz="1800" b="1">
                <a:solidFill>
                  <a:srgbClr val="1FB7F5"/>
                </a:solidFill>
                <a:latin typeface="Arial" pitchFamily="34" charset="0"/>
                <a:ea typeface="Arial" pitchFamily="34" charset="-122"/>
                <a:cs typeface="Arial" pitchFamily="34" charset="-120"/>
              </a:rPr>
              <a:t>Decisión respaldada</a:t>
            </a:r>
            <a:endParaRPr lang="en-US" sz="1800"/>
          </a:p>
        </p:txBody>
      </p:sp>
      <p:sp>
        <p:nvSpPr>
          <p:cNvPr id="7" name="Text 4"/>
          <p:cNvSpPr/>
          <p:nvPr/>
        </p:nvSpPr>
        <p:spPr>
          <a:xfrm>
            <a:off x="914400" y="2332930"/>
            <a:ext cx="3924300" cy="1019770"/>
          </a:xfrm>
          <a:prstGeom prst="rect">
            <a:avLst/>
          </a:prstGeom>
          <a:noFill/>
          <a:ln/>
        </p:spPr>
        <p:txBody>
          <a:bodyPr wrap="square" lIns="0" tIns="0" rIns="0" bIns="0" rtlCol="0" anchor="t">
            <a:normAutofit/>
          </a:bodyPr>
          <a:lstStyle/>
          <a:p>
            <a:pPr marL="0" indent="0" algn="l">
              <a:lnSpc>
                <a:spcPts val="1958"/>
              </a:lnSpc>
              <a:buNone/>
            </a:pPr>
            <a:r>
              <a:rPr lang="en-US" sz="1450">
                <a:solidFill>
                  <a:srgbClr val="FFFFFF"/>
                </a:solidFill>
                <a:latin typeface="Arial" pitchFamily="34" charset="0"/>
                <a:ea typeface="Arial" pitchFamily="34" charset="-122"/>
                <a:cs typeface="Arial" pitchFamily="34" charset="-120"/>
              </a:rPr>
              <a:t>Dar el registro facilitado a computadores, tabletas y celulares con osx (65%). Mantener el formulario actual en celulares con Windows u otro sistema (35%).</a:t>
            </a:r>
            <a:endParaRPr lang="en-US" sz="1450"/>
          </a:p>
        </p:txBody>
      </p:sp>
      <p:sp>
        <p:nvSpPr>
          <p:cNvPr id="8" name="Text 5"/>
          <p:cNvSpPr/>
          <p:nvPr/>
        </p:nvSpPr>
        <p:spPr>
          <a:xfrm>
            <a:off x="914400" y="3467001"/>
            <a:ext cx="3924300" cy="522585"/>
          </a:xfrm>
          <a:prstGeom prst="rect">
            <a:avLst/>
          </a:prstGeom>
          <a:noFill/>
          <a:ln/>
        </p:spPr>
        <p:txBody>
          <a:bodyPr wrap="square" lIns="0" tIns="0" rIns="0" bIns="0" rtlCol="0" anchor="t">
            <a:normAutofit/>
          </a:bodyPr>
          <a:lstStyle/>
          <a:p>
            <a:pPr marL="0" indent="0" algn="l">
              <a:lnSpc>
                <a:spcPts val="1958"/>
              </a:lnSpc>
              <a:buNone/>
            </a:pPr>
            <a:r>
              <a:rPr lang="en-US" sz="1450" b="1">
                <a:solidFill>
                  <a:srgbClr val="C9DCE8"/>
                </a:solidFill>
                <a:latin typeface="Arial" pitchFamily="34" charset="0"/>
                <a:ea typeface="Arial" pitchFamily="34" charset="-122"/>
                <a:cs typeface="Arial" pitchFamily="34" charset="-120"/>
              </a:rPr>
              <a:t>El histórico</a:t>
            </a:r>
            <a:r>
              <a:rPr lang="en-US" sz="1450">
                <a:solidFill>
                  <a:srgbClr val="C9DCE8"/>
                </a:solidFill>
                <a:latin typeface="Arial" pitchFamily="34" charset="0"/>
                <a:ea typeface="Arial" pitchFamily="34" charset="-122"/>
                <a:cs typeface="Arial" pitchFamily="34" charset="-120"/>
              </a:rPr>
              <a:t> describe y predice quién gasta, pero no sostiene la decisión.</a:t>
            </a:r>
            <a:endParaRPr lang="en-US" sz="1450"/>
          </a:p>
        </p:txBody>
      </p:sp>
      <p:sp>
        <p:nvSpPr>
          <p:cNvPr id="9" name="Text 6"/>
          <p:cNvSpPr/>
          <p:nvPr/>
        </p:nvSpPr>
        <p:spPr>
          <a:xfrm>
            <a:off x="914400" y="4103886"/>
            <a:ext cx="3924300" cy="522585"/>
          </a:xfrm>
          <a:prstGeom prst="rect">
            <a:avLst/>
          </a:prstGeom>
          <a:noFill/>
          <a:ln/>
        </p:spPr>
        <p:txBody>
          <a:bodyPr wrap="square" lIns="0" tIns="0" rIns="0" bIns="0" rtlCol="0" anchor="t">
            <a:normAutofit/>
          </a:bodyPr>
          <a:lstStyle/>
          <a:p>
            <a:pPr marL="0" indent="0" algn="l">
              <a:lnSpc>
                <a:spcPts val="1958"/>
              </a:lnSpc>
              <a:buNone/>
            </a:pPr>
            <a:r>
              <a:rPr lang="en-US" sz="1450" b="1">
                <a:solidFill>
                  <a:srgbClr val="C9DCE8"/>
                </a:solidFill>
                <a:latin typeface="Arial" pitchFamily="34" charset="0"/>
                <a:ea typeface="Arial" pitchFamily="34" charset="-122"/>
                <a:cs typeface="Arial" pitchFamily="34" charset="-120"/>
              </a:rPr>
              <a:t>El experimento</a:t>
            </a:r>
            <a:r>
              <a:rPr lang="en-US" sz="1450">
                <a:solidFill>
                  <a:srgbClr val="C9DCE8"/>
                </a:solidFill>
                <a:latin typeface="Arial" pitchFamily="34" charset="0"/>
                <a:ea typeface="Arial" pitchFamily="34" charset="-122"/>
                <a:cs typeface="Arial" pitchFamily="34" charset="-120"/>
              </a:rPr>
              <a:t> aporta el efecto causal por grupo que sí la sostiene.</a:t>
            </a:r>
            <a:endParaRPr lang="en-US" sz="1450"/>
          </a:p>
        </p:txBody>
      </p:sp>
      <p:sp>
        <p:nvSpPr>
          <p:cNvPr id="30" name="Respaldo"/>
          <p:cNvSpPr/>
          <p:nvPr/>
        </p:nvSpPr>
        <p:spPr>
          <a:xfrm>
            <a:off x="914400" y="4749800"/>
            <a:ext cx="3924300" cy="812800"/>
          </a:xfrm>
          <a:prstGeom prst="rect">
            <a:avLst/>
          </a:prstGeom>
          <a:noFill/>
          <a:ln/>
        </p:spPr>
        <p:txBody>
          <a:bodyPr wrap="square" lIns="0" tIns="0" rIns="0" bIns="0" rtlCol="0" anchor="t">
            <a:normAutofit/>
          </a:bodyPr>
          <a:lstStyle/>
          <a:p>
            <a:pPr marL="0" indent="0" algn="l">
              <a:lnSpc>
                <a:spcPts val="1958"/>
              </a:lnSpc>
              <a:buNone/>
            </a:pPr>
            <a:r>
              <a:rPr lang="en-US" sz="1450" b="1">
                <a:solidFill>
                  <a:srgbClr val="C9DCE8"/>
                </a:solidFill>
                <a:latin typeface="Arial" pitchFamily="34" charset="0"/>
                <a:ea typeface="Arial" pitchFamily="34" charset="-122"/>
                <a:cs typeface="Arial" pitchFamily="34" charset="-120"/>
              </a:rPr>
              <a:t>Respaldo:</a:t>
            </a:r>
            <a:r>
              <a:rPr lang="en-US" sz="1450">
                <a:solidFill>
                  <a:srgbClr val="C9DCE8"/>
                </a:solidFill>
                <a:latin typeface="Arial" pitchFamily="34" charset="0"/>
                <a:ea typeface="Arial" pitchFamily="34" charset="-122"/>
                <a:cs typeface="Arial" pitchFamily="34" charset="-120"/>
              </a:rPr>
              <a:t> heterogeneidad con pruebas formales y regla validada en datos que no la eligieron.</a:t>
            </a:r>
            <a:endParaRPr lang="en-US" sz="1450"/>
          </a:p>
        </p:txBody>
      </p:sp>
      <p:sp>
        <p:nvSpPr>
          <p:cNvPr id="10" name="Text 7"/>
          <p:cNvSpPr/>
          <p:nvPr/>
        </p:nvSpPr>
        <p:spPr>
          <a:xfrm>
            <a:off x="5283200" y="2647107"/>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00B0F0"/>
          </a:solidFill>
          <a:ln/>
        </p:spPr>
        <p:txBody>
          <a:bodyPr wrap="square" lIns="0" tIns="0" rIns="0" bIns="0" rtlCol="0" anchor="ctr">
            <a:normAutofit/>
          </a:bodyPr>
          <a:lstStyle/>
          <a:p>
            <a:pPr marL="0" indent="0" algn="ctr">
              <a:lnSpc>
                <a:spcPts val="2100"/>
              </a:lnSpc>
              <a:buNone/>
            </a:pPr>
            <a:r>
              <a:rPr lang="en-US" sz="1500" b="1">
                <a:solidFill>
                  <a:srgbClr val="FFFFFF"/>
                </a:solidFill>
                <a:latin typeface="Arial" pitchFamily="34" charset="0"/>
                <a:ea typeface="Arial" pitchFamily="34" charset="-122"/>
                <a:cs typeface="Arial" pitchFamily="34" charset="-120"/>
              </a:rPr>
              <a:t>1</a:t>
            </a:r>
            <a:endParaRPr lang="en-US" sz="1500"/>
          </a:p>
        </p:txBody>
      </p:sp>
      <p:sp>
        <p:nvSpPr>
          <p:cNvPr id="11" name="Text 8"/>
          <p:cNvSpPr/>
          <p:nvPr/>
        </p:nvSpPr>
        <p:spPr>
          <a:xfrm>
            <a:off x="5765800" y="2647107"/>
            <a:ext cx="5938774" cy="1182539"/>
          </a:xfrm>
          <a:prstGeom prst="rect">
            <a:avLst/>
          </a:prstGeom>
          <a:noFill/>
          <a:ln/>
        </p:spPr>
        <p:txBody>
          <a:bodyPr wrap="square" lIns="0" tIns="0" rIns="0" bIns="0" rtlCol="0" anchor="t">
            <a:normAutofit/>
          </a:bodyPr>
          <a:lstStyle/>
          <a:p>
            <a:pPr marL="0" indent="0" algn="l">
              <a:lnSpc>
                <a:spcPts val="1823"/>
              </a:lnSpc>
              <a:buNone/>
            </a:pPr>
            <a:r>
              <a:rPr lang="en-US" sz="1350" b="1" dirty="0" err="1">
                <a:solidFill>
                  <a:srgbClr val="1B1B1B"/>
                </a:solidFill>
                <a:latin typeface="Arial" pitchFamily="34" charset="0"/>
                <a:ea typeface="Arial" pitchFamily="34" charset="-122"/>
                <a:cs typeface="Arial" pitchFamily="34" charset="-120"/>
              </a:rPr>
              <a:t>Mecanismo</a:t>
            </a:r>
            <a:r>
              <a:rPr lang="en-US" sz="1350" b="1" dirty="0">
                <a:solidFill>
                  <a:srgbClr val="1B1B1B"/>
                </a:solidFill>
                <a:latin typeface="Arial" pitchFamily="34" charset="0"/>
                <a:ea typeface="Arial" pitchFamily="34" charset="-122"/>
                <a:cs typeface="Arial" pitchFamily="34" charset="-120"/>
              </a:rPr>
              <a:t> </a:t>
            </a:r>
            <a:r>
              <a:rPr lang="en-US" sz="1350" b="1" dirty="0" err="1">
                <a:solidFill>
                  <a:srgbClr val="1B1B1B"/>
                </a:solidFill>
                <a:latin typeface="Arial" pitchFamily="34" charset="0"/>
                <a:ea typeface="Arial" pitchFamily="34" charset="-122"/>
                <a:cs typeface="Arial" pitchFamily="34" charset="-120"/>
              </a:rPr>
              <a:t>en</a:t>
            </a:r>
            <a:r>
              <a:rPr lang="en-US" sz="1350" b="1" dirty="0">
                <a:solidFill>
                  <a:srgbClr val="1B1B1B"/>
                </a:solidFill>
                <a:latin typeface="Arial" pitchFamily="34" charset="0"/>
                <a:ea typeface="Arial" pitchFamily="34" charset="-122"/>
                <a:cs typeface="Arial" pitchFamily="34" charset="-120"/>
              </a:rPr>
              <a:t> </a:t>
            </a:r>
            <a:r>
              <a:rPr lang="en-US" sz="1350" b="1" dirty="0" err="1">
                <a:solidFill>
                  <a:srgbClr val="1B1B1B"/>
                </a:solidFill>
                <a:latin typeface="Arial" pitchFamily="34" charset="0"/>
                <a:ea typeface="Arial" pitchFamily="34" charset="-122"/>
                <a:cs typeface="Arial" pitchFamily="34" charset="-120"/>
              </a:rPr>
              <a:t>celulares</a:t>
            </a:r>
            <a:r>
              <a:rPr lang="en-US" sz="1350" b="1" dirty="0">
                <a:solidFill>
                  <a:srgbClr val="1B1B1B"/>
                </a:solidFill>
                <a:latin typeface="Arial" pitchFamily="34" charset="0"/>
                <a:ea typeface="Arial" pitchFamily="34" charset="-122"/>
                <a:cs typeface="Arial" pitchFamily="34" charset="-120"/>
              </a:rPr>
              <a:t> no </a:t>
            </a:r>
            <a:r>
              <a:rPr lang="en-US" sz="1350" b="1" dirty="0" err="1">
                <a:solidFill>
                  <a:srgbClr val="1B1B1B"/>
                </a:solidFill>
                <a:latin typeface="Arial" pitchFamily="34" charset="0"/>
                <a:ea typeface="Arial" pitchFamily="34" charset="-122"/>
                <a:cs typeface="Arial" pitchFamily="34" charset="-120"/>
              </a:rPr>
              <a:t>osx</a:t>
            </a:r>
            <a:r>
              <a:rPr lang="en-US" sz="1350" b="1" dirty="0">
                <a:solidFill>
                  <a:srgbClr val="1B1B1B"/>
                </a:solidFill>
                <a:latin typeface="Arial" pitchFamily="34" charset="0"/>
                <a:ea typeface="Arial" pitchFamily="34" charset="-122"/>
                <a:cs typeface="Arial" pitchFamily="34" charset="-120"/>
              </a:rPr>
              <a:t>.</a:t>
            </a:r>
            <a:r>
              <a:rPr lang="en-US" sz="1350" dirty="0">
                <a:solidFill>
                  <a:srgbClr val="1B1B1B"/>
                </a:solidFill>
                <a:latin typeface="Arial" pitchFamily="34" charset="0"/>
                <a:ea typeface="Arial" pitchFamily="34" charset="-122"/>
                <a:cs typeface="Arial" pitchFamily="34" charset="-120"/>
              </a:rPr>
              <a:t> </a:t>
            </a:r>
            <a:r>
              <a:rPr lang="en-US" sz="1350" dirty="0" err="1">
                <a:solidFill>
                  <a:srgbClr val="1B1B1B"/>
                </a:solidFill>
                <a:latin typeface="Arial" pitchFamily="34" charset="0"/>
                <a:ea typeface="Arial" pitchFamily="34" charset="-122"/>
                <a:cs typeface="Arial" pitchFamily="34" charset="-120"/>
              </a:rPr>
              <a:t>Confirmar</a:t>
            </a:r>
            <a:r>
              <a:rPr lang="en-US" sz="1350" dirty="0">
                <a:solidFill>
                  <a:srgbClr val="1B1B1B"/>
                </a:solidFill>
                <a:latin typeface="Arial" pitchFamily="34" charset="0"/>
                <a:ea typeface="Arial" pitchFamily="34" charset="-122"/>
                <a:cs typeface="Arial" pitchFamily="34" charset="-120"/>
              </a:rPr>
              <a:t> </a:t>
            </a:r>
            <a:r>
              <a:rPr lang="en-US" sz="1350" dirty="0" err="1">
                <a:solidFill>
                  <a:srgbClr val="1B1B1B"/>
                </a:solidFill>
                <a:latin typeface="Arial" pitchFamily="34" charset="0"/>
                <a:ea typeface="Arial" pitchFamily="34" charset="-122"/>
                <a:cs typeface="Arial" pitchFamily="34" charset="-120"/>
              </a:rPr>
              <a:t>porque</a:t>
            </a:r>
            <a:r>
              <a:rPr lang="en-US" sz="1350" dirty="0">
                <a:solidFill>
                  <a:srgbClr val="1B1B1B"/>
                </a:solidFill>
                <a:latin typeface="Arial" pitchFamily="34" charset="0"/>
                <a:ea typeface="Arial" pitchFamily="34" charset="-122"/>
                <a:cs typeface="Arial" pitchFamily="34" charset="-120"/>
              </a:rPr>
              <a:t> se </a:t>
            </a:r>
            <a:r>
              <a:rPr lang="en-US" sz="1350" dirty="0" err="1">
                <a:solidFill>
                  <a:srgbClr val="1B1B1B"/>
                </a:solidFill>
                <a:latin typeface="Arial" pitchFamily="34" charset="0"/>
                <a:ea typeface="Arial" pitchFamily="34" charset="-122"/>
                <a:cs typeface="Arial" pitchFamily="34" charset="-120"/>
              </a:rPr>
              <a:t>presentan</a:t>
            </a:r>
            <a:r>
              <a:rPr lang="en-US" sz="1350" dirty="0">
                <a:solidFill>
                  <a:srgbClr val="1B1B1B"/>
                </a:solidFill>
                <a:latin typeface="Arial" pitchFamily="34" charset="0"/>
                <a:ea typeface="Arial" pitchFamily="34" charset="-122"/>
                <a:cs typeface="Arial" pitchFamily="34" charset="-120"/>
              </a:rPr>
              <a:t> </a:t>
            </a:r>
            <a:r>
              <a:rPr lang="en-US" sz="1350" dirty="0" err="1">
                <a:solidFill>
                  <a:srgbClr val="1B1B1B"/>
                </a:solidFill>
                <a:latin typeface="Arial" pitchFamily="34" charset="0"/>
                <a:ea typeface="Arial" pitchFamily="34" charset="-122"/>
                <a:cs typeface="Arial" pitchFamily="34" charset="-120"/>
              </a:rPr>
              <a:t>efectos</a:t>
            </a:r>
            <a:r>
              <a:rPr lang="en-US" sz="1350" dirty="0">
                <a:solidFill>
                  <a:srgbClr val="1B1B1B"/>
                </a:solidFill>
                <a:latin typeface="Arial" pitchFamily="34" charset="0"/>
                <a:ea typeface="Arial" pitchFamily="34" charset="-122"/>
                <a:cs typeface="Arial" pitchFamily="34" charset="-120"/>
              </a:rPr>
              <a:t> </a:t>
            </a:r>
            <a:r>
              <a:rPr lang="en-US" sz="1350" dirty="0" err="1">
                <a:solidFill>
                  <a:srgbClr val="1B1B1B"/>
                </a:solidFill>
                <a:latin typeface="Arial" pitchFamily="34" charset="0"/>
                <a:ea typeface="Arial" pitchFamily="34" charset="-122"/>
                <a:cs typeface="Arial" pitchFamily="34" charset="-120"/>
              </a:rPr>
              <a:t>negativos</a:t>
            </a:r>
            <a:r>
              <a:rPr lang="en-US" sz="1350" dirty="0">
                <a:solidFill>
                  <a:srgbClr val="1B1B1B"/>
                </a:solidFill>
                <a:latin typeface="Arial" pitchFamily="34" charset="0"/>
                <a:ea typeface="Arial" pitchFamily="34" charset="-122"/>
                <a:cs typeface="Arial" pitchFamily="34" charset="-120"/>
              </a:rPr>
              <a:t> de </a:t>
            </a:r>
            <a:r>
              <a:rPr lang="en-US" sz="1350" dirty="0" err="1">
                <a:solidFill>
                  <a:srgbClr val="1B1B1B"/>
                </a:solidFill>
                <a:latin typeface="Arial" pitchFamily="34" charset="0"/>
                <a:ea typeface="Arial" pitchFamily="34" charset="-122"/>
                <a:cs typeface="Arial" pitchFamily="34" charset="-120"/>
              </a:rPr>
              <a:t>tratamiento</a:t>
            </a:r>
            <a:r>
              <a:rPr lang="en-US" sz="1350" dirty="0">
                <a:solidFill>
                  <a:srgbClr val="1B1B1B"/>
                </a:solidFill>
                <a:latin typeface="Arial" pitchFamily="34" charset="0"/>
                <a:ea typeface="Arial" pitchFamily="34" charset="-122"/>
                <a:cs typeface="Arial" pitchFamily="34" charset="-120"/>
              </a:rPr>
              <a:t> </a:t>
            </a:r>
            <a:r>
              <a:rPr lang="en-US" sz="1350" dirty="0" err="1">
                <a:solidFill>
                  <a:srgbClr val="1B1B1B"/>
                </a:solidFill>
                <a:latin typeface="Arial" pitchFamily="34" charset="0"/>
                <a:ea typeface="Arial" pitchFamily="34" charset="-122"/>
                <a:cs typeface="Arial" pitchFamily="34" charset="-120"/>
              </a:rPr>
              <a:t>en</a:t>
            </a:r>
            <a:r>
              <a:rPr lang="en-US" sz="1350" dirty="0">
                <a:solidFill>
                  <a:srgbClr val="1B1B1B"/>
                </a:solidFill>
                <a:latin typeface="Arial" pitchFamily="34" charset="0"/>
                <a:ea typeface="Arial" pitchFamily="34" charset="-122"/>
                <a:cs typeface="Arial" pitchFamily="34" charset="-120"/>
              </a:rPr>
              <a:t> </a:t>
            </a:r>
            <a:r>
              <a:rPr lang="en-US" sz="1350" dirty="0" err="1">
                <a:solidFill>
                  <a:srgbClr val="1B1B1B"/>
                </a:solidFill>
                <a:latin typeface="Arial" pitchFamily="34" charset="0"/>
                <a:ea typeface="Arial" pitchFamily="34" charset="-122"/>
                <a:cs typeface="Arial" pitchFamily="34" charset="-120"/>
              </a:rPr>
              <a:t>este</a:t>
            </a:r>
            <a:r>
              <a:rPr lang="en-US" sz="1350" dirty="0">
                <a:solidFill>
                  <a:srgbClr val="1B1B1B"/>
                </a:solidFill>
                <a:latin typeface="Arial" pitchFamily="34" charset="0"/>
                <a:ea typeface="Arial" pitchFamily="34" charset="-122"/>
                <a:cs typeface="Arial" pitchFamily="34" charset="-120"/>
              </a:rPr>
              <a:t> </a:t>
            </a:r>
            <a:r>
              <a:rPr lang="en-US" sz="1350" dirty="0" err="1">
                <a:solidFill>
                  <a:srgbClr val="1B1B1B"/>
                </a:solidFill>
                <a:latin typeface="Arial" pitchFamily="34" charset="0"/>
                <a:ea typeface="Arial" pitchFamily="34" charset="-122"/>
                <a:cs typeface="Arial" pitchFamily="34" charset="-120"/>
              </a:rPr>
              <a:t>grupo</a:t>
            </a:r>
            <a:r>
              <a:rPr lang="en-US" sz="1350" dirty="0">
                <a:solidFill>
                  <a:srgbClr val="1B1B1B"/>
                </a:solidFill>
                <a:latin typeface="Arial" pitchFamily="34" charset="0"/>
                <a:ea typeface="Arial" pitchFamily="34" charset="-122"/>
                <a:cs typeface="Arial" pitchFamily="34" charset="-120"/>
              </a:rPr>
              <a:t>.</a:t>
            </a:r>
            <a:endParaRPr lang="en-US" sz="1350" dirty="0"/>
          </a:p>
        </p:txBody>
      </p:sp>
      <p:sp>
        <p:nvSpPr>
          <p:cNvPr id="12" name="Text 9"/>
          <p:cNvSpPr/>
          <p:nvPr/>
        </p:nvSpPr>
        <p:spPr>
          <a:xfrm>
            <a:off x="5283200" y="3278832"/>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00B0F0"/>
          </a:solidFill>
          <a:ln/>
        </p:spPr>
        <p:txBody>
          <a:bodyPr wrap="square" lIns="0" tIns="0" rIns="0" bIns="0" rtlCol="0" anchor="ctr">
            <a:normAutofit/>
          </a:bodyPr>
          <a:lstStyle/>
          <a:p>
            <a:pPr marL="0" indent="0" algn="ctr">
              <a:lnSpc>
                <a:spcPts val="2100"/>
              </a:lnSpc>
              <a:buNone/>
            </a:pPr>
            <a:r>
              <a:rPr lang="en-US" sz="1500" b="1">
                <a:solidFill>
                  <a:srgbClr val="FFFFFF"/>
                </a:solidFill>
                <a:latin typeface="Arial" pitchFamily="34" charset="0"/>
                <a:ea typeface="Arial" pitchFamily="34" charset="-122"/>
                <a:cs typeface="Arial" pitchFamily="34" charset="-120"/>
              </a:rPr>
              <a:t>2</a:t>
            </a:r>
            <a:endParaRPr lang="en-US" sz="1500"/>
          </a:p>
        </p:txBody>
      </p:sp>
      <p:sp>
        <p:nvSpPr>
          <p:cNvPr id="13" name="Text 10"/>
          <p:cNvSpPr/>
          <p:nvPr/>
        </p:nvSpPr>
        <p:spPr>
          <a:xfrm>
            <a:off x="5765800" y="3278832"/>
            <a:ext cx="5938774" cy="719683"/>
          </a:xfrm>
          <a:prstGeom prst="rect">
            <a:avLst/>
          </a:prstGeom>
          <a:noFill/>
          <a:ln/>
        </p:spPr>
        <p:txBody>
          <a:bodyPr wrap="square" lIns="0" tIns="0" rIns="0" bIns="0" rtlCol="0" anchor="t">
            <a:normAutofit/>
          </a:bodyPr>
          <a:lstStyle/>
          <a:p>
            <a:pPr marL="0" indent="0" algn="l">
              <a:lnSpc>
                <a:spcPts val="1823"/>
              </a:lnSpc>
              <a:buNone/>
            </a:pPr>
            <a:r>
              <a:rPr lang="en-US" sz="1350" b="1">
                <a:solidFill>
                  <a:srgbClr val="1B1B1B"/>
                </a:solidFill>
                <a:latin typeface="Arial" pitchFamily="34" charset="0"/>
                <a:ea typeface="Arial" pitchFamily="34" charset="-122"/>
                <a:cs typeface="Arial" pitchFamily="34" charset="-120"/>
              </a:rPr>
              <a:t>Costo de formularios distintos.</a:t>
            </a:r>
            <a:r>
              <a:rPr lang="en-US" sz="1350">
                <a:solidFill>
                  <a:srgbClr val="1B1B1B"/>
                </a:solidFill>
                <a:latin typeface="Arial" pitchFamily="34" charset="0"/>
                <a:ea typeface="Arial" pitchFamily="34" charset="-122"/>
                <a:cs typeface="Arial" pitchFamily="34" charset="-120"/>
              </a:rPr>
              <a:t> No hay datos de costo. Si mostrar dos formularios cuesta más de 0.235 dólares por usuario, conviene dárselo a todos.</a:t>
            </a:r>
            <a:endParaRPr lang="en-US" sz="1350"/>
          </a:p>
        </p:txBody>
      </p:sp>
      <p:sp>
        <p:nvSpPr>
          <p:cNvPr id="14" name="Text 11"/>
          <p:cNvSpPr/>
          <p:nvPr/>
        </p:nvSpPr>
        <p:spPr>
          <a:xfrm>
            <a:off x="5283200" y="4138216"/>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00B0F0"/>
          </a:solidFill>
          <a:ln/>
        </p:spPr>
        <p:txBody>
          <a:bodyPr wrap="square" lIns="0" tIns="0" rIns="0" bIns="0" rtlCol="0" anchor="ctr">
            <a:normAutofit/>
          </a:bodyPr>
          <a:lstStyle/>
          <a:p>
            <a:pPr marL="0" indent="0" algn="ctr">
              <a:lnSpc>
                <a:spcPts val="2100"/>
              </a:lnSpc>
              <a:buNone/>
            </a:pPr>
            <a:r>
              <a:rPr lang="en-US" sz="1500" b="1">
                <a:solidFill>
                  <a:srgbClr val="FFFFFF"/>
                </a:solidFill>
                <a:latin typeface="Arial" pitchFamily="34" charset="0"/>
                <a:ea typeface="Arial" pitchFamily="34" charset="-122"/>
                <a:cs typeface="Arial" pitchFamily="34" charset="-120"/>
              </a:rPr>
              <a:t>3</a:t>
            </a:r>
            <a:endParaRPr lang="en-US" sz="1500"/>
          </a:p>
        </p:txBody>
      </p:sp>
      <p:sp>
        <p:nvSpPr>
          <p:cNvPr id="15" name="Text 12"/>
          <p:cNvSpPr/>
          <p:nvPr/>
        </p:nvSpPr>
        <p:spPr>
          <a:xfrm>
            <a:off x="5765800" y="4138216"/>
            <a:ext cx="5938774" cy="488255"/>
          </a:xfrm>
          <a:prstGeom prst="rect">
            <a:avLst/>
          </a:prstGeom>
          <a:noFill/>
          <a:ln/>
        </p:spPr>
        <p:txBody>
          <a:bodyPr wrap="square" lIns="0" tIns="0" rIns="0" bIns="0" rtlCol="0" anchor="t">
            <a:normAutofit/>
          </a:bodyPr>
          <a:lstStyle/>
          <a:p>
            <a:pPr marL="0" indent="0" algn="l">
              <a:lnSpc>
                <a:spcPts val="1823"/>
              </a:lnSpc>
              <a:buNone/>
            </a:pPr>
            <a:r>
              <a:rPr lang="en-US" sz="1350" b="1">
                <a:solidFill>
                  <a:srgbClr val="1B1B1B"/>
                </a:solidFill>
                <a:latin typeface="Arial" pitchFamily="34" charset="0"/>
                <a:ea typeface="Arial" pitchFamily="34" charset="-122"/>
                <a:cs typeface="Arial" pitchFamily="34" charset="-120"/>
              </a:rPr>
              <a:t>Estabilidad en el tiempo.</a:t>
            </a:r>
            <a:r>
              <a:rPr lang="en-US" sz="1350">
                <a:solidFill>
                  <a:srgbClr val="1B1B1B"/>
                </a:solidFill>
                <a:latin typeface="Arial" pitchFamily="34" charset="0"/>
                <a:ea typeface="Arial" pitchFamily="34" charset="-122"/>
                <a:cs typeface="Arial" pitchFamily="34" charset="-120"/>
              </a:rPr>
              <a:t> El experimento es de un solo periodo. La misma validación lo comprueba en otro periodo.</a:t>
            </a:r>
            <a:endParaRPr lang="en-US" sz="1350"/>
          </a:p>
        </p:txBody>
      </p:sp>
      <p:sp>
        <p:nvSpPr>
          <p:cNvPr id="17" name="Text 14"/>
          <p:cNvSpPr/>
          <p:nvPr/>
        </p:nvSpPr>
        <p:spPr>
          <a:xfrm>
            <a:off x="10972800" y="6428780"/>
            <a:ext cx="558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6B7782"/>
                </a:solidFill>
                <a:latin typeface="Arial" pitchFamily="34" charset="0"/>
                <a:ea typeface="Arial" pitchFamily="34" charset="-122"/>
                <a:cs typeface="Arial" pitchFamily="34" charset="-120"/>
              </a:rPr>
              <a:t>18</a:t>
            </a:r>
            <a:endParaRPr lang="en-US" sz="1200"/>
          </a:p>
        </p:txBody>
      </p:sp>
    </p:spTree>
    <p:extLst>
      <p:ext uri="{BB962C8B-B14F-4D97-AF65-F5344CB8AC3E}">
        <p14:creationId xmlns:p14="http://schemas.microsoft.com/office/powerpoint/2010/main" val="1681900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051C2C"/>
        </a:solidFill>
        <a:effectLst/>
      </p:bgPr>
    </p:bg>
    <p:spTree>
      <p:nvGrpSpPr>
        <p:cNvPr id="1" name=""/>
        <p:cNvGrpSpPr/>
        <p:nvPr/>
      </p:nvGrpSpPr>
      <p:grpSpPr>
        <a:xfrm>
          <a:off x="0" y="0"/>
          <a:ext cx="0" cy="0"/>
          <a:chOff x="0" y="0"/>
          <a:chExt cx="0" cy="0"/>
        </a:xfrm>
      </p:grpSpPr>
      <p:pic>
        <p:nvPicPr>
          <p:cNvPr id="2" name="Image 0" descr="Medusas en aguas oscuras"/>
          <p:cNvPicPr>
            <a:picLocks noChangeAspect="1"/>
          </p:cNvPicPr>
          <p:nvPr/>
        </p:nvPicPr>
        <p:blipFill>
          <a:blip r:embed="rId3"/>
          <a:srcRect t="6" b="6"/>
          <a:stretch/>
        </p:blipFill>
        <p:spPr>
          <a:xfrm>
            <a:off x="0" y="0"/>
            <a:ext cx="12192000" cy="6858000"/>
          </a:xfrm>
          <a:prstGeom prst="rect">
            <a:avLst/>
          </a:prstGeom>
        </p:spPr>
      </p:pic>
      <p:sp>
        <p:nvSpPr>
          <p:cNvPr id="3" name="Text 0"/>
          <p:cNvSpPr/>
          <p:nvPr/>
        </p:nvSpPr>
        <p:spPr>
          <a:xfrm>
            <a:off x="4133850" y="2984500"/>
            <a:ext cx="3924300" cy="594320"/>
          </a:xfrm>
          <a:prstGeom prst="rect">
            <a:avLst/>
          </a:prstGeom>
          <a:noFill/>
          <a:ln/>
        </p:spPr>
        <p:txBody>
          <a:bodyPr wrap="square" lIns="0" tIns="0" rIns="0" bIns="0" rtlCol="0" anchor="t">
            <a:normAutofit/>
          </a:bodyPr>
          <a:lstStyle/>
          <a:p>
            <a:pPr marL="0" indent="0" algn="ctr">
              <a:lnSpc>
                <a:spcPts val="4480"/>
              </a:lnSpc>
              <a:buNone/>
            </a:pPr>
            <a:r>
              <a:rPr lang="en-US" sz="3200">
                <a:solidFill>
                  <a:srgbClr val="FFFFFF"/>
                </a:solidFill>
                <a:latin typeface="Georgia" pitchFamily="18" charset="0"/>
                <a:ea typeface="Georgia" pitchFamily="18" charset="-122"/>
                <a:cs typeface="Georgia" pitchFamily="18" charset="-120"/>
              </a:rPr>
              <a:t>Gracias</a:t>
            </a:r>
            <a:endParaRPr lang="en-US" sz="3200"/>
          </a:p>
        </p:txBody>
      </p:sp>
      <p:pic>
        <p:nvPicPr>
          <p:cNvPr id="5" name="Picture 4">
            <a:extLst>
              <a:ext uri="{FF2B5EF4-FFF2-40B4-BE49-F238E27FC236}">
                <a16:creationId xmlns:a16="http://schemas.microsoft.com/office/drawing/2014/main" id="{B4E0004E-DA9E-7FF8-CAE7-A9801241F00B}"/>
              </a:ext>
            </a:extLst>
          </p:cNvPr>
          <p:cNvPicPr>
            <a:picLocks noChangeAspect="1"/>
          </p:cNvPicPr>
          <p:nvPr/>
        </p:nvPicPr>
        <p:blipFill>
          <a:blip r:embed="rId4"/>
          <a:stretch>
            <a:fillRect/>
          </a:stretch>
        </p:blipFill>
        <p:spPr>
          <a:xfrm>
            <a:off x="4606018" y="3837215"/>
            <a:ext cx="2974522" cy="903515"/>
          </a:xfrm>
          <a:prstGeom prst="rect">
            <a:avLst/>
          </a:prstGeom>
        </p:spPr>
      </p:pic>
    </p:spTree>
    <p:extLst>
      <p:ext uri="{BB962C8B-B14F-4D97-AF65-F5344CB8AC3E}">
        <p14:creationId xmlns:p14="http://schemas.microsoft.com/office/powerpoint/2010/main" val="14773623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CheMarket Encargo 2 Presentación">
  <a:themeElements>
    <a:clrScheme name="CheMarket Encargo 2 Presentación">
      <a:dk1>
        <a:srgbClr val="051C2C"/>
      </a:dk1>
      <a:lt1>
        <a:srgbClr val="FFFFFF"/>
      </a:lt1>
      <a:dk2>
        <a:srgbClr val="445561"/>
      </a:dk2>
      <a:lt2>
        <a:srgbClr val="E6E8EA"/>
      </a:lt2>
      <a:accent1>
        <a:srgbClr val="00B0F0"/>
      </a:accent1>
      <a:accent2>
        <a:srgbClr val="022B52"/>
      </a:accent2>
      <a:accent3>
        <a:srgbClr val="1FB7F5"/>
      </a:accent3>
      <a:accent4>
        <a:srgbClr val="2B5EA3"/>
      </a:accent4>
      <a:accent5>
        <a:srgbClr val="0B2B45"/>
      </a:accent5>
      <a:accent6>
        <a:srgbClr val="A8762B"/>
      </a:accent6>
      <a:hlink>
        <a:srgbClr val="0563C1"/>
      </a:hlink>
      <a:folHlink>
        <a:srgbClr val="954F72"/>
      </a:folHlink>
    </a:clrScheme>
    <a:fontScheme name="CheMarket Encargo 2 Presentació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498BCCB-9053-8849-8B9E-ACBF4469D0BA}">
  <we:reference id="WA200010725" version="1.0.0.1" store="Omex" storeType="OMEX"/>
  <we:alternateReferences>
    <we:reference id="WA200010725" version="1.0.0.1" store="WA200010725" storeType="OMEX"/>
  </we:alternateReferences>
  <we:properties>
    <we:property name="claude.fileId" value="&quot;8ee12b99-deaf-4a07-b193-4d6a3c90b3b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103</TotalTime>
  <Words>3511</Words>
  <Application>Microsoft Macintosh PowerPoint</Application>
  <PresentationFormat>Widescreen</PresentationFormat>
  <Paragraphs>311</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Georgia</vt:lpstr>
      <vt:lpstr>CheMarket Encargo 2 Presentación</vt:lpstr>
      <vt:lpstr>¿A quién debe CheMarket darle el registro facilitado?</vt:lpstr>
      <vt:lpstr>Recomendación: escalar el registro facilitado a todos, salvo a celulares con Windows u otro sistema</vt:lpstr>
      <vt:lpstr>Cambiamos la escala del gasto y el método, y atribuimos cada diferencia con el encargo 1</vt:lpstr>
      <vt:lpstr>El experimento es válido y representativo, y sus supuestos son explícitos</vt:lpstr>
      <vt:lpstr>El logaritmo cambia la pregunta: en dólares el registro sube el gasto, en el usuario típico no</vt:lpstr>
      <vt:lpstr>El gasto salta pasados 5 minutos y ese salto crece con las sesiones anteriores</vt:lpstr>
      <vt:lpstr>Un lineal bien especificado compite con los árboles bajo la misma validación del encargo 1</vt:lpstr>
      <vt:lpstr>Tiempo en el sitio y sesiones anteriores explican casi todo lo que se puede predecir</vt:lpstr>
      <vt:lpstr>Los árboles bajan el error de 2.31 a 1.63 dólares; 68% de la mejora la logra un lineal bien especificado</vt:lpstr>
      <vt:lpstr>El bosque confirma el patrón en las dos escalas: tiempo y sesiones suman más del 90% de la importancia</vt:lpstr>
      <vt:lpstr>Para predecir el gasto conviene el bosque, sabiendo dónde falla</vt:lpstr>
      <vt:lpstr>Bosque causal honesto para encontrar efectos de tratamiento heterogéneos</vt:lpstr>
      <vt:lpstr>Dispositivo y sistema operativo separan a quien gana de quien pierde</vt:lpstr>
      <vt:lpstr>Signos opuestos, gasto base y efecto dentro de cada grupo concilian el análisis en niveles y logaritmo</vt:lpstr>
      <vt:lpstr>La regla gana en datos que no se usaron para elegirla</vt:lpstr>
      <vt:lpstr>Que el efecto cambia entre grupos está respaldado; el detalle por usuario es exploratorio</vt:lpstr>
      <vt:lpstr>Se mantiene lo predictivo y el efecto promedio; cambia el error y los efectos por grupo</vt:lpstr>
      <vt:lpstr>Escalar con la regla y profundizar el análisis donde falta evidencia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CheMarket Encargo 2 Presentación</dc:title>
  <dc:subject/>
  <dc:creator/>
  <cp:lastModifiedBy>Santiago Muñoz Martinez</cp:lastModifiedBy>
  <cp:revision>4</cp:revision>
  <dcterms:created xsi:type="dcterms:W3CDTF">2026-10-26T00:17:44Z</dcterms:created>
  <dcterms:modified xsi:type="dcterms:W3CDTF">2026-10-26T04:27:15Z</dcterms:modified>
</cp:coreProperties>
</file>